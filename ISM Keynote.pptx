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71" r:id="rId3"/>
    <p:sldId id="296" r:id="rId4"/>
    <p:sldId id="257" r:id="rId5"/>
    <p:sldId id="278" r:id="rId6"/>
    <p:sldId id="279" r:id="rId7"/>
    <p:sldId id="259" r:id="rId8"/>
    <p:sldId id="291" r:id="rId9"/>
    <p:sldId id="288" r:id="rId10"/>
    <p:sldId id="295" r:id="rId11"/>
    <p:sldId id="290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92" r:id="rId20"/>
    <p:sldId id="260" r:id="rId21"/>
    <p:sldId id="272" r:id="rId22"/>
    <p:sldId id="293" r:id="rId23"/>
    <p:sldId id="274" r:id="rId24"/>
    <p:sldId id="273" r:id="rId25"/>
  </p:sldIdLst>
  <p:sldSz cx="18288000" cy="10287000"/>
  <p:notesSz cx="6858000" cy="9144000"/>
  <p:embeddedFontLst>
    <p:embeddedFont>
      <p:font typeface="Muli Bold" panose="020B0604020202020204" charset="0"/>
      <p:regular r:id="rId27"/>
    </p:embeddedFont>
    <p:embeddedFont>
      <p:font typeface="Muli Heavy" panose="020B0604020202020204" charset="0"/>
      <p:regular r:id="rId28"/>
    </p:embeddedFont>
    <p:embeddedFont>
      <p:font typeface="Muli Ultra-Bold" panose="020B0604020202020204" charset="0"/>
      <p:regular r:id="rId29"/>
    </p:embeddedFont>
    <p:embeddedFont>
      <p:font typeface="Roboto Mono" panose="00000009000000000000" pitchFamily="49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7D26"/>
    <a:srgbClr val="3727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B126AD-024F-42C4-ADBE-ABD30F6D6DFA}" v="330" dt="2025-08-17T08:23:09.4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1176" y="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31DD6-BB1E-4800-82CB-6F00211674B3}" type="datetimeFigureOut">
              <a:rPr lang="en-MY" smtClean="0"/>
              <a:t>23/8/2025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93274-A78E-422A-9876-36E9DAEA67A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05564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Demographic Parity (Statistical Parity)</a:t>
            </a:r>
            <a:r>
              <a:rPr lang="en-GB" dirty="0"/>
              <a:t> P(Ŷ = 1 | A = 0) = P(Ŷ = 1 | A = 1)</a:t>
            </a:r>
          </a:p>
          <a:p>
            <a:r>
              <a:rPr lang="en-GB" dirty="0"/>
              <a:t>Where Ŷ is predicted outcome and A is protected attribute. This requires equal positive prediction rates across groups - essentially testing independence between predictions and group membership.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93274-A78E-422A-9876-36E9DAEA67AF}" type="slidenum">
              <a:rPr lang="en-MY" smtClean="0"/>
              <a:t>18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91278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John Tukey's 1962 prediction of data analysis's future.</a:t>
            </a:r>
          </a:p>
          <a:p>
            <a:r>
              <a:rPr lang="en-GB" dirty="0"/>
              <a:t>The modern anxiety about AI's impact on the statistics profession.</a:t>
            </a:r>
          </a:p>
          <a:p>
            <a:r>
              <a:rPr lang="en-GB" dirty="0"/>
              <a:t>Reframing the question from "if" to "how" our jobs are changing</a:t>
            </a: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93274-A78E-422A-9876-36E9DAEA67AF}" type="slidenum">
              <a:rPr lang="en-MY" smtClean="0"/>
              <a:t>21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70896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peyter@gmail.com" TargetMode="Externa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86-023-06747-5" TargetMode="External"/><Relationship Id="rId2" Type="http://schemas.openxmlformats.org/officeDocument/2006/relationships/hyperlink" Target="https://www.nature.com/articles/s41562-024-02046-9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mc.ncbi.nlm.nih.gov/articles/PMC11384545/" TargetMode="External"/><Relationship Id="rId5" Type="http://schemas.openxmlformats.org/officeDocument/2006/relationships/hyperlink" Target="https://www.scientificamerican.com/article/mathematicians-question-ai-performance-at-international-math-olympiad/" TargetMode="External"/><Relationship Id="rId4" Type="http://schemas.openxmlformats.org/officeDocument/2006/relationships/hyperlink" Target="https://research.google/blog/accelerating-scientific-breakthroughs-with-an-ai-co-scientist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2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61404" y="1658875"/>
            <a:ext cx="6207250" cy="6207250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224877" y="2881785"/>
            <a:ext cx="12082720" cy="3847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50"/>
              </a:lnSpc>
            </a:pPr>
            <a:r>
              <a:rPr lang="en-US" sz="13000" b="1" dirty="0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Statisticians </a:t>
            </a:r>
          </a:p>
          <a:p>
            <a:pPr algn="l">
              <a:lnSpc>
                <a:spcPts val="14950"/>
              </a:lnSpc>
            </a:pPr>
            <a:r>
              <a:rPr lang="en-US" sz="13000" b="1" dirty="0">
                <a:solidFill>
                  <a:srgbClr val="FFFFFF"/>
                </a:solidFill>
                <a:latin typeface="Muli Heavy"/>
                <a:ea typeface="Muli Heavy"/>
                <a:cs typeface="Muli Heavy"/>
                <a:sym typeface="Muli Heavy"/>
              </a:rPr>
              <a:t>In the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0" y="9246878"/>
            <a:ext cx="11938537" cy="765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spc="22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The 7</a:t>
            </a:r>
            <a:r>
              <a:rPr lang="en-US" sz="2200" spc="22" baseline="300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th</a:t>
            </a:r>
            <a:r>
              <a:rPr lang="en-US" sz="2200" spc="22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ISM International Statistical Conference 2025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spc="22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141DB-9AA1-56DF-51DB-434F17B62EC1}"/>
              </a:ext>
            </a:extLst>
          </p:cNvPr>
          <p:cNvSpPr txBox="1"/>
          <p:nvPr/>
        </p:nvSpPr>
        <p:spPr>
          <a:xfrm>
            <a:off x="3327131" y="8109745"/>
            <a:ext cx="11938537" cy="371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spc="22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Reimagining the Statistician for the Age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A769F-EC2B-E74A-7A85-653A510A1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5C9BCB-CC37-EB8A-35CB-1331A8056D8D}"/>
              </a:ext>
            </a:extLst>
          </p:cNvPr>
          <p:cNvGrpSpPr/>
          <p:nvPr/>
        </p:nvGrpSpPr>
        <p:grpSpPr>
          <a:xfrm>
            <a:off x="8690733" y="5759729"/>
            <a:ext cx="9054541" cy="9054541"/>
            <a:chOff x="0" y="0"/>
            <a:chExt cx="6350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F9A2C8B-E8E2-35DB-80A5-A9FA2B36ADC3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727EB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5089D3B-596F-5147-A75F-29A76B4F9552}"/>
              </a:ext>
            </a:extLst>
          </p:cNvPr>
          <p:cNvGrpSpPr>
            <a:grpSpLocks noChangeAspect="1"/>
          </p:cNvGrpSpPr>
          <p:nvPr/>
        </p:nvGrpSpPr>
        <p:grpSpPr>
          <a:xfrm>
            <a:off x="11200997" y="1060175"/>
            <a:ext cx="4034014" cy="8198125"/>
            <a:chOff x="0" y="0"/>
            <a:chExt cx="5001260" cy="1016381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FE0B39F-3E66-83ED-444E-FA24BF25B9A3}"/>
                </a:ext>
              </a:extLst>
            </p:cNvPr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r="-4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8640735-16E7-99BF-3BF8-A7C1BC9B4089}"/>
                </a:ext>
              </a:extLst>
            </p:cNvPr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112855" r="-112855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E9B92F2-0292-54F1-506E-CFA7F38C9796}"/>
              </a:ext>
            </a:extLst>
          </p:cNvPr>
          <p:cNvGrpSpPr/>
          <p:nvPr/>
        </p:nvGrpSpPr>
        <p:grpSpPr>
          <a:xfrm>
            <a:off x="-773401" y="-916377"/>
            <a:ext cx="3037518" cy="3037518"/>
            <a:chOff x="0" y="0"/>
            <a:chExt cx="6350000" cy="6350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D06110F-C8EB-5337-1B99-B467B0F373C8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pic>
        <p:nvPicPr>
          <p:cNvPr id="11" name="Picture 10" descr="A person in a blue shirt&#10;&#10;AI-generated content may be incorrect.">
            <a:extLst>
              <a:ext uri="{FF2B5EF4-FFF2-40B4-BE49-F238E27FC236}">
                <a16:creationId xmlns:a16="http://schemas.microsoft.com/office/drawing/2014/main" id="{60D6F657-A8A7-980A-1B68-CFEF4113AA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25" b="99125" l="1875" r="98750">
                        <a14:foregroundMark x1="39750" y1="8500" x2="39750" y2="8500"/>
                        <a14:foregroundMark x1="44000" y1="6625" x2="44000" y2="6625"/>
                        <a14:foregroundMark x1="23500" y1="72875" x2="23500" y2="72875"/>
                        <a14:foregroundMark x1="36500" y1="73875" x2="36500" y2="73875"/>
                        <a14:foregroundMark x1="77125" y1="74250" x2="77125" y2="74250"/>
                        <a14:foregroundMark x1="38625" y1="89625" x2="38625" y2="89625"/>
                        <a14:foregroundMark x1="45750" y1="91125" x2="45750" y2="91125"/>
                        <a14:foregroundMark x1="46875" y1="96875" x2="49000" y2="97125"/>
                        <a14:foregroundMark x1="24625" y1="95125" x2="24625" y2="95125"/>
                        <a14:foregroundMark x1="19500" y1="83750" x2="19500" y2="83750"/>
                        <a14:foregroundMark x1="33625" y1="67875" x2="18375" y2="75375"/>
                        <a14:foregroundMark x1="18375" y1="75375" x2="8500" y2="85125"/>
                        <a14:foregroundMark x1="8500" y1="85125" x2="7000" y2="92500"/>
                        <a14:foregroundMark x1="4125" y1="95795" x2="3289" y2="96753"/>
                        <a14:foregroundMark x1="7000" y1="92500" x2="4136" y2="95782"/>
                        <a14:foregroundMark x1="5079" y1="98452" x2="33250" y2="99125"/>
                        <a14:foregroundMark x1="4175" y1="98430" x2="5067" y2="98451"/>
                        <a14:foregroundMark x1="2647" y1="98393" x2="2924" y2="98400"/>
                        <a14:foregroundMark x1="95125" y1="83375" x2="93125" y2="94875"/>
                        <a14:foregroundMark x1="93125" y1="94875" x2="98750" y2="98750"/>
                        <a14:backgroundMark x1="3750" y1="97625" x2="3750" y2="97625"/>
                        <a14:backgroundMark x1="2250" y1="97250" x2="3375" y2="97250"/>
                        <a14:backgroundMark x1="3750" y1="97250" x2="3750" y2="97250"/>
                        <a14:backgroundMark x1="3750" y1="97625" x2="2250" y2="97125"/>
                        <a14:backgroundMark x1="4375" y1="96500" x2="4125" y2="95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0996" y="1486486"/>
            <a:ext cx="3910485" cy="7387056"/>
          </a:xfrm>
          <a:prstGeom prst="rect">
            <a:avLst/>
          </a:prstGeom>
        </p:spPr>
      </p:pic>
      <p:sp>
        <p:nvSpPr>
          <p:cNvPr id="12" name="TextBox 9">
            <a:extLst>
              <a:ext uri="{FF2B5EF4-FFF2-40B4-BE49-F238E27FC236}">
                <a16:creationId xmlns:a16="http://schemas.microsoft.com/office/drawing/2014/main" id="{4E9692CF-8D1D-CDAE-BC7C-C667CDEDC603}"/>
              </a:ext>
            </a:extLst>
          </p:cNvPr>
          <p:cNvSpPr txBox="1"/>
          <p:nvPr/>
        </p:nvSpPr>
        <p:spPr>
          <a:xfrm>
            <a:off x="1764636" y="5163457"/>
            <a:ext cx="8441983" cy="3508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4000" b="1" dirty="0">
                <a:solidFill>
                  <a:srgbClr val="000000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Senior Data Scientist, BNM</a:t>
            </a:r>
          </a:p>
          <a:p>
            <a:pPr algn="l">
              <a:lnSpc>
                <a:spcPts val="9600"/>
              </a:lnSpc>
            </a:pPr>
            <a:r>
              <a:rPr lang="en-US" sz="4000" b="1" dirty="0">
                <a:solidFill>
                  <a:srgbClr val="000000"/>
                </a:solidFill>
                <a:latin typeface="Muli Ultra-Bold"/>
                <a:ea typeface="Muli Ultra-Bold"/>
                <a:cs typeface="Muli Ultra-Bold"/>
                <a:sym typeface="Muli Ultra-Bold"/>
                <a:hlinkClick r:id="rId6"/>
              </a:rPr>
              <a:t>peyter@gmail.com</a:t>
            </a:r>
            <a:endParaRPr lang="en-US" sz="4000" b="1" dirty="0">
              <a:solidFill>
                <a:srgbClr val="000000"/>
              </a:solidFill>
              <a:latin typeface="Muli Ultra-Bold"/>
              <a:ea typeface="Muli Ultra-Bold"/>
              <a:cs typeface="Muli Ultra-Bold"/>
              <a:sym typeface="Muli Ultra-Bold"/>
            </a:endParaRPr>
          </a:p>
          <a:p>
            <a:pPr algn="l">
              <a:lnSpc>
                <a:spcPts val="9600"/>
              </a:lnSpc>
            </a:pPr>
            <a:endParaRPr lang="en-US" sz="4000" b="1" dirty="0">
              <a:solidFill>
                <a:srgbClr val="000000"/>
              </a:solidFill>
              <a:latin typeface="Muli Ultra-Bold"/>
              <a:ea typeface="Muli Ultra-Bold"/>
              <a:cs typeface="Muli Ultra-Bold"/>
              <a:sym typeface="Muli Ultra-Bold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9C15AFB2-9F16-0683-33C5-C75256639583}"/>
              </a:ext>
            </a:extLst>
          </p:cNvPr>
          <p:cNvSpPr txBox="1"/>
          <p:nvPr/>
        </p:nvSpPr>
        <p:spPr>
          <a:xfrm>
            <a:off x="1692617" y="4068565"/>
            <a:ext cx="8441983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 dirty="0">
                <a:solidFill>
                  <a:srgbClr val="000000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Chiung Ching Ho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ED1A99-26CF-4237-3840-41BF8129CCD6}"/>
              </a:ext>
            </a:extLst>
          </p:cNvPr>
          <p:cNvSpPr txBox="1"/>
          <p:nvPr/>
        </p:nvSpPr>
        <p:spPr>
          <a:xfrm>
            <a:off x="0" y="9410700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All ideas and opinions shared in the keynote address are the author’s alone, and is not representative of Bank Negara Malaysia or any officer related to Bank Negara Malaysia</a:t>
            </a:r>
          </a:p>
        </p:txBody>
      </p:sp>
    </p:spTree>
    <p:extLst>
      <p:ext uri="{BB962C8B-B14F-4D97-AF65-F5344CB8AC3E}">
        <p14:creationId xmlns:p14="http://schemas.microsoft.com/office/powerpoint/2010/main" val="914486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082CB-28B9-66D6-1CBA-F8AEF53C4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502D234-E599-5364-84DB-0D72FEE166D8}"/>
              </a:ext>
            </a:extLst>
          </p:cNvPr>
          <p:cNvSpPr txBox="1"/>
          <p:nvPr/>
        </p:nvSpPr>
        <p:spPr>
          <a:xfrm>
            <a:off x="6327822" y="1095375"/>
            <a:ext cx="1074132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MY" sz="6600" dirty="0"/>
              <a:t>The Challenge!</a:t>
            </a:r>
            <a:endParaRPr lang="en-US" sz="6500" b="1" dirty="0">
              <a:solidFill>
                <a:srgbClr val="000000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2BB4A77-699D-3329-3254-50E3167E92E7}"/>
              </a:ext>
            </a:extLst>
          </p:cNvPr>
          <p:cNvGrpSpPr/>
          <p:nvPr/>
        </p:nvGrpSpPr>
        <p:grpSpPr>
          <a:xfrm>
            <a:off x="-2711426" y="-2472745"/>
            <a:ext cx="6700551" cy="6700551"/>
            <a:chOff x="0" y="0"/>
            <a:chExt cx="6350000" cy="6350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4FF09FE-D077-15EB-FCA4-B62A54F00089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8B148B1-6BA0-4C94-B05A-ACED4116296A}"/>
              </a:ext>
            </a:extLst>
          </p:cNvPr>
          <p:cNvGrpSpPr>
            <a:grpSpLocks noChangeAspect="1"/>
          </p:cNvGrpSpPr>
          <p:nvPr/>
        </p:nvGrpSpPr>
        <p:grpSpPr>
          <a:xfrm>
            <a:off x="1066800" y="1038700"/>
            <a:ext cx="4120342" cy="8373565"/>
            <a:chOff x="0" y="0"/>
            <a:chExt cx="5001260" cy="1016381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2367E17-D349-7C50-66D3-7DC9E5F25958}"/>
                </a:ext>
              </a:extLst>
            </p:cNvPr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r="-4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F6EBB56-6A7A-75FE-6229-95206A460637}"/>
                </a:ext>
              </a:extLst>
            </p:cNvPr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130919" r="-9479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C1D62BA-8F2E-406F-8D2C-80FDE56A5F99}"/>
              </a:ext>
            </a:extLst>
          </p:cNvPr>
          <p:cNvGrpSpPr/>
          <p:nvPr/>
        </p:nvGrpSpPr>
        <p:grpSpPr>
          <a:xfrm>
            <a:off x="17259300" y="9258300"/>
            <a:ext cx="1759930" cy="1759930"/>
            <a:chOff x="0" y="0"/>
            <a:chExt cx="6350000" cy="63500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1E27D6D-0191-5D0E-1153-956DF43C5BFB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727EB"/>
            </a:solidFill>
          </p:spPr>
          <p:txBody>
            <a:bodyPr/>
            <a:lstStyle/>
            <a:p>
              <a:endParaRPr lang="en-MY"/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0C6AE40-05FD-623D-BE4D-5094EABD52CC}"/>
              </a:ext>
            </a:extLst>
          </p:cNvPr>
          <p:cNvGraphicFramePr>
            <a:graphicFrameLocks noGrp="1"/>
          </p:cNvGraphicFramePr>
          <p:nvPr/>
        </p:nvGraphicFramePr>
        <p:xfrm>
          <a:off x="5455127" y="6896695"/>
          <a:ext cx="12192000" cy="265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696283118"/>
                    </a:ext>
                  </a:extLst>
                </a:gridCol>
                <a:gridCol w="10591800">
                  <a:extLst>
                    <a:ext uri="{9D8B030D-6E8A-4147-A177-3AD203B41FA5}">
                      <a16:colId xmlns:a16="http://schemas.microsoft.com/office/drawing/2014/main" val="34654625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We traded 4.4% accuracy for a 99.6% gender bias reduction (although race bias increased by 23.46% )  while maintaining statistical rigor.</a:t>
                      </a:r>
                    </a:p>
                    <a:p>
                      <a:endParaRPr lang="en-GB" sz="2800" dirty="0"/>
                    </a:p>
                    <a:p>
                      <a:r>
                        <a:rPr lang="en-GB" sz="2800" dirty="0"/>
                        <a:t>Conformal prediction coverage affirmed that the basic gaussian distribution assumption of the Bayes model is true</a:t>
                      </a:r>
                    </a:p>
                    <a:p>
                      <a:endParaRPr lang="en-GB" sz="28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066685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3CDEF3C-6E80-02EC-9398-C882F2931FB4}"/>
              </a:ext>
            </a:extLst>
          </p:cNvPr>
          <p:cNvSpPr txBox="1"/>
          <p:nvPr/>
        </p:nvSpPr>
        <p:spPr>
          <a:xfrm>
            <a:off x="6327822" y="3196453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Trading accuracy for Rigor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43648F7-BEF4-3E57-7619-FEE9D603F8AA}"/>
              </a:ext>
            </a:extLst>
          </p:cNvPr>
          <p:cNvGraphicFramePr>
            <a:graphicFrameLocks noGrp="1"/>
          </p:cNvGraphicFramePr>
          <p:nvPr/>
        </p:nvGraphicFramePr>
        <p:xfrm>
          <a:off x="5914608" y="4030980"/>
          <a:ext cx="12192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48319548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2596597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446979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939967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Statistician in the 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Pure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Winner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026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Accuracy (R²)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0.263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0.275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997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Gender Bias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$39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$11,036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Human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39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Racial Bias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$32,113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$26,009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386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Interval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89.9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89.9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Tie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67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Black-box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Human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04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564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27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0" y="5753100"/>
            <a:ext cx="7549591" cy="7549591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34902"/>
              </a:srgbClr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43803" y="2698355"/>
            <a:ext cx="16200394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1" dirty="0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Is Artificial Intelligence </a:t>
            </a:r>
          </a:p>
          <a:p>
            <a:pPr algn="ctr">
              <a:lnSpc>
                <a:spcPts val="9600"/>
              </a:lnSpc>
            </a:pPr>
            <a:r>
              <a:rPr lang="en-US" sz="8000" b="1" dirty="0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coming for the statistician’s </a:t>
            </a:r>
          </a:p>
          <a:p>
            <a:pPr algn="ctr">
              <a:lnSpc>
                <a:spcPts val="9600"/>
              </a:lnSpc>
            </a:pPr>
            <a:r>
              <a:rPr lang="en-US" sz="8000" b="1" dirty="0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Job? (Ho,2025)</a:t>
            </a:r>
          </a:p>
        </p:txBody>
      </p:sp>
      <p:sp>
        <p:nvSpPr>
          <p:cNvPr id="5" name="Oval 4" descr="African elephant in long grass">
            <a:extLst>
              <a:ext uri="{FF2B5EF4-FFF2-40B4-BE49-F238E27FC236}">
                <a16:creationId xmlns:a16="http://schemas.microsoft.com/office/drawing/2014/main" id="{720BEC97-8823-6395-4B81-6A2E7E23CA5D}"/>
              </a:ext>
            </a:extLst>
          </p:cNvPr>
          <p:cNvSpPr/>
          <p:nvPr/>
        </p:nvSpPr>
        <p:spPr>
          <a:xfrm>
            <a:off x="11966295" y="6246019"/>
            <a:ext cx="5562600" cy="6400800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7D70C-4844-2B3D-CFD5-AA4057AB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AE8CF70-3853-4619-ADFB-269E7CC542C8}"/>
              </a:ext>
            </a:extLst>
          </p:cNvPr>
          <p:cNvSpPr txBox="1"/>
          <p:nvPr/>
        </p:nvSpPr>
        <p:spPr>
          <a:xfrm>
            <a:off x="6327822" y="1095375"/>
            <a:ext cx="10741327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GB" sz="6600" dirty="0"/>
              <a:t>AI is NOT the End of our Statistical profession</a:t>
            </a:r>
            <a:endParaRPr lang="en-US" sz="6500" b="1" dirty="0">
              <a:solidFill>
                <a:srgbClr val="000000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BC70B04-95E6-124A-3E35-5919BA00E30E}"/>
              </a:ext>
            </a:extLst>
          </p:cNvPr>
          <p:cNvGrpSpPr/>
          <p:nvPr/>
        </p:nvGrpSpPr>
        <p:grpSpPr>
          <a:xfrm>
            <a:off x="-2711426" y="-2472745"/>
            <a:ext cx="6700551" cy="6700551"/>
            <a:chOff x="0" y="0"/>
            <a:chExt cx="6350000" cy="6350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1561F02-03C7-84C7-D574-22BD809C01FD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737996F-E056-894B-AEDB-A96F38E0012D}"/>
              </a:ext>
            </a:extLst>
          </p:cNvPr>
          <p:cNvGrpSpPr>
            <a:grpSpLocks noChangeAspect="1"/>
          </p:cNvGrpSpPr>
          <p:nvPr/>
        </p:nvGrpSpPr>
        <p:grpSpPr>
          <a:xfrm>
            <a:off x="1066800" y="1038700"/>
            <a:ext cx="4120342" cy="8373565"/>
            <a:chOff x="0" y="0"/>
            <a:chExt cx="5001260" cy="1016381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6DAEB6A-D648-5D24-0ED6-686710C2CD39}"/>
                </a:ext>
              </a:extLst>
            </p:cNvPr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r="-4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3B9AD18-328B-E3F8-ECA7-DACE9A4B7269}"/>
                </a:ext>
              </a:extLst>
            </p:cNvPr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130919" r="-9479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B3E3D89-7393-1CC7-1D56-84D22FF51245}"/>
              </a:ext>
            </a:extLst>
          </p:cNvPr>
          <p:cNvGrpSpPr/>
          <p:nvPr/>
        </p:nvGrpSpPr>
        <p:grpSpPr>
          <a:xfrm>
            <a:off x="17259300" y="9258300"/>
            <a:ext cx="1759930" cy="1759930"/>
            <a:chOff x="0" y="0"/>
            <a:chExt cx="6350000" cy="63500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60191C6-EA52-60F7-7A1C-37233AFE86E7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727EB"/>
            </a:solidFill>
          </p:spPr>
          <p:txBody>
            <a:bodyPr/>
            <a:lstStyle/>
            <a:p>
              <a:endParaRPr lang="en-MY"/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C1910E7-8DF2-26E7-2591-6943023B9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482524"/>
              </p:ext>
            </p:extLst>
          </p:nvPr>
        </p:nvGraphicFramePr>
        <p:xfrm>
          <a:off x="5602485" y="4000500"/>
          <a:ext cx="12192000" cy="530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696283118"/>
                    </a:ext>
                  </a:extLst>
                </a:gridCol>
                <a:gridCol w="10591800">
                  <a:extLst>
                    <a:ext uri="{9D8B030D-6E8A-4147-A177-3AD203B41FA5}">
                      <a16:colId xmlns:a16="http://schemas.microsoft.com/office/drawing/2014/main" val="34654625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AI can detect patterns in millions of variables and automate tasks.</a:t>
                      </a:r>
                    </a:p>
                    <a:p>
                      <a:endParaRPr lang="en-GB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0666857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The real question is: "What does it mean to be a statistician when machines can do statistics?".</a:t>
                      </a:r>
                    </a:p>
                    <a:p>
                      <a:endParaRPr lang="en-GB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1983891"/>
                  </a:ext>
                </a:extLst>
              </a:tr>
              <a:tr h="71405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This is a new partnership, not a battle.</a:t>
                      </a:r>
                    </a:p>
                    <a:p>
                      <a:endParaRPr lang="en-GB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1774452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Introducing the </a:t>
                      </a:r>
                      <a:r>
                        <a:rPr lang="en-GB" sz="36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Statistician in the Loop </a:t>
                      </a:r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concept.</a:t>
                      </a:r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707456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627509E-0720-3025-A6E1-5FEDFEF637D0}"/>
              </a:ext>
            </a:extLst>
          </p:cNvPr>
          <p:cNvSpPr txBox="1"/>
          <p:nvPr/>
        </p:nvSpPr>
        <p:spPr>
          <a:xfrm>
            <a:off x="6327822" y="3196453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It’s the signal for statisticians to evolve</a:t>
            </a:r>
          </a:p>
        </p:txBody>
      </p:sp>
    </p:spTree>
    <p:extLst>
      <p:ext uri="{BB962C8B-B14F-4D97-AF65-F5344CB8AC3E}">
        <p14:creationId xmlns:p14="http://schemas.microsoft.com/office/powerpoint/2010/main" val="885767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F724A-F806-6576-77EE-CC34D51F2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46A993C-7EF9-7576-C937-82E87B59B48E}"/>
              </a:ext>
            </a:extLst>
          </p:cNvPr>
          <p:cNvSpPr txBox="1"/>
          <p:nvPr/>
        </p:nvSpPr>
        <p:spPr>
          <a:xfrm>
            <a:off x="6327822" y="1095375"/>
            <a:ext cx="10741327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MY" sz="6600" dirty="0"/>
              <a:t>The Irreplaceable Human Element</a:t>
            </a:r>
            <a:endParaRPr lang="en-US" sz="6500" b="1" dirty="0">
              <a:solidFill>
                <a:srgbClr val="000000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213C399-E29F-FDCA-BD6C-A3009F243F53}"/>
              </a:ext>
            </a:extLst>
          </p:cNvPr>
          <p:cNvGrpSpPr/>
          <p:nvPr/>
        </p:nvGrpSpPr>
        <p:grpSpPr>
          <a:xfrm>
            <a:off x="-2711426" y="-2472745"/>
            <a:ext cx="6700551" cy="6700551"/>
            <a:chOff x="0" y="0"/>
            <a:chExt cx="6350000" cy="6350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BA9B332-ACA8-062E-FF3F-8093294A4414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09BECDF-5D5F-1C9E-E3A9-5517F2C37073}"/>
              </a:ext>
            </a:extLst>
          </p:cNvPr>
          <p:cNvGrpSpPr>
            <a:grpSpLocks noChangeAspect="1"/>
          </p:cNvGrpSpPr>
          <p:nvPr/>
        </p:nvGrpSpPr>
        <p:grpSpPr>
          <a:xfrm>
            <a:off x="1066800" y="1038700"/>
            <a:ext cx="4120342" cy="8373565"/>
            <a:chOff x="0" y="0"/>
            <a:chExt cx="5001260" cy="1016381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C51B7DF-CE92-F632-7785-B0349326F405}"/>
                </a:ext>
              </a:extLst>
            </p:cNvPr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r="-4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4F4F7EF-BDAF-77F6-38D9-679758A1D5C7}"/>
                </a:ext>
              </a:extLst>
            </p:cNvPr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130919" r="-9479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31972A2-7C7D-B949-A866-C02ED8EE999E}"/>
              </a:ext>
            </a:extLst>
          </p:cNvPr>
          <p:cNvGrpSpPr/>
          <p:nvPr/>
        </p:nvGrpSpPr>
        <p:grpSpPr>
          <a:xfrm>
            <a:off x="17259300" y="9258300"/>
            <a:ext cx="1759930" cy="1759930"/>
            <a:chOff x="0" y="0"/>
            <a:chExt cx="6350000" cy="63500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0ED48A6-D12F-855E-743F-30289ADC4B6E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727EB"/>
            </a:solidFill>
          </p:spPr>
          <p:txBody>
            <a:bodyPr/>
            <a:lstStyle/>
            <a:p>
              <a:endParaRPr lang="en-MY"/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9511BDA-86F8-72B8-954D-EFED21A3B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749319"/>
              </p:ext>
            </p:extLst>
          </p:nvPr>
        </p:nvGraphicFramePr>
        <p:xfrm>
          <a:off x="5602485" y="4000500"/>
          <a:ext cx="12192000" cy="438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696283118"/>
                    </a:ext>
                  </a:extLst>
                </a:gridCol>
                <a:gridCol w="10591800">
                  <a:extLst>
                    <a:ext uri="{9D8B030D-6E8A-4147-A177-3AD203B41FA5}">
                      <a16:colId xmlns:a16="http://schemas.microsoft.com/office/drawing/2014/main" val="34654625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AI finds answers; statisticians ask the right questions.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0666857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8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1983891"/>
                  </a:ext>
                </a:extLst>
              </a:tr>
              <a:tr h="71405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We quantify uncertainty, understand bias, and establish causality.</a:t>
                      </a:r>
                    </a:p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1774452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MY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We also ensure that the data collection and dissemination methodology is sound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7074569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438983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MY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Statisticians ensure that AI is not feed garbage data!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08828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5395797-7E0F-67D5-447C-BB689764F9BD}"/>
              </a:ext>
            </a:extLst>
          </p:cNvPr>
          <p:cNvSpPr txBox="1"/>
          <p:nvPr/>
        </p:nvSpPr>
        <p:spPr>
          <a:xfrm>
            <a:off x="6327822" y="3196453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The Statistician in the Loop</a:t>
            </a:r>
          </a:p>
        </p:txBody>
      </p:sp>
    </p:spTree>
    <p:extLst>
      <p:ext uri="{BB962C8B-B14F-4D97-AF65-F5344CB8AC3E}">
        <p14:creationId xmlns:p14="http://schemas.microsoft.com/office/powerpoint/2010/main" val="103822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3612508"/>
            <a:ext cx="6576971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rgbClr val="F67D26"/>
                </a:solidFill>
                <a:latin typeface="Muli Bold"/>
                <a:ea typeface="Muli Bold"/>
                <a:cs typeface="Muli Bold"/>
                <a:sym typeface="Muli Bold"/>
              </a:rPr>
              <a:t>Problem Statement</a:t>
            </a:r>
          </a:p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And</a:t>
            </a:r>
          </a:p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rgbClr val="3727EB"/>
                </a:solidFill>
                <a:latin typeface="Muli Bold"/>
                <a:ea typeface="Muli Bold"/>
                <a:cs typeface="Muli Bold"/>
                <a:sym typeface="Muli Bold"/>
              </a:rPr>
              <a:t>Data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779083" y="2328776"/>
            <a:ext cx="6480217" cy="1768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20" dirty="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Annual income information from survey may be laggy. What if we wanted to predict income using predictors such as age, education levels, hours worked per week, gender and race?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79083" y="4991100"/>
            <a:ext cx="6480217" cy="3923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GB" sz="2000" spc="-20" dirty="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PUMS (Public Use Microdata Samples) is the U.S. Census Bureau's detailed individual and household-level dataset from the American Community Survey (ACS).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GB" sz="2000" spc="-20" dirty="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PUMS has rich demographic detail: Each person record includes: Demographics (age, sex, race, education)Economic variables (income, hours worked, occupation, industry), Geographic identifiers (state, PUMA - areas of 100,000+ people) and Survey weights for population representation</a:t>
            </a:r>
            <a:endParaRPr lang="en-US" sz="2000" spc="-20" dirty="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742827" y="2328776"/>
            <a:ext cx="1334344" cy="1334344"/>
            <a:chOff x="0" y="0"/>
            <a:chExt cx="1779126" cy="177912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779126" cy="1779126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67D26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72051" y="417954"/>
              <a:ext cx="1235023" cy="1000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64"/>
                </a:lnSpc>
              </a:pPr>
              <a:r>
                <a:rPr lang="en-US" sz="5240" b="1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01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42828" y="4854997"/>
            <a:ext cx="1334344" cy="1334344"/>
            <a:chOff x="0" y="0"/>
            <a:chExt cx="1779126" cy="177912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779126" cy="1779126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727EB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72051" y="417954"/>
              <a:ext cx="1235023" cy="1000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64"/>
                </a:lnSpc>
              </a:pPr>
              <a:r>
                <a:rPr lang="en-US" sz="5240" b="1" dirty="0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13CD7-FDB1-A7A1-A1D9-1F9565F49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71DB6C1-1F38-FDEB-02F1-6B15D1A997F3}"/>
              </a:ext>
            </a:extLst>
          </p:cNvPr>
          <p:cNvGrpSpPr/>
          <p:nvPr/>
        </p:nvGrpSpPr>
        <p:grpSpPr>
          <a:xfrm>
            <a:off x="-3019361" y="736410"/>
            <a:ext cx="8766553" cy="8766553"/>
            <a:chOff x="0" y="0"/>
            <a:chExt cx="6350000" cy="6350000"/>
          </a:xfrm>
          <a:solidFill>
            <a:srgbClr val="F67D26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D2B3BFE-CF50-0630-4814-84F9BE0F2D75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1DBB0603-016B-84F1-0106-D5D85BD7439E}"/>
              </a:ext>
            </a:extLst>
          </p:cNvPr>
          <p:cNvSpPr txBox="1"/>
          <p:nvPr/>
        </p:nvSpPr>
        <p:spPr>
          <a:xfrm>
            <a:off x="331724" y="4854624"/>
            <a:ext cx="6824167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9"/>
              </a:lnSpc>
            </a:pPr>
            <a:r>
              <a:rPr lang="en-US" sz="6499" b="1" dirty="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Methodology</a:t>
            </a:r>
            <a:endParaRPr lang="en-US" sz="6500" b="1" dirty="0">
              <a:solidFill>
                <a:srgbClr val="FFFFFF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DC02D79-6CB6-058F-F8CF-D760D4507423}"/>
              </a:ext>
            </a:extLst>
          </p:cNvPr>
          <p:cNvSpPr txBox="1"/>
          <p:nvPr/>
        </p:nvSpPr>
        <p:spPr>
          <a:xfrm>
            <a:off x="10798098" y="1893934"/>
            <a:ext cx="6461202" cy="1380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2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Presentations are communication tools that can be used as demonstrations, lectures, speeches, reports, and more. It is mostly presented before an audience.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F055FE2-8D83-07A0-6C79-F5EA6C71D644}"/>
              </a:ext>
            </a:extLst>
          </p:cNvPr>
          <p:cNvGrpSpPr/>
          <p:nvPr/>
        </p:nvGrpSpPr>
        <p:grpSpPr>
          <a:xfrm>
            <a:off x="9144000" y="2074043"/>
            <a:ext cx="1068134" cy="1068134"/>
            <a:chOff x="0" y="0"/>
            <a:chExt cx="1424179" cy="1424179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6AE31CA9-C6D7-594A-2077-B4FE7CAA0626}"/>
                </a:ext>
              </a:extLst>
            </p:cNvPr>
            <p:cNvGrpSpPr/>
            <p:nvPr/>
          </p:nvGrpSpPr>
          <p:grpSpPr>
            <a:xfrm>
              <a:off x="0" y="0"/>
              <a:ext cx="1424179" cy="1424179"/>
              <a:chOff x="0" y="0"/>
              <a:chExt cx="6350000" cy="63500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D26F693A-23A4-C0E0-0B9D-C8B76D2A020D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67D26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C779A99-896E-9934-FF37-F708BAF60390}"/>
                </a:ext>
              </a:extLst>
            </p:cNvPr>
            <p:cNvSpPr txBox="1"/>
            <p:nvPr/>
          </p:nvSpPr>
          <p:spPr>
            <a:xfrm>
              <a:off x="217775" y="326921"/>
              <a:ext cx="988628" cy="808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4"/>
                </a:lnSpc>
              </a:pPr>
              <a:r>
                <a:rPr lang="en-US" sz="4195" b="1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01</a:t>
              </a: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EDB6DE64-6240-8C09-ABD3-FAAB2EA9D4A4}"/>
              </a:ext>
            </a:extLst>
          </p:cNvPr>
          <p:cNvSpPr txBox="1"/>
          <p:nvPr/>
        </p:nvSpPr>
        <p:spPr>
          <a:xfrm>
            <a:off x="10798098" y="4429324"/>
            <a:ext cx="6461202" cy="1380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2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Presentations are communication tools that can be used as demonstrations, lectures, speeches, reports, and more. It is mostly presented before an audience.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A3A9772-746B-4BCB-687E-D277F2726037}"/>
              </a:ext>
            </a:extLst>
          </p:cNvPr>
          <p:cNvSpPr txBox="1"/>
          <p:nvPr/>
        </p:nvSpPr>
        <p:spPr>
          <a:xfrm>
            <a:off x="10798098" y="6964715"/>
            <a:ext cx="6461202" cy="1380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2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Presentations are communication tools that can be used as demonstrations, lectures, speeches, reports, and more. It is mostly presented before an audience.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25665FE-ADD5-8F02-3A6F-F283C198AAB4}"/>
              </a:ext>
            </a:extLst>
          </p:cNvPr>
          <p:cNvGrpSpPr/>
          <p:nvPr/>
        </p:nvGrpSpPr>
        <p:grpSpPr>
          <a:xfrm>
            <a:off x="9144000" y="4609433"/>
            <a:ext cx="1068134" cy="1068134"/>
            <a:chOff x="0" y="0"/>
            <a:chExt cx="1424179" cy="1424179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0BE15E57-7B79-407E-C990-ED9BD2E2825E}"/>
                </a:ext>
              </a:extLst>
            </p:cNvPr>
            <p:cNvGrpSpPr/>
            <p:nvPr/>
          </p:nvGrpSpPr>
          <p:grpSpPr>
            <a:xfrm>
              <a:off x="0" y="0"/>
              <a:ext cx="1424179" cy="1424179"/>
              <a:chOff x="0" y="0"/>
              <a:chExt cx="6350000" cy="63500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1098DB83-6530-B986-BE9C-31387ED41514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67D26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25D22BF-B1D1-F67E-DE28-44211324794F}"/>
                </a:ext>
              </a:extLst>
            </p:cNvPr>
            <p:cNvSpPr txBox="1"/>
            <p:nvPr/>
          </p:nvSpPr>
          <p:spPr>
            <a:xfrm>
              <a:off x="217775" y="326921"/>
              <a:ext cx="988628" cy="808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4"/>
                </a:lnSpc>
              </a:pPr>
              <a:r>
                <a:rPr lang="en-US" sz="4195" b="1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02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56D8B27-BE6A-DBA3-4D45-8FC2A7C8EFBF}"/>
              </a:ext>
            </a:extLst>
          </p:cNvPr>
          <p:cNvGrpSpPr/>
          <p:nvPr/>
        </p:nvGrpSpPr>
        <p:grpSpPr>
          <a:xfrm>
            <a:off x="9144000" y="7144823"/>
            <a:ext cx="1068134" cy="1068134"/>
            <a:chOff x="0" y="0"/>
            <a:chExt cx="1424179" cy="1424179"/>
          </a:xfrm>
        </p:grpSpPr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214805C0-B936-C5CF-803B-15DB291A4D71}"/>
                </a:ext>
              </a:extLst>
            </p:cNvPr>
            <p:cNvGrpSpPr/>
            <p:nvPr/>
          </p:nvGrpSpPr>
          <p:grpSpPr>
            <a:xfrm>
              <a:off x="0" y="0"/>
              <a:ext cx="1424179" cy="1424179"/>
              <a:chOff x="0" y="0"/>
              <a:chExt cx="6350000" cy="6350000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1D80E0B2-8B6A-2680-D6C2-60FBC91417EC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67D26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B1758A1A-2A40-46BF-45F4-EC8DD82AA4B8}"/>
                </a:ext>
              </a:extLst>
            </p:cNvPr>
            <p:cNvSpPr txBox="1"/>
            <p:nvPr/>
          </p:nvSpPr>
          <p:spPr>
            <a:xfrm>
              <a:off x="217775" y="326921"/>
              <a:ext cx="988628" cy="808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14"/>
                </a:lnSpc>
              </a:pPr>
              <a:r>
                <a:rPr lang="en-US" sz="4195" b="1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03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2331DB7-A5CF-9B4A-07E7-8C8844773822}"/>
              </a:ext>
            </a:extLst>
          </p:cNvPr>
          <p:cNvSpPr txBox="1"/>
          <p:nvPr/>
        </p:nvSpPr>
        <p:spPr>
          <a:xfrm>
            <a:off x="10635522" y="6819900"/>
            <a:ext cx="7391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Roboto Mono" panose="00000009000000000000" pitchFamily="49" charset="0"/>
                <a:ea typeface="Roboto Mono" panose="00000009000000000000" pitchFamily="49" charset="0"/>
              </a:rPr>
              <a:t>The system demonstrates why human expertise remains essential.</a:t>
            </a:r>
            <a:r>
              <a:rPr lang="en-GB" dirty="0">
                <a:latin typeface="Roboto Mono" panose="00000009000000000000" pitchFamily="49" charset="0"/>
                <a:ea typeface="Roboto Mono" panose="00000009000000000000" pitchFamily="49" charset="0"/>
              </a:rPr>
              <a:t> While AI agents detect bias and quantify uncertainty, only human statisticians can make critical value judgments about fairness trade-offs and interpret results contextually, showing AI should amplify rather than replace statistical expertise.</a:t>
            </a:r>
            <a:endParaRPr lang="en-MY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54010F-1536-6819-B703-84E1E5E3ADEC}"/>
              </a:ext>
            </a:extLst>
          </p:cNvPr>
          <p:cNvSpPr txBox="1"/>
          <p:nvPr/>
        </p:nvSpPr>
        <p:spPr>
          <a:xfrm>
            <a:off x="10668000" y="2226443"/>
            <a:ext cx="7391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Roboto Mono" panose="00000009000000000000" pitchFamily="49" charset="0"/>
                <a:ea typeface="Roboto Mono" panose="00000009000000000000" pitchFamily="49" charset="0"/>
              </a:rPr>
              <a:t>Three AI agents guided by human decisions.</a:t>
            </a:r>
            <a:r>
              <a:rPr lang="en-GB" dirty="0">
                <a:latin typeface="Roboto Mono" panose="00000009000000000000" pitchFamily="49" charset="0"/>
                <a:ea typeface="Roboto Mono" panose="00000009000000000000" pitchFamily="49" charset="0"/>
              </a:rPr>
              <a:t> The Statistical Feedback Agent detects demographic bias in PUMS income data, requiring human statisticians to choose between documenting reality (using all variables) or applying fairness constraints (excluding protected attributes) - an ethical judgment AI cannot make.</a:t>
            </a:r>
            <a:endParaRPr lang="en-MY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D53D75-E8AC-3713-3FB6-1711BE7F1020}"/>
              </a:ext>
            </a:extLst>
          </p:cNvPr>
          <p:cNvSpPr txBox="1"/>
          <p:nvPr/>
        </p:nvSpPr>
        <p:spPr>
          <a:xfrm>
            <a:off x="10668000" y="4466530"/>
            <a:ext cx="7391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Roboto Mono" panose="00000009000000000000" pitchFamily="49" charset="0"/>
                <a:ea typeface="Roboto Mono" panose="00000009000000000000" pitchFamily="49" charset="0"/>
              </a:rPr>
              <a:t>Forecast uncertainty combines two methods working with the same features.</a:t>
            </a:r>
            <a:r>
              <a:rPr lang="en-GB" dirty="0">
                <a:latin typeface="Roboto Mono" panose="00000009000000000000" pitchFamily="49" charset="0"/>
                <a:ea typeface="Roboto Mono" panose="00000009000000000000" pitchFamily="49" charset="0"/>
              </a:rPr>
              <a:t> Bayesian Ridge regression provides income predictions with model uncertainty, while Conformal Prediction creates guaranteed coverage intervals (e.g., "90% will contain true income") regardless of model assumptions.</a:t>
            </a:r>
            <a:endParaRPr lang="en-MY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12592C-F6BD-FBA5-2ED9-149140A72366}"/>
              </a:ext>
            </a:extLst>
          </p:cNvPr>
          <p:cNvSpPr txBox="1"/>
          <p:nvPr/>
        </p:nvSpPr>
        <p:spPr>
          <a:xfrm>
            <a:off x="9521447" y="9613455"/>
            <a:ext cx="8766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Focus is on the gender wage gap (median income) and race wage gap (difference between highest and lowest wage by race)</a:t>
            </a:r>
          </a:p>
        </p:txBody>
      </p:sp>
    </p:spTree>
    <p:extLst>
      <p:ext uri="{BB962C8B-B14F-4D97-AF65-F5344CB8AC3E}">
        <p14:creationId xmlns:p14="http://schemas.microsoft.com/office/powerpoint/2010/main" val="27261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AB9E7-BEC2-D3A2-2709-B2144D9F5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6CAB3A8-3124-C9ED-16F3-F8D367F462CA}"/>
              </a:ext>
            </a:extLst>
          </p:cNvPr>
          <p:cNvSpPr txBox="1"/>
          <p:nvPr/>
        </p:nvSpPr>
        <p:spPr>
          <a:xfrm>
            <a:off x="6454473" y="300552"/>
            <a:ext cx="10741327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MY" sz="6600" dirty="0"/>
              <a:t>Statistician in the Loop : The method</a:t>
            </a:r>
            <a:endParaRPr lang="en-US" sz="6500" b="1" dirty="0">
              <a:solidFill>
                <a:srgbClr val="000000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01C74B1-225C-C41E-51F0-D0C89CB51C64}"/>
              </a:ext>
            </a:extLst>
          </p:cNvPr>
          <p:cNvGrpSpPr/>
          <p:nvPr/>
        </p:nvGrpSpPr>
        <p:grpSpPr>
          <a:xfrm>
            <a:off x="-2711426" y="-2472745"/>
            <a:ext cx="6700551" cy="6700551"/>
            <a:chOff x="0" y="0"/>
            <a:chExt cx="6350000" cy="6350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B1F8DB7-563A-85A0-221C-2A6C13C207B3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1E66A37-96BE-7CDB-3E41-A35AB899B4C1}"/>
              </a:ext>
            </a:extLst>
          </p:cNvPr>
          <p:cNvGrpSpPr>
            <a:grpSpLocks noChangeAspect="1"/>
          </p:cNvGrpSpPr>
          <p:nvPr/>
        </p:nvGrpSpPr>
        <p:grpSpPr>
          <a:xfrm>
            <a:off x="1066800" y="1038700"/>
            <a:ext cx="4120342" cy="8373565"/>
            <a:chOff x="0" y="0"/>
            <a:chExt cx="5001260" cy="1016381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47FE5C1-4556-3B25-19E2-CE6152BDD5C9}"/>
                </a:ext>
              </a:extLst>
            </p:cNvPr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r="-4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D695C94-B285-02BE-518C-E28138225137}"/>
                </a:ext>
              </a:extLst>
            </p:cNvPr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130919" r="-9479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CBC497F-E201-B4D5-3D74-1293FB48C714}"/>
              </a:ext>
            </a:extLst>
          </p:cNvPr>
          <p:cNvGrpSpPr/>
          <p:nvPr/>
        </p:nvGrpSpPr>
        <p:grpSpPr>
          <a:xfrm>
            <a:off x="17259300" y="9258300"/>
            <a:ext cx="1759930" cy="1759930"/>
            <a:chOff x="0" y="0"/>
            <a:chExt cx="6350000" cy="63500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6310C0B-54D8-466E-4DF1-3D7D9BD31CD9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727EB"/>
            </a:solidFill>
          </p:spPr>
          <p:txBody>
            <a:bodyPr/>
            <a:lstStyle/>
            <a:p>
              <a:endParaRPr lang="en-MY"/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777147A-B629-E3E3-603E-6B809B17904D}"/>
              </a:ext>
            </a:extLst>
          </p:cNvPr>
          <p:cNvGraphicFramePr>
            <a:graphicFrameLocks noGrp="1"/>
          </p:cNvGraphicFramePr>
          <p:nvPr/>
        </p:nvGraphicFramePr>
        <p:xfrm>
          <a:off x="4902962" y="2714167"/>
          <a:ext cx="12192000" cy="7680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696283118"/>
                    </a:ext>
                  </a:extLst>
                </a:gridCol>
                <a:gridCol w="10591800">
                  <a:extLst>
                    <a:ext uri="{9D8B030D-6E8A-4147-A177-3AD203B41FA5}">
                      <a16:colId xmlns:a16="http://schemas.microsoft.com/office/drawing/2014/main" val="34654625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AI finds answers; statisticians ask the right questions.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0666857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8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1983891"/>
                  </a:ext>
                </a:extLst>
              </a:tr>
              <a:tr h="71405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Step 1: Bias Detection: The Statistical Feedback Agent flags multiple sources of bias in the data, including a 25% median gender gap and 75.8% income gap between racial groups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1774452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Step 2: Human Decision Point #1: The statistician decides how to handle the detected bias (e.g., apply fairness constraints).</a:t>
                      </a:r>
                    </a:p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7074569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Step 3: Model: A fairness-aware model is built using only age, education level and hours worked per week while excluding gender and race</a:t>
                      </a:r>
                    </a:p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438983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MY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Step 4: Conformal Prediction: Conformal provides distribution-free prediction intervals version of the Bayesian model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08828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0D414BC-20D3-69EC-F1AF-723581331DF3}"/>
              </a:ext>
            </a:extLst>
          </p:cNvPr>
          <p:cNvSpPr txBox="1"/>
          <p:nvPr/>
        </p:nvSpPr>
        <p:spPr>
          <a:xfrm>
            <a:off x="6454473" y="2332135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The Statistician in the Loop</a:t>
            </a:r>
          </a:p>
        </p:txBody>
      </p:sp>
    </p:spTree>
    <p:extLst>
      <p:ext uri="{BB962C8B-B14F-4D97-AF65-F5344CB8AC3E}">
        <p14:creationId xmlns:p14="http://schemas.microsoft.com/office/powerpoint/2010/main" val="2954312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DEB0-3819-4953-6477-2D85A913D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93ACC24-34A7-B759-CF98-4B740A5AF058}"/>
              </a:ext>
            </a:extLst>
          </p:cNvPr>
          <p:cNvSpPr txBox="1"/>
          <p:nvPr/>
        </p:nvSpPr>
        <p:spPr>
          <a:xfrm>
            <a:off x="6327822" y="1095375"/>
            <a:ext cx="1074132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MY" sz="6600" dirty="0"/>
              <a:t>Comparative Analysis</a:t>
            </a:r>
            <a:endParaRPr lang="en-US" sz="6500" b="1" dirty="0">
              <a:solidFill>
                <a:srgbClr val="000000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A5D677F-9429-D4F5-A896-DDBF2F5392F7}"/>
              </a:ext>
            </a:extLst>
          </p:cNvPr>
          <p:cNvGrpSpPr/>
          <p:nvPr/>
        </p:nvGrpSpPr>
        <p:grpSpPr>
          <a:xfrm>
            <a:off x="-2711426" y="-2472745"/>
            <a:ext cx="6700551" cy="6700551"/>
            <a:chOff x="0" y="0"/>
            <a:chExt cx="6350000" cy="6350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DD3D82F-A4E5-959C-D7F3-253456551BA7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5F4983E-40F7-06C9-FEFA-DE6C6BFF20AE}"/>
              </a:ext>
            </a:extLst>
          </p:cNvPr>
          <p:cNvGrpSpPr>
            <a:grpSpLocks noChangeAspect="1"/>
          </p:cNvGrpSpPr>
          <p:nvPr/>
        </p:nvGrpSpPr>
        <p:grpSpPr>
          <a:xfrm>
            <a:off x="1066800" y="1038700"/>
            <a:ext cx="4120342" cy="8373565"/>
            <a:chOff x="0" y="0"/>
            <a:chExt cx="5001260" cy="1016381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2209802-FD33-B34B-73D1-85852ED437FB}"/>
                </a:ext>
              </a:extLst>
            </p:cNvPr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r="-4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22EBB8F-7990-06D7-5B53-6213E480B3D7}"/>
                </a:ext>
              </a:extLst>
            </p:cNvPr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130919" r="-9479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69A7FCE-C1AB-1175-0DE3-BA53D6276AB7}"/>
              </a:ext>
            </a:extLst>
          </p:cNvPr>
          <p:cNvGrpSpPr/>
          <p:nvPr/>
        </p:nvGrpSpPr>
        <p:grpSpPr>
          <a:xfrm>
            <a:off x="17259300" y="9258300"/>
            <a:ext cx="1759930" cy="1759930"/>
            <a:chOff x="0" y="0"/>
            <a:chExt cx="6350000" cy="63500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CA1BB23-39BB-F00B-5E33-83297E8169CC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727EB"/>
            </a:solidFill>
          </p:spPr>
          <p:txBody>
            <a:bodyPr/>
            <a:lstStyle/>
            <a:p>
              <a:endParaRPr lang="en-MY"/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A7A1B98-3DD1-7DA3-8FE5-E94C53FE38E6}"/>
              </a:ext>
            </a:extLst>
          </p:cNvPr>
          <p:cNvGraphicFramePr>
            <a:graphicFrameLocks noGrp="1"/>
          </p:cNvGraphicFramePr>
          <p:nvPr/>
        </p:nvGraphicFramePr>
        <p:xfrm>
          <a:off x="5455127" y="6896695"/>
          <a:ext cx="12192000" cy="265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696283118"/>
                    </a:ext>
                  </a:extLst>
                </a:gridCol>
                <a:gridCol w="10591800">
                  <a:extLst>
                    <a:ext uri="{9D8B030D-6E8A-4147-A177-3AD203B41FA5}">
                      <a16:colId xmlns:a16="http://schemas.microsoft.com/office/drawing/2014/main" val="34654625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dirty="0"/>
                        <a:t>We traded 4.4% accuracy for a 99.6% gender bias reduction (although race bias increased by 23.46% )  while maintaining statistical rigor.</a:t>
                      </a:r>
                    </a:p>
                    <a:p>
                      <a:endParaRPr lang="en-GB" sz="2800" dirty="0"/>
                    </a:p>
                    <a:p>
                      <a:r>
                        <a:rPr lang="en-GB" sz="2800" dirty="0"/>
                        <a:t>Conformal prediction coverage affirmed that the basic gaussian distribution assumption of the Bayes model is true</a:t>
                      </a:r>
                    </a:p>
                    <a:p>
                      <a:endParaRPr lang="en-GB" sz="2800" b="1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066685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B348CC1-90BC-A7BB-0258-F61F84BF2EC4}"/>
              </a:ext>
            </a:extLst>
          </p:cNvPr>
          <p:cNvSpPr txBox="1"/>
          <p:nvPr/>
        </p:nvSpPr>
        <p:spPr>
          <a:xfrm>
            <a:off x="6327822" y="3196453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Trading accuracy for Rigor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172A66D-5A0E-B041-8228-953435992376}"/>
              </a:ext>
            </a:extLst>
          </p:cNvPr>
          <p:cNvGraphicFramePr>
            <a:graphicFrameLocks noGrp="1"/>
          </p:cNvGraphicFramePr>
          <p:nvPr/>
        </p:nvGraphicFramePr>
        <p:xfrm>
          <a:off x="5914608" y="4030980"/>
          <a:ext cx="12192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48319548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2596597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446979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939967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Statistician in the 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Pure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Winner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026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Accuracy (R²)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0.263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0.275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997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Gender Bias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$39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$11,036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Human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39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Racial Bias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$32,113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$26,009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386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Interval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89.9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89.9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Tie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767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/>
                        <a:t>Black-box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dirty="0"/>
                        <a:t>Human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04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108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70BFA-6B9C-F88C-20CB-C13A01F9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5B7E92C-2186-80AC-EFCF-93F2AE0936C1}"/>
              </a:ext>
            </a:extLst>
          </p:cNvPr>
          <p:cNvSpPr txBox="1"/>
          <p:nvPr/>
        </p:nvSpPr>
        <p:spPr>
          <a:xfrm>
            <a:off x="4495800" y="115370"/>
            <a:ext cx="137922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MY" sz="6600" b="1" dirty="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Statistician in the Loop: The effect</a:t>
            </a:r>
            <a:endParaRPr lang="en-US" sz="6500" b="1" dirty="0">
              <a:solidFill>
                <a:srgbClr val="000000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CB30858-6B96-F2D3-EB01-3350AD780BF7}"/>
              </a:ext>
            </a:extLst>
          </p:cNvPr>
          <p:cNvGrpSpPr/>
          <p:nvPr/>
        </p:nvGrpSpPr>
        <p:grpSpPr>
          <a:xfrm>
            <a:off x="-2711426" y="-2472745"/>
            <a:ext cx="6700551" cy="6700551"/>
            <a:chOff x="0" y="0"/>
            <a:chExt cx="6350000" cy="6350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D05E4C-115A-0026-6D3E-4AABDF84DD3C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3D6CED0-78E1-FD33-74A4-E210061F017F}"/>
              </a:ext>
            </a:extLst>
          </p:cNvPr>
          <p:cNvGrpSpPr/>
          <p:nvPr/>
        </p:nvGrpSpPr>
        <p:grpSpPr>
          <a:xfrm>
            <a:off x="17259300" y="9258300"/>
            <a:ext cx="1759930" cy="1759930"/>
            <a:chOff x="0" y="0"/>
            <a:chExt cx="6350000" cy="63500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09C18D3-9D29-85D1-9937-324A2E43649D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727EB"/>
            </a:solidFill>
          </p:spPr>
          <p:txBody>
            <a:bodyPr/>
            <a:lstStyle/>
            <a:p>
              <a:endParaRPr lang="en-MY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05317BC-9CF9-79E2-3754-23C1DBEC8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069594"/>
            <a:ext cx="16033772" cy="921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29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3BBD9-D3D7-2FC3-19CC-1A2DD74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AA76EB0-72AF-BACB-B004-DC67375264CB}"/>
              </a:ext>
            </a:extLst>
          </p:cNvPr>
          <p:cNvSpPr txBox="1"/>
          <p:nvPr/>
        </p:nvSpPr>
        <p:spPr>
          <a:xfrm>
            <a:off x="6327822" y="1095375"/>
            <a:ext cx="10741327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MY" sz="6600" dirty="0"/>
              <a:t>The wisdom of asking the right questions</a:t>
            </a:r>
            <a:endParaRPr lang="en-US" sz="6500" b="1" dirty="0">
              <a:solidFill>
                <a:srgbClr val="000000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9E20B11-C504-66F1-6B4A-578F651E5A16}"/>
              </a:ext>
            </a:extLst>
          </p:cNvPr>
          <p:cNvGrpSpPr/>
          <p:nvPr/>
        </p:nvGrpSpPr>
        <p:grpSpPr>
          <a:xfrm>
            <a:off x="-2711426" y="-2472745"/>
            <a:ext cx="6700551" cy="6700551"/>
            <a:chOff x="0" y="0"/>
            <a:chExt cx="6350000" cy="6350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01BFD05-A94B-1ED4-DB38-FBE20C07552C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7B1E9E0-5121-06C0-E33E-6AF0EAC43FF2}"/>
              </a:ext>
            </a:extLst>
          </p:cNvPr>
          <p:cNvGrpSpPr>
            <a:grpSpLocks noChangeAspect="1"/>
          </p:cNvGrpSpPr>
          <p:nvPr/>
        </p:nvGrpSpPr>
        <p:grpSpPr>
          <a:xfrm>
            <a:off x="1066800" y="1038700"/>
            <a:ext cx="4120342" cy="8373565"/>
            <a:chOff x="0" y="0"/>
            <a:chExt cx="5001260" cy="1016381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E994C88-EAF3-966E-F224-5EA3830FFF9B}"/>
                </a:ext>
              </a:extLst>
            </p:cNvPr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r="-4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C91B828-35A3-AF4A-64DE-71510BC55144}"/>
                </a:ext>
              </a:extLst>
            </p:cNvPr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130919" r="-9479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2CDC2781-984D-FA83-BF75-652BEEE27DA9}"/>
              </a:ext>
            </a:extLst>
          </p:cNvPr>
          <p:cNvGrpSpPr/>
          <p:nvPr/>
        </p:nvGrpSpPr>
        <p:grpSpPr>
          <a:xfrm>
            <a:off x="17259300" y="9258300"/>
            <a:ext cx="1759930" cy="1759930"/>
            <a:chOff x="0" y="0"/>
            <a:chExt cx="6350000" cy="63500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6749A1F-B025-C067-2C0A-C5D37C0B537A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727EB"/>
            </a:solidFill>
          </p:spPr>
          <p:txBody>
            <a:bodyPr/>
            <a:lstStyle/>
            <a:p>
              <a:endParaRPr lang="en-MY"/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20B620E-40FB-12DE-49DF-C05E4870F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2772"/>
              </p:ext>
            </p:extLst>
          </p:nvPr>
        </p:nvGraphicFramePr>
        <p:xfrm>
          <a:off x="5602485" y="4000500"/>
          <a:ext cx="12192000" cy="47678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696283118"/>
                    </a:ext>
                  </a:extLst>
                </a:gridCol>
                <a:gridCol w="10591800">
                  <a:extLst>
                    <a:ext uri="{9D8B030D-6E8A-4147-A177-3AD203B41FA5}">
                      <a16:colId xmlns:a16="http://schemas.microsoft.com/office/drawing/2014/main" val="34654625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AI achieves 95% accuracy in predicting job performance.</a:t>
                      </a:r>
                      <a:endParaRPr lang="en-GB" sz="40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0666857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/>
                        <a:t>A statistician asks about fairness, protected characteristics, and the definition of "</a:t>
                      </a:r>
                      <a:r>
                        <a:rPr lang="en-GB" sz="28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performance</a:t>
                      </a:r>
                      <a:r>
                        <a:rPr lang="en-GB" sz="2800" dirty="0"/>
                        <a:t>".</a:t>
                      </a:r>
                      <a:endParaRPr lang="en-MY" sz="28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  <a:p>
                      <a:pPr>
                        <a:buNone/>
                      </a:pPr>
                      <a:endParaRPr lang="en-GB" sz="28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1983891"/>
                  </a:ext>
                </a:extLst>
              </a:tr>
              <a:tr h="71405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1774452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ES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AI </a:t>
                      </a:r>
                      <a:r>
                        <a:rPr lang="es-ES" sz="2400" dirty="0" err="1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identifies</a:t>
                      </a:r>
                      <a:r>
                        <a:rPr lang="es-ES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 a novel </a:t>
                      </a:r>
                      <a:r>
                        <a:rPr lang="es-ES" sz="2400" dirty="0" err="1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biomarker</a:t>
                      </a:r>
                      <a:r>
                        <a:rPr lang="es-ES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.</a:t>
                      </a:r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7074569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438983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 statistician asks about clinical significance, trial design, and ethical implications.</a:t>
                      </a:r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08828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BE8F7C8-AA66-37D1-1F1A-B29A310CB2CA}"/>
              </a:ext>
            </a:extLst>
          </p:cNvPr>
          <p:cNvSpPr txBox="1"/>
          <p:nvPr/>
        </p:nvSpPr>
        <p:spPr>
          <a:xfrm>
            <a:off x="6327822" y="3196453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Case studies</a:t>
            </a:r>
          </a:p>
        </p:txBody>
      </p:sp>
    </p:spTree>
    <p:extLst>
      <p:ext uri="{BB962C8B-B14F-4D97-AF65-F5344CB8AC3E}">
        <p14:creationId xmlns:p14="http://schemas.microsoft.com/office/powerpoint/2010/main" val="282337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FC1C3-27A9-1565-5658-8DC3D1925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8C578C0-3280-A178-E0AA-727933203E15}"/>
              </a:ext>
            </a:extLst>
          </p:cNvPr>
          <p:cNvSpPr txBox="1"/>
          <p:nvPr/>
        </p:nvSpPr>
        <p:spPr>
          <a:xfrm>
            <a:off x="6327822" y="1095375"/>
            <a:ext cx="1074132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GB" sz="6600" dirty="0"/>
              <a:t>The Art of Causal Thinking</a:t>
            </a:r>
            <a:endParaRPr lang="en-US" sz="6500" b="1" dirty="0">
              <a:solidFill>
                <a:srgbClr val="000000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1B1DD79-F6A5-DB6D-6359-8AFBDF49ECBB}"/>
              </a:ext>
            </a:extLst>
          </p:cNvPr>
          <p:cNvGrpSpPr/>
          <p:nvPr/>
        </p:nvGrpSpPr>
        <p:grpSpPr>
          <a:xfrm>
            <a:off x="-2711426" y="-2472745"/>
            <a:ext cx="6700551" cy="6700551"/>
            <a:chOff x="0" y="0"/>
            <a:chExt cx="6350000" cy="6350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24C60A7-4787-BE96-B4BD-54027475DCE0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A8A706B-3AAC-F375-2BF9-5005B8920750}"/>
              </a:ext>
            </a:extLst>
          </p:cNvPr>
          <p:cNvGrpSpPr>
            <a:grpSpLocks noChangeAspect="1"/>
          </p:cNvGrpSpPr>
          <p:nvPr/>
        </p:nvGrpSpPr>
        <p:grpSpPr>
          <a:xfrm>
            <a:off x="1066800" y="1038700"/>
            <a:ext cx="4120342" cy="8373565"/>
            <a:chOff x="0" y="0"/>
            <a:chExt cx="5001260" cy="1016381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012FCCB-B559-2AE4-178E-ADD6B28DC277}"/>
                </a:ext>
              </a:extLst>
            </p:cNvPr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r="-4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88E0E87-E8B2-C6E4-C49B-EA654D062F8B}"/>
                </a:ext>
              </a:extLst>
            </p:cNvPr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130919" r="-9479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6C79CDF-424B-FE70-92CF-8B03D5BB1DDA}"/>
              </a:ext>
            </a:extLst>
          </p:cNvPr>
          <p:cNvGrpSpPr/>
          <p:nvPr/>
        </p:nvGrpSpPr>
        <p:grpSpPr>
          <a:xfrm>
            <a:off x="17259300" y="9258300"/>
            <a:ext cx="1759930" cy="1759930"/>
            <a:chOff x="0" y="0"/>
            <a:chExt cx="6350000" cy="63500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E3D9CB5-5F52-F44E-7A86-A8C4746A524B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727EB"/>
            </a:solidFill>
          </p:spPr>
          <p:txBody>
            <a:bodyPr/>
            <a:lstStyle/>
            <a:p>
              <a:endParaRPr lang="en-MY"/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5691CC6-F849-B383-5091-0CA83D70A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142703"/>
              </p:ext>
            </p:extLst>
          </p:nvPr>
        </p:nvGraphicFramePr>
        <p:xfrm>
          <a:off x="5602485" y="4000500"/>
          <a:ext cx="12192000" cy="434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696283118"/>
                    </a:ext>
                  </a:extLst>
                </a:gridCol>
                <a:gridCol w="10591800">
                  <a:extLst>
                    <a:ext uri="{9D8B030D-6E8A-4147-A177-3AD203B41FA5}">
                      <a16:colId xmlns:a16="http://schemas.microsoft.com/office/drawing/2014/main" val="34654625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AI excels at correlation.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0666857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8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1983891"/>
                  </a:ext>
                </a:extLst>
              </a:tr>
              <a:tr h="759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Causation is our domain: we control for confounding variables, design experiments, and understand causal inference.</a:t>
                      </a:r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1774452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7074569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Example: An AI predicts email marketing increases spending, but a statistician designs a randomized experiment to prove it.</a:t>
                      </a:r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438983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08828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5BEDDFB-CECC-84D3-6495-E2FCE390464C}"/>
              </a:ext>
            </a:extLst>
          </p:cNvPr>
          <p:cNvSpPr txBox="1"/>
          <p:nvPr/>
        </p:nvSpPr>
        <p:spPr>
          <a:xfrm>
            <a:off x="6327822" y="3196453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Correlation Isn't Causation</a:t>
            </a:r>
          </a:p>
        </p:txBody>
      </p:sp>
    </p:spTree>
    <p:extLst>
      <p:ext uri="{BB962C8B-B14F-4D97-AF65-F5344CB8AC3E}">
        <p14:creationId xmlns:p14="http://schemas.microsoft.com/office/powerpoint/2010/main" val="3435986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3785-6320-766C-C6F1-116BD7C10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FBCFE4B-5A63-E7CC-ACBF-16C5E3F99846}"/>
              </a:ext>
            </a:extLst>
          </p:cNvPr>
          <p:cNvSpPr txBox="1"/>
          <p:nvPr/>
        </p:nvSpPr>
        <p:spPr>
          <a:xfrm>
            <a:off x="6327822" y="1095375"/>
            <a:ext cx="10741327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GB" sz="6600" dirty="0"/>
              <a:t>Beyond Accuracy: The Illusion of Accuracy</a:t>
            </a:r>
            <a:endParaRPr lang="en-US" sz="6500" b="1" dirty="0">
              <a:solidFill>
                <a:srgbClr val="000000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5F34CF4-843A-EA64-EFC6-04D7F0AC4108}"/>
              </a:ext>
            </a:extLst>
          </p:cNvPr>
          <p:cNvGrpSpPr/>
          <p:nvPr/>
        </p:nvGrpSpPr>
        <p:grpSpPr>
          <a:xfrm>
            <a:off x="-2711426" y="-2472745"/>
            <a:ext cx="6700551" cy="6700551"/>
            <a:chOff x="0" y="0"/>
            <a:chExt cx="6350000" cy="6350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BC87537-2258-389F-776F-58AB45C7E741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490A68B-86C0-E526-DABD-F89B6D96DCC6}"/>
              </a:ext>
            </a:extLst>
          </p:cNvPr>
          <p:cNvGrpSpPr>
            <a:grpSpLocks noChangeAspect="1"/>
          </p:cNvGrpSpPr>
          <p:nvPr/>
        </p:nvGrpSpPr>
        <p:grpSpPr>
          <a:xfrm>
            <a:off x="1066800" y="1038700"/>
            <a:ext cx="4120342" cy="8373565"/>
            <a:chOff x="0" y="0"/>
            <a:chExt cx="5001260" cy="1016381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447D12C-A675-AA71-0DF7-31EB2DC0660D}"/>
                </a:ext>
              </a:extLst>
            </p:cNvPr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r="-4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015B605-BD9F-00DC-EB11-2CAA78C3FFA0}"/>
                </a:ext>
              </a:extLst>
            </p:cNvPr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130919" r="-9479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40C44F1-E957-4060-A449-DD786844E94D}"/>
              </a:ext>
            </a:extLst>
          </p:cNvPr>
          <p:cNvGrpSpPr/>
          <p:nvPr/>
        </p:nvGrpSpPr>
        <p:grpSpPr>
          <a:xfrm>
            <a:off x="17259300" y="9258300"/>
            <a:ext cx="1759930" cy="1759930"/>
            <a:chOff x="0" y="0"/>
            <a:chExt cx="6350000" cy="63500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46D92EB-559E-4BE3-5E78-AD02F566204F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727EB"/>
            </a:solidFill>
          </p:spPr>
          <p:txBody>
            <a:bodyPr/>
            <a:lstStyle/>
            <a:p>
              <a:endParaRPr lang="en-MY"/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475062-DFC5-2079-CD17-BF652ACAA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282674"/>
              </p:ext>
            </p:extLst>
          </p:nvPr>
        </p:nvGraphicFramePr>
        <p:xfrm>
          <a:off x="5602485" y="4000500"/>
          <a:ext cx="12192000" cy="4434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696283118"/>
                    </a:ext>
                  </a:extLst>
                </a:gridCol>
                <a:gridCol w="10591800">
                  <a:extLst>
                    <a:ext uri="{9D8B030D-6E8A-4147-A177-3AD203B41FA5}">
                      <a16:colId xmlns:a16="http://schemas.microsoft.com/office/drawing/2014/main" val="34654625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/>
                        <a:t>AI obsesses over single-point accuracy metrics.</a:t>
                      </a:r>
                      <a:endParaRPr lang="en-GB" sz="28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0666857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8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1983891"/>
                  </a:ext>
                </a:extLst>
              </a:tr>
              <a:tr h="71405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 deeper statistical understanding is needed to avoid misleading metrics like Simpson's Paradox.</a:t>
                      </a:r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1774452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7074569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MY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Simpson Paradox example here, relate to AI if possible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438983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0882808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California PUMS analysis example: A 96% accurate model can still have a significant income bias against women and certain racial groups.</a:t>
                      </a:r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070596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B6ECF73-A04C-B94F-D296-1E39DE2A354F}"/>
              </a:ext>
            </a:extLst>
          </p:cNvPr>
          <p:cNvSpPr txBox="1"/>
          <p:nvPr/>
        </p:nvSpPr>
        <p:spPr>
          <a:xfrm>
            <a:off x="6327822" y="3196453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Remember Simpson’s Paradox</a:t>
            </a:r>
          </a:p>
        </p:txBody>
      </p:sp>
    </p:spTree>
    <p:extLst>
      <p:ext uri="{BB962C8B-B14F-4D97-AF65-F5344CB8AC3E}">
        <p14:creationId xmlns:p14="http://schemas.microsoft.com/office/powerpoint/2010/main" val="3456955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9675A-828C-10EC-864F-E89FEFC51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697B126-09BA-EB06-9B2F-7CB3B6697E06}"/>
              </a:ext>
            </a:extLst>
          </p:cNvPr>
          <p:cNvSpPr txBox="1"/>
          <p:nvPr/>
        </p:nvSpPr>
        <p:spPr>
          <a:xfrm>
            <a:off x="6327822" y="1095375"/>
            <a:ext cx="1074132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MY" sz="6600" dirty="0"/>
              <a:t>The Quest for Uncertainty</a:t>
            </a:r>
            <a:endParaRPr lang="en-US" sz="6500" b="1" dirty="0">
              <a:solidFill>
                <a:srgbClr val="000000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969BBB4-CFE2-45B9-AAB5-6529B4E4FCE5}"/>
              </a:ext>
            </a:extLst>
          </p:cNvPr>
          <p:cNvGrpSpPr/>
          <p:nvPr/>
        </p:nvGrpSpPr>
        <p:grpSpPr>
          <a:xfrm>
            <a:off x="-2711426" y="-2472745"/>
            <a:ext cx="6700551" cy="6700551"/>
            <a:chOff x="0" y="0"/>
            <a:chExt cx="6350000" cy="6350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0002229-CFE9-FC2B-5A59-EF51D32298F3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3CFF76F-8775-9C6E-2FFF-AF954986AE73}"/>
              </a:ext>
            </a:extLst>
          </p:cNvPr>
          <p:cNvGrpSpPr>
            <a:grpSpLocks noChangeAspect="1"/>
          </p:cNvGrpSpPr>
          <p:nvPr/>
        </p:nvGrpSpPr>
        <p:grpSpPr>
          <a:xfrm>
            <a:off x="1066800" y="1038700"/>
            <a:ext cx="4120342" cy="8373565"/>
            <a:chOff x="0" y="0"/>
            <a:chExt cx="5001260" cy="1016381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67029ED-E4F0-6520-553E-6CA67BB3E12A}"/>
                </a:ext>
              </a:extLst>
            </p:cNvPr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r="-4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C26D830-BCC4-D3BB-3602-88581F1504C9}"/>
                </a:ext>
              </a:extLst>
            </p:cNvPr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130919" r="-9479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FD38D6F-F96F-23E6-3C1C-84D64DD54874}"/>
              </a:ext>
            </a:extLst>
          </p:cNvPr>
          <p:cNvGrpSpPr/>
          <p:nvPr/>
        </p:nvGrpSpPr>
        <p:grpSpPr>
          <a:xfrm>
            <a:off x="17259300" y="9258300"/>
            <a:ext cx="1759930" cy="1759930"/>
            <a:chOff x="0" y="0"/>
            <a:chExt cx="6350000" cy="63500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42A0474-0DCD-CBB0-1D13-A8C1ABE3A0C5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727EB"/>
            </a:solidFill>
          </p:spPr>
          <p:txBody>
            <a:bodyPr/>
            <a:lstStyle/>
            <a:p>
              <a:endParaRPr lang="en-MY"/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175298A-7806-1A0D-B32C-5FC11F3E5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571216"/>
              </p:ext>
            </p:extLst>
          </p:nvPr>
        </p:nvGraphicFramePr>
        <p:xfrm>
          <a:off x="5602485" y="4000500"/>
          <a:ext cx="12192000" cy="487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696283118"/>
                    </a:ext>
                  </a:extLst>
                </a:gridCol>
                <a:gridCol w="10591800">
                  <a:extLst>
                    <a:ext uri="{9D8B030D-6E8A-4147-A177-3AD203B41FA5}">
                      <a16:colId xmlns:a16="http://schemas.microsoft.com/office/drawing/2014/main" val="34654625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AI models are often overconfident, defaulting to point estimates without measures of certainty.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0666857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8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1983891"/>
                  </a:ext>
                </a:extLst>
              </a:tr>
              <a:tr h="71405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Statisticians provide crucial context with honest prediction intervals.</a:t>
                      </a:r>
                      <a:endParaRPr lang="en-MY" sz="28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1774452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7074569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PUMS analysis example: Using conformal prediction, we provide wide intervals for uncertain predictions (e.g., low-income households) and narrow ones for confident predictions (e.g., high-income professionals).</a:t>
                      </a:r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438983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08828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1D578A5-9052-8003-E13C-4BEC69575B39}"/>
              </a:ext>
            </a:extLst>
          </p:cNvPr>
          <p:cNvSpPr txBox="1"/>
          <p:nvPr/>
        </p:nvSpPr>
        <p:spPr>
          <a:xfrm>
            <a:off x="6327822" y="3196453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Are you sure?</a:t>
            </a:r>
          </a:p>
        </p:txBody>
      </p:sp>
    </p:spTree>
    <p:extLst>
      <p:ext uri="{BB962C8B-B14F-4D97-AF65-F5344CB8AC3E}">
        <p14:creationId xmlns:p14="http://schemas.microsoft.com/office/powerpoint/2010/main" val="2367062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86A2-6E85-AA45-741E-DC80D208A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60FCA48-BCE4-957B-30F0-503A0521E223}"/>
              </a:ext>
            </a:extLst>
          </p:cNvPr>
          <p:cNvSpPr txBox="1"/>
          <p:nvPr/>
        </p:nvSpPr>
        <p:spPr>
          <a:xfrm>
            <a:off x="6327822" y="1095375"/>
            <a:ext cx="1074132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MY" sz="6600" dirty="0"/>
              <a:t>Garbage In, Garbage Out?</a:t>
            </a:r>
            <a:endParaRPr lang="en-US" sz="6500" b="1" dirty="0">
              <a:solidFill>
                <a:srgbClr val="000000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E334AB1-C788-E1AC-48C6-DC2073B49C99}"/>
              </a:ext>
            </a:extLst>
          </p:cNvPr>
          <p:cNvGrpSpPr/>
          <p:nvPr/>
        </p:nvGrpSpPr>
        <p:grpSpPr>
          <a:xfrm>
            <a:off x="-2711426" y="-2472745"/>
            <a:ext cx="6700551" cy="6700551"/>
            <a:chOff x="0" y="0"/>
            <a:chExt cx="6350000" cy="6350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7BB3DEF-6FF3-EA44-C223-363E88884638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4C54871-FBF5-2E8B-D888-058AF4BFCDC9}"/>
              </a:ext>
            </a:extLst>
          </p:cNvPr>
          <p:cNvGrpSpPr>
            <a:grpSpLocks noChangeAspect="1"/>
          </p:cNvGrpSpPr>
          <p:nvPr/>
        </p:nvGrpSpPr>
        <p:grpSpPr>
          <a:xfrm>
            <a:off x="1066800" y="1038700"/>
            <a:ext cx="4120342" cy="8373565"/>
            <a:chOff x="0" y="0"/>
            <a:chExt cx="5001260" cy="1016381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51A8709-525F-E9A1-F473-53F94AFDAA23}"/>
                </a:ext>
              </a:extLst>
            </p:cNvPr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r="-4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3E33C70-089A-9E54-10D8-A7034BEBF6DA}"/>
                </a:ext>
              </a:extLst>
            </p:cNvPr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130919" r="-9479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4C6F02B-9871-4B2B-0250-01E8CCD65C76}"/>
              </a:ext>
            </a:extLst>
          </p:cNvPr>
          <p:cNvGrpSpPr/>
          <p:nvPr/>
        </p:nvGrpSpPr>
        <p:grpSpPr>
          <a:xfrm>
            <a:off x="17259300" y="9258300"/>
            <a:ext cx="1759930" cy="1759930"/>
            <a:chOff x="0" y="0"/>
            <a:chExt cx="6350000" cy="63500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822A5E3-ABFD-8557-06C7-4134D34A24EF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727EB"/>
            </a:solidFill>
          </p:spPr>
          <p:txBody>
            <a:bodyPr/>
            <a:lstStyle/>
            <a:p>
              <a:endParaRPr lang="en-MY"/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64FCC3E-C950-233E-4443-6C50222C4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048805"/>
              </p:ext>
            </p:extLst>
          </p:nvPr>
        </p:nvGraphicFramePr>
        <p:xfrm>
          <a:off x="5602485" y="4000500"/>
          <a:ext cx="12192000" cy="512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696283118"/>
                    </a:ext>
                  </a:extLst>
                </a:gridCol>
                <a:gridCol w="10591800">
                  <a:extLst>
                    <a:ext uri="{9D8B030D-6E8A-4147-A177-3AD203B41FA5}">
                      <a16:colId xmlns:a16="http://schemas.microsoft.com/office/drawing/2014/main" val="34654625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 sophisticated neural network is useless if trained on biased data.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0666857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8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1983891"/>
                  </a:ext>
                </a:extLst>
              </a:tr>
              <a:tr h="71405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 trained statistician will be aware of biases introduced by</a:t>
                      </a:r>
                    </a:p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1774452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MY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Sampling weights, due to sampling design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7074569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438983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MY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Temporal bias, e.g. inflation rate or currency exchange rate at a given time</a:t>
                      </a:r>
                    </a:p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  <a:p>
                      <a:r>
                        <a:rPr lang="en-MY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Spatial bias, which may perpetuate historical biases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08828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F27804D-6A01-9A22-053D-9382D16BEBFD}"/>
              </a:ext>
            </a:extLst>
          </p:cNvPr>
          <p:cNvSpPr txBox="1"/>
          <p:nvPr/>
        </p:nvSpPr>
        <p:spPr>
          <a:xfrm>
            <a:off x="6327822" y="3196453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Data quality matters</a:t>
            </a:r>
          </a:p>
        </p:txBody>
      </p:sp>
    </p:spTree>
    <p:extLst>
      <p:ext uri="{BB962C8B-B14F-4D97-AF65-F5344CB8AC3E}">
        <p14:creationId xmlns:p14="http://schemas.microsoft.com/office/powerpoint/2010/main" val="3306519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5D4C1-89E9-2A88-FF6B-B9F5DE347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2A1ECD6-4FC9-DC64-F052-9C0E557DE247}"/>
              </a:ext>
            </a:extLst>
          </p:cNvPr>
          <p:cNvSpPr txBox="1"/>
          <p:nvPr/>
        </p:nvSpPr>
        <p:spPr>
          <a:xfrm>
            <a:off x="6327822" y="1095375"/>
            <a:ext cx="10741327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MY" sz="6600" dirty="0"/>
              <a:t>The AI-enabled Statistician's Toolkit</a:t>
            </a:r>
            <a:endParaRPr lang="en-US" sz="6500" b="1" dirty="0">
              <a:solidFill>
                <a:srgbClr val="000000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2FA86CE-9378-C913-0566-F7E99DF941CC}"/>
              </a:ext>
            </a:extLst>
          </p:cNvPr>
          <p:cNvGrpSpPr/>
          <p:nvPr/>
        </p:nvGrpSpPr>
        <p:grpSpPr>
          <a:xfrm>
            <a:off x="-2711426" y="-2472745"/>
            <a:ext cx="6700551" cy="6700551"/>
            <a:chOff x="0" y="0"/>
            <a:chExt cx="6350000" cy="6350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F1A3F5D-9FD7-7275-C274-0B7BC2007C0A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39790CE-FB60-FA51-509D-8D5CA45A5BD8}"/>
              </a:ext>
            </a:extLst>
          </p:cNvPr>
          <p:cNvGrpSpPr>
            <a:grpSpLocks noChangeAspect="1"/>
          </p:cNvGrpSpPr>
          <p:nvPr/>
        </p:nvGrpSpPr>
        <p:grpSpPr>
          <a:xfrm>
            <a:off x="1066800" y="1038700"/>
            <a:ext cx="4120342" cy="8373565"/>
            <a:chOff x="0" y="0"/>
            <a:chExt cx="5001260" cy="1016381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B6293C9-392B-E842-6DCC-D143EF23EC03}"/>
                </a:ext>
              </a:extLst>
            </p:cNvPr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r="-4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AB6EB57-FF7C-4E9C-481C-A67BC0A17470}"/>
                </a:ext>
              </a:extLst>
            </p:cNvPr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130919" r="-94791"/>
              </a:stretch>
            </a:blip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1445902-8AD1-1B9F-F1E7-70D5CBBC0966}"/>
              </a:ext>
            </a:extLst>
          </p:cNvPr>
          <p:cNvGrpSpPr/>
          <p:nvPr/>
        </p:nvGrpSpPr>
        <p:grpSpPr>
          <a:xfrm>
            <a:off x="17259300" y="9258300"/>
            <a:ext cx="1759930" cy="1759930"/>
            <a:chOff x="0" y="0"/>
            <a:chExt cx="6350000" cy="63500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A2374F9-D33A-2BC3-DA14-B693607327D0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727EB"/>
            </a:solidFill>
          </p:spPr>
          <p:txBody>
            <a:bodyPr/>
            <a:lstStyle/>
            <a:p>
              <a:endParaRPr lang="en-MY"/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096DD04-D159-9276-6C9A-1F06DD816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899526"/>
              </p:ext>
            </p:extLst>
          </p:nvPr>
        </p:nvGraphicFramePr>
        <p:xfrm>
          <a:off x="5602485" y="4000500"/>
          <a:ext cx="12192000" cy="518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696283118"/>
                    </a:ext>
                  </a:extLst>
                </a:gridCol>
                <a:gridCol w="10591800">
                  <a:extLst>
                    <a:ext uri="{9D8B030D-6E8A-4147-A177-3AD203B41FA5}">
                      <a16:colId xmlns:a16="http://schemas.microsoft.com/office/drawing/2014/main" val="34654625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Statisticians may need to move away from proprietary statistics software such as </a:t>
                      </a:r>
                      <a:r>
                        <a:rPr lang="en-GB" sz="2800" dirty="0" err="1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Matlab</a:t>
                      </a:r>
                      <a:r>
                        <a:rPr lang="en-GB" sz="28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, Stata, SPSS…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0666857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8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1983891"/>
                  </a:ext>
                </a:extLst>
              </a:tr>
              <a:tr h="71405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Programming languages such as Python and R has rich support for statistical test</a:t>
                      </a:r>
                    </a:p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1774452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The core of machine learning is built on statistical theory: regression, hypothesis testing, PCA, and Bayesian methods.</a:t>
                      </a:r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7074569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438983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08828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012B2AF-5174-9E99-DD77-0F25B5321E3B}"/>
              </a:ext>
            </a:extLst>
          </p:cNvPr>
          <p:cNvSpPr txBox="1"/>
          <p:nvPr/>
        </p:nvSpPr>
        <p:spPr>
          <a:xfrm>
            <a:off x="6327822" y="3196453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Tooling for the AI-enabled</a:t>
            </a:r>
          </a:p>
        </p:txBody>
      </p:sp>
    </p:spTree>
    <p:extLst>
      <p:ext uri="{BB962C8B-B14F-4D97-AF65-F5344CB8AC3E}">
        <p14:creationId xmlns:p14="http://schemas.microsoft.com/office/powerpoint/2010/main" val="1053007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CF1AB-990C-DC0B-E0A1-8E185AA4B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812D73B-62E4-9048-F200-F74D86BCCD8B}"/>
              </a:ext>
            </a:extLst>
          </p:cNvPr>
          <p:cNvSpPr txBox="1"/>
          <p:nvPr/>
        </p:nvSpPr>
        <p:spPr>
          <a:xfrm>
            <a:off x="6327822" y="1095375"/>
            <a:ext cx="10741327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GB" sz="6600" dirty="0"/>
              <a:t>The New Frontier: Interpretability and Fairness</a:t>
            </a:r>
            <a:endParaRPr lang="en-US" sz="6500" b="1" dirty="0">
              <a:solidFill>
                <a:srgbClr val="000000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92369FD-BF27-C3AF-79C9-648EF7BFA571}"/>
              </a:ext>
            </a:extLst>
          </p:cNvPr>
          <p:cNvGrpSpPr/>
          <p:nvPr/>
        </p:nvGrpSpPr>
        <p:grpSpPr>
          <a:xfrm>
            <a:off x="-2711426" y="-2472745"/>
            <a:ext cx="6700551" cy="6700551"/>
            <a:chOff x="0" y="0"/>
            <a:chExt cx="6350000" cy="63500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002680B-D7F0-5B84-25AE-3B5FA48625BB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438D375-C7B9-0669-04F7-11A598E21F33}"/>
              </a:ext>
            </a:extLst>
          </p:cNvPr>
          <p:cNvGrpSpPr>
            <a:grpSpLocks noChangeAspect="1"/>
          </p:cNvGrpSpPr>
          <p:nvPr/>
        </p:nvGrpSpPr>
        <p:grpSpPr>
          <a:xfrm>
            <a:off x="1066800" y="1038700"/>
            <a:ext cx="4120122" cy="8373418"/>
            <a:chOff x="0" y="0"/>
            <a:chExt cx="5000993" cy="1016363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1A54A627-567C-C596-314A-D067B7ECEA11}"/>
                </a:ext>
              </a:extLst>
            </p:cNvPr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r="-45"/>
              </a:stretch>
            </a:blipFill>
          </p:spPr>
          <p:txBody>
            <a:bodyPr/>
            <a:lstStyle/>
            <a:p>
              <a:endParaRPr lang="en-MY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C40F514-8B9D-E5A2-AFD1-A8C2C19B62C1}"/>
                </a:ext>
              </a:extLst>
            </p:cNvPr>
            <p:cNvSpPr>
              <a:spLocks/>
            </p:cNvSpPr>
            <p:nvPr/>
          </p:nvSpPr>
          <p:spPr>
            <a:xfrm>
              <a:off x="338760" y="288797"/>
              <a:ext cx="4330777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l="-130919" r="-94791"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4D58B6B5-B875-41E7-B99F-9FB30D0E0661}"/>
              </a:ext>
            </a:extLst>
          </p:cNvPr>
          <p:cNvGrpSpPr/>
          <p:nvPr/>
        </p:nvGrpSpPr>
        <p:grpSpPr>
          <a:xfrm>
            <a:off x="17259300" y="9258300"/>
            <a:ext cx="1759930" cy="1759930"/>
            <a:chOff x="0" y="0"/>
            <a:chExt cx="6350000" cy="63500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9707F24-363E-7435-F33B-18643401F900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727EB"/>
            </a:solidFill>
          </p:spPr>
          <p:txBody>
            <a:bodyPr/>
            <a:lstStyle/>
            <a:p>
              <a:endParaRPr lang="en-MY"/>
            </a:p>
          </p:txBody>
        </p:sp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7E9C7C5-7D03-EA70-21A9-010F3B1B7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760972"/>
              </p:ext>
            </p:extLst>
          </p:nvPr>
        </p:nvGraphicFramePr>
        <p:xfrm>
          <a:off x="5602485" y="4000500"/>
          <a:ext cx="12192000" cy="548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696283118"/>
                    </a:ext>
                  </a:extLst>
                </a:gridCol>
                <a:gridCol w="10591800">
                  <a:extLst>
                    <a:ext uri="{9D8B030D-6E8A-4147-A177-3AD203B41FA5}">
                      <a16:colId xmlns:a16="http://schemas.microsoft.com/office/drawing/2014/main" val="34654625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8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Interpretability is possible due to tools such as SHAP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0666857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28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1983891"/>
                  </a:ext>
                </a:extLst>
              </a:tr>
              <a:tr h="71405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Fairness is also measurable , using measures such as demographic parity and equal class distribution across groups</a:t>
                      </a:r>
                    </a:p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1774452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MY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Often a balancing act between </a:t>
                      </a:r>
                      <a:r>
                        <a:rPr lang="en-GB" sz="2400" dirty="0">
                          <a:latin typeface="Roboto Mono" panose="00000009000000000000" pitchFamily="49" charset="0"/>
                          <a:ea typeface="Roboto Mono" panose="00000009000000000000" pitchFamily="49" charset="0"/>
                        </a:rPr>
                        <a:t>allocation fairness (who gets the benefit) versus classification accuracy fairness (equal error rates) versus calibration fairness (equal meaning of scores)</a:t>
                      </a:r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7074569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438983"/>
                  </a:ext>
                </a:extLst>
              </a:tr>
              <a:tr h="378778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MY" sz="2400" dirty="0">
                        <a:latin typeface="Roboto Mono" panose="00000009000000000000" pitchFamily="49" charset="0"/>
                        <a:ea typeface="Roboto Mono" panose="00000009000000000000" pitchFamily="49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08828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B1D291-C43D-F7E0-6592-D3E3AB549941}"/>
              </a:ext>
            </a:extLst>
          </p:cNvPr>
          <p:cNvSpPr txBox="1"/>
          <p:nvPr/>
        </p:nvSpPr>
        <p:spPr>
          <a:xfrm>
            <a:off x="6327822" y="3196453"/>
            <a:ext cx="990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The Statistician in the Loop</a:t>
            </a:r>
          </a:p>
        </p:txBody>
      </p:sp>
    </p:spTree>
    <p:extLst>
      <p:ext uri="{BB962C8B-B14F-4D97-AF65-F5344CB8AC3E}">
        <p14:creationId xmlns:p14="http://schemas.microsoft.com/office/powerpoint/2010/main" val="1447650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27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466BE-1A6A-ADEF-004C-FB20CDE43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A64F55B-BAD4-8D4F-DAD6-F9246E5254FA}"/>
              </a:ext>
            </a:extLst>
          </p:cNvPr>
          <p:cNvGrpSpPr/>
          <p:nvPr/>
        </p:nvGrpSpPr>
        <p:grpSpPr>
          <a:xfrm>
            <a:off x="-4898911" y="760223"/>
            <a:ext cx="8766553" cy="8766553"/>
            <a:chOff x="0" y="0"/>
            <a:chExt cx="6350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920E8F-7635-C824-2475-44EE6BFA8B63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34902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A1FD3DFD-0078-B772-2BAA-EC4F39717FD4}"/>
              </a:ext>
            </a:extLst>
          </p:cNvPr>
          <p:cNvSpPr txBox="1"/>
          <p:nvPr/>
        </p:nvSpPr>
        <p:spPr>
          <a:xfrm>
            <a:off x="1028700" y="4270515"/>
            <a:ext cx="6824167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14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Call to action</a:t>
            </a:r>
            <a:endParaRPr kumimoji="0" lang="en-US" sz="6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old"/>
              <a:ea typeface="Muli Bold"/>
              <a:cs typeface="Muli Bold"/>
              <a:sym typeface="Muli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90B388E-B5B5-613D-366D-74CECE5DA6F7}"/>
              </a:ext>
            </a:extLst>
          </p:cNvPr>
          <p:cNvSpPr txBox="1"/>
          <p:nvPr/>
        </p:nvSpPr>
        <p:spPr>
          <a:xfrm>
            <a:off x="10798098" y="1893934"/>
            <a:ext cx="6461202" cy="1050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Learn R and Python. And if you know R and Python, pick up a</a:t>
            </a:r>
            <a:r>
              <a:rPr lang="en-US" sz="2000" spc="-20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gentic</a:t>
            </a:r>
            <a:r>
              <a:rPr lang="en-US" sz="2000" spc="-2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coding to scale up analytics throughput</a:t>
            </a:r>
            <a:endParaRPr kumimoji="0" lang="en-US" sz="20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579BC5B-8B1B-5003-C479-9310B8ECB27E}"/>
              </a:ext>
            </a:extLst>
          </p:cNvPr>
          <p:cNvGrpSpPr/>
          <p:nvPr/>
        </p:nvGrpSpPr>
        <p:grpSpPr>
          <a:xfrm>
            <a:off x="9144000" y="2074043"/>
            <a:ext cx="1068134" cy="1068134"/>
            <a:chOff x="0" y="0"/>
            <a:chExt cx="1424179" cy="1424179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4184F90-C339-4EF1-2EF2-2254EF36B658}"/>
                </a:ext>
              </a:extLst>
            </p:cNvPr>
            <p:cNvGrpSpPr/>
            <p:nvPr/>
          </p:nvGrpSpPr>
          <p:grpSpPr>
            <a:xfrm>
              <a:off x="0" y="0"/>
              <a:ext cx="1424179" cy="1424179"/>
              <a:chOff x="0" y="0"/>
              <a:chExt cx="6350000" cy="63500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A4F9807-D560-70A3-1DF5-7590E77095D6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67D26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MY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030A4E4-35BC-0B91-F6CE-739B3FB54F72}"/>
                </a:ext>
              </a:extLst>
            </p:cNvPr>
            <p:cNvSpPr txBox="1"/>
            <p:nvPr/>
          </p:nvSpPr>
          <p:spPr>
            <a:xfrm>
              <a:off x="217775" y="326921"/>
              <a:ext cx="988628" cy="808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61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95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uli Bold"/>
                  <a:ea typeface="Muli Bold"/>
                  <a:cs typeface="Muli Bold"/>
                  <a:sym typeface="Muli Bold"/>
                </a:rPr>
                <a:t>01</a:t>
              </a: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E1DC0457-5FB8-AE98-0046-0386F5171802}"/>
              </a:ext>
            </a:extLst>
          </p:cNvPr>
          <p:cNvSpPr txBox="1"/>
          <p:nvPr/>
        </p:nvSpPr>
        <p:spPr>
          <a:xfrm>
            <a:off x="10798098" y="4429324"/>
            <a:ext cx="6461202" cy="69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Download and explore the California PUMS data.</a:t>
            </a:r>
            <a:endParaRPr kumimoji="0" lang="en-US" sz="20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423067B-CB04-4241-E20C-280F8D4775D3}"/>
              </a:ext>
            </a:extLst>
          </p:cNvPr>
          <p:cNvSpPr txBox="1"/>
          <p:nvPr/>
        </p:nvSpPr>
        <p:spPr>
          <a:xfrm>
            <a:off x="10798098" y="6964715"/>
            <a:ext cx="6461202" cy="69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Implement manual conformal prediction to understand uncertainty.</a:t>
            </a:r>
            <a:endParaRPr kumimoji="0" lang="en-US" sz="2000" b="0" i="0" u="none" strike="noStrike" kern="1200" cap="none" spc="-2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1A0FA0A-BFDB-0389-4E1A-49841A490F62}"/>
              </a:ext>
            </a:extLst>
          </p:cNvPr>
          <p:cNvGrpSpPr/>
          <p:nvPr/>
        </p:nvGrpSpPr>
        <p:grpSpPr>
          <a:xfrm>
            <a:off x="9144000" y="4609433"/>
            <a:ext cx="1068134" cy="1068134"/>
            <a:chOff x="0" y="0"/>
            <a:chExt cx="1424179" cy="1424179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8C3B86D2-CB0A-1FCB-D79E-BE1201B6828A}"/>
                </a:ext>
              </a:extLst>
            </p:cNvPr>
            <p:cNvGrpSpPr/>
            <p:nvPr/>
          </p:nvGrpSpPr>
          <p:grpSpPr>
            <a:xfrm>
              <a:off x="0" y="0"/>
              <a:ext cx="1424179" cy="1424179"/>
              <a:chOff x="0" y="0"/>
              <a:chExt cx="6350000" cy="63500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EB1F7464-CFA1-7335-CD25-EC9A3F47DF92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67D26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MY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EF1059C-E4E5-FB3D-F8E8-430529B73A4E}"/>
                </a:ext>
              </a:extLst>
            </p:cNvPr>
            <p:cNvSpPr txBox="1"/>
            <p:nvPr/>
          </p:nvSpPr>
          <p:spPr>
            <a:xfrm>
              <a:off x="217775" y="326921"/>
              <a:ext cx="988628" cy="808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61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95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uli Bold"/>
                  <a:ea typeface="Muli Bold"/>
                  <a:cs typeface="Muli Bold"/>
                  <a:sym typeface="Muli Bold"/>
                </a:rPr>
                <a:t>02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C9BEB4A-E84C-61EA-1C6D-16FBC187EFBF}"/>
              </a:ext>
            </a:extLst>
          </p:cNvPr>
          <p:cNvGrpSpPr/>
          <p:nvPr/>
        </p:nvGrpSpPr>
        <p:grpSpPr>
          <a:xfrm>
            <a:off x="9144000" y="7144823"/>
            <a:ext cx="1068134" cy="1068134"/>
            <a:chOff x="0" y="0"/>
            <a:chExt cx="1424179" cy="1424179"/>
          </a:xfrm>
        </p:grpSpPr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9E9F161D-EC86-E6A5-1686-72D865FF80E6}"/>
                </a:ext>
              </a:extLst>
            </p:cNvPr>
            <p:cNvGrpSpPr/>
            <p:nvPr/>
          </p:nvGrpSpPr>
          <p:grpSpPr>
            <a:xfrm>
              <a:off x="0" y="0"/>
              <a:ext cx="1424179" cy="1424179"/>
              <a:chOff x="0" y="0"/>
              <a:chExt cx="6350000" cy="6350000"/>
            </a:xfrm>
          </p:grpSpPr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6F56F811-29E8-E2C6-8F9B-7E2AB50A48F9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67D26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MY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F3A911D-F8F9-EFCF-A01C-C4D4D578CA24}"/>
                </a:ext>
              </a:extLst>
            </p:cNvPr>
            <p:cNvSpPr txBox="1"/>
            <p:nvPr/>
          </p:nvSpPr>
          <p:spPr>
            <a:xfrm>
              <a:off x="217775" y="326921"/>
              <a:ext cx="988628" cy="808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4614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195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uli Bold"/>
                  <a:ea typeface="Muli Bold"/>
                  <a:cs typeface="Muli Bold"/>
                  <a:sym typeface="Muli Bold"/>
                </a:rPr>
                <a:t>03</a:t>
              </a:r>
            </a:p>
          </p:txBody>
        </p:sp>
      </p:grpSp>
      <p:sp>
        <p:nvSpPr>
          <p:cNvPr id="20" name="TextBox 4">
            <a:extLst>
              <a:ext uri="{FF2B5EF4-FFF2-40B4-BE49-F238E27FC236}">
                <a16:creationId xmlns:a16="http://schemas.microsoft.com/office/drawing/2014/main" id="{C658CFCA-4BFD-6EF9-AAA2-17B3106AC3D8}"/>
              </a:ext>
            </a:extLst>
          </p:cNvPr>
          <p:cNvSpPr txBox="1"/>
          <p:nvPr/>
        </p:nvSpPr>
        <p:spPr>
          <a:xfrm>
            <a:off x="6800050" y="9071523"/>
            <a:ext cx="6824167" cy="91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14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4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Work with GenAI </a:t>
            </a:r>
            <a:endParaRPr kumimoji="0" lang="en-US" sz="6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old"/>
              <a:ea typeface="Muli Bold"/>
              <a:cs typeface="Muli Bold"/>
              <a:sym typeface="Muli Bold"/>
            </a:endParaRPr>
          </a:p>
        </p:txBody>
      </p:sp>
    </p:spTree>
    <p:extLst>
      <p:ext uri="{BB962C8B-B14F-4D97-AF65-F5344CB8AC3E}">
        <p14:creationId xmlns:p14="http://schemas.microsoft.com/office/powerpoint/2010/main" val="1951722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10498" y="542815"/>
            <a:ext cx="13682586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6500" b="1" dirty="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Statisticians in the Loop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437174" y="3361407"/>
            <a:ext cx="4711820" cy="571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000" spc="-2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Roles to play as Statisticians in the Loop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endParaRPr lang="en-US" sz="2000" spc="-2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GB" sz="20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The Validator: We move beyond simple accuracy.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endParaRPr lang="en-US" sz="2000" spc="-20" dirty="0">
              <a:solidFill>
                <a:schemeClr val="bg1"/>
              </a:solidFill>
              <a:latin typeface="Roboto Mono" panose="00000009000000000000" pitchFamily="49" charset="0"/>
              <a:ea typeface="Roboto Mono" panose="00000009000000000000" pitchFamily="49" charset="0"/>
              <a:cs typeface="Roboto Mono"/>
              <a:sym typeface="Roboto Mono"/>
            </a:endParaRP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GB" sz="20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The Uncertainty Quantifier: We turn guesses into responsible risk assessments.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endParaRPr lang="en-GB" sz="2000" spc="-20" dirty="0">
              <a:solidFill>
                <a:schemeClr val="bg1"/>
              </a:solidFill>
              <a:latin typeface="Roboto Mono" panose="00000009000000000000" pitchFamily="49" charset="0"/>
              <a:ea typeface="Roboto Mono" panose="00000009000000000000" pitchFamily="49" charset="0"/>
              <a:cs typeface="Roboto Mono"/>
              <a:sym typeface="Roboto Mono"/>
            </a:endParaRP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GB" sz="20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The Causal </a:t>
            </a:r>
            <a:r>
              <a:rPr lang="en-GB" sz="2000" dirty="0" err="1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Inferrer</a:t>
            </a:r>
            <a:r>
              <a:rPr lang="en-GB" sz="20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: We separate real impact from random noise.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endParaRPr lang="en-GB" sz="2000" spc="-20" dirty="0">
              <a:solidFill>
                <a:schemeClr val="bg1"/>
              </a:solidFill>
              <a:latin typeface="Roboto Mono" panose="00000009000000000000" pitchFamily="49" charset="0"/>
              <a:ea typeface="Roboto Mono" panose="00000009000000000000" pitchFamily="49" charset="0"/>
              <a:cs typeface="Roboto Mono"/>
              <a:sym typeface="Roboto Mono"/>
            </a:endParaRP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GB" sz="20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The Ethicist: We are the front line against algorithmic bias.</a:t>
            </a:r>
            <a:endParaRPr lang="en-US" sz="2000" spc="-20" dirty="0">
              <a:solidFill>
                <a:schemeClr val="bg1"/>
              </a:solidFill>
              <a:latin typeface="Roboto Mono" panose="00000009000000000000" pitchFamily="49" charset="0"/>
              <a:ea typeface="Roboto Mono" panose="00000009000000000000" pitchFamily="49" charset="0"/>
              <a:cs typeface="Roboto Mono"/>
              <a:sym typeface="Roboto Mon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0" y="3394636"/>
            <a:ext cx="4711820" cy="2486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The future </a:t>
            </a:r>
            <a:r>
              <a:rPr lang="en-US" sz="2000" spc="-2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needs more than faster algorithm or ‘vibed statistics’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000" spc="-2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Vs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000" spc="-2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The future needs scrutiny, wisdom and fairness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endParaRPr lang="en-US" sz="2000" spc="-2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5282786" y="1858571"/>
            <a:ext cx="1020596" cy="1020596"/>
            <a:chOff x="0" y="0"/>
            <a:chExt cx="1360795" cy="1360795"/>
          </a:xfrm>
          <a:solidFill>
            <a:srgbClr val="3727EB"/>
          </a:solidFill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360795" cy="1360795"/>
              <a:chOff x="0" y="0"/>
              <a:chExt cx="6350000" cy="6350000"/>
            </a:xfrm>
            <a:grpFill/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08083" y="314067"/>
              <a:ext cx="944629" cy="7707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9"/>
                </a:lnSpc>
              </a:pPr>
              <a:r>
                <a:rPr lang="en-US" sz="4008" b="1" dirty="0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03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00200" y="2036114"/>
            <a:ext cx="1020596" cy="1020596"/>
            <a:chOff x="0" y="0"/>
            <a:chExt cx="1360795" cy="1360795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360795" cy="1360795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727EB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208083" y="314067"/>
              <a:ext cx="944629" cy="770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9"/>
                </a:lnSpc>
              </a:pPr>
              <a:r>
                <a:rPr lang="en-US" sz="4008" b="1" dirty="0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01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335796" y="2026693"/>
            <a:ext cx="1020596" cy="1020596"/>
            <a:chOff x="0" y="0"/>
            <a:chExt cx="1360795" cy="1360795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60795" cy="1360795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727EB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208083" y="314067"/>
              <a:ext cx="944629" cy="770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9"/>
                </a:lnSpc>
              </a:pPr>
              <a:r>
                <a:rPr lang="en-US" sz="4008" b="1" dirty="0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02</a:t>
              </a:r>
            </a:p>
          </p:txBody>
        </p:sp>
      </p:grpSp>
      <p:sp>
        <p:nvSpPr>
          <p:cNvPr id="22" name="TextBox 5">
            <a:extLst>
              <a:ext uri="{FF2B5EF4-FFF2-40B4-BE49-F238E27FC236}">
                <a16:creationId xmlns:a16="http://schemas.microsoft.com/office/drawing/2014/main" id="{DA12A313-8099-FE6D-4CD4-D290C15DAB18}"/>
              </a:ext>
            </a:extLst>
          </p:cNvPr>
          <p:cNvSpPr txBox="1"/>
          <p:nvPr/>
        </p:nvSpPr>
        <p:spPr>
          <a:xfrm>
            <a:off x="6595881" y="3374679"/>
            <a:ext cx="4711820" cy="2846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Is a ‘best of both world’ scenario where AI assisted statistical analysis possible?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endParaRPr lang="en-US" sz="1999" spc="-19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YES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But only if Statisticians are actively engaged in the analytic workflow </a:t>
            </a:r>
            <a:endParaRPr lang="en-US" sz="2000" spc="-2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27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3AE523-B7CB-22F4-FDCA-9941D6201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0773517-AE29-8D95-96D8-67C77A264B6B}"/>
              </a:ext>
            </a:extLst>
          </p:cNvPr>
          <p:cNvGrpSpPr/>
          <p:nvPr/>
        </p:nvGrpSpPr>
        <p:grpSpPr>
          <a:xfrm>
            <a:off x="10972800" y="5753100"/>
            <a:ext cx="7549591" cy="7549591"/>
            <a:chOff x="0" y="0"/>
            <a:chExt cx="6350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1E4FBDD-AC67-464B-18A8-DCAEFF203A0E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34902"/>
              </a:srgbClr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MY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C29372A0-858E-BD1C-5545-B6FBD73A12E7}"/>
              </a:ext>
            </a:extLst>
          </p:cNvPr>
          <p:cNvSpPr txBox="1"/>
          <p:nvPr/>
        </p:nvSpPr>
        <p:spPr>
          <a:xfrm>
            <a:off x="1043803" y="2274632"/>
            <a:ext cx="16200394" cy="3532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srgbClr val="FFFFFF"/>
                </a:solidFill>
                <a:latin typeface="Muli Ultra-Bold"/>
                <a:ea typeface="Muli Ultra-Bold"/>
                <a:cs typeface="Muli Ultra-Bold"/>
                <a:sym typeface="Muli Ultra-Bold"/>
              </a:rPr>
              <a:t>T</a:t>
            </a: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Ultra-Bold"/>
                <a:ea typeface="Muli Ultra-Bold"/>
                <a:cs typeface="Muli Ultra-Bold"/>
                <a:sym typeface="Muli Ultra-Bold"/>
              </a:rPr>
              <a:t>he future of data analysis can involve great progress, the overcoming of real difficulties, and the provision of a great service to all fields of science and technology (Turnkey, 1962)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Ultra-Bold"/>
              <a:ea typeface="Muli Ultra-Bold"/>
              <a:cs typeface="Muli Ultra-Bold"/>
              <a:sym typeface="Muli Ultra-Bold"/>
            </a:endParaRPr>
          </a:p>
        </p:txBody>
      </p:sp>
      <p:sp>
        <p:nvSpPr>
          <p:cNvPr id="5" name="Oval 4" descr="African elephant in long grass">
            <a:extLst>
              <a:ext uri="{FF2B5EF4-FFF2-40B4-BE49-F238E27FC236}">
                <a16:creationId xmlns:a16="http://schemas.microsoft.com/office/drawing/2014/main" id="{DB4C70D2-30B6-EBF9-AC48-2CC761D5F804}"/>
              </a:ext>
            </a:extLst>
          </p:cNvPr>
          <p:cNvSpPr/>
          <p:nvPr/>
        </p:nvSpPr>
        <p:spPr>
          <a:xfrm>
            <a:off x="11966295" y="6246019"/>
            <a:ext cx="5562600" cy="64008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8573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828BF-6709-6B40-3665-B067916D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90B5B94-40DF-C591-BC23-96D8CCAEBDB8}"/>
              </a:ext>
            </a:extLst>
          </p:cNvPr>
          <p:cNvGrpSpPr/>
          <p:nvPr/>
        </p:nvGrpSpPr>
        <p:grpSpPr>
          <a:xfrm>
            <a:off x="-3044657" y="1659574"/>
            <a:ext cx="6967851" cy="6967851"/>
            <a:chOff x="0" y="0"/>
            <a:chExt cx="6350000" cy="6350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CEB98EF-668B-FCA7-7B6E-847F4916EA15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67D26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96E6F2CE-DCB0-4A89-BEC0-A66A31450E0D}"/>
              </a:ext>
            </a:extLst>
          </p:cNvPr>
          <p:cNvSpPr txBox="1"/>
          <p:nvPr/>
        </p:nvSpPr>
        <p:spPr>
          <a:xfrm>
            <a:off x="0" y="4681834"/>
            <a:ext cx="4439245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rgbClr val="000000"/>
                </a:solidFill>
                <a:latin typeface="Muli Bold"/>
                <a:ea typeface="Muli Bold"/>
                <a:cs typeface="Muli Bold"/>
                <a:sym typeface="Muli Bold"/>
              </a:rPr>
              <a:t>References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491D870-75DE-04E8-3BBC-B8EB7442A8DA}"/>
              </a:ext>
            </a:extLst>
          </p:cNvPr>
          <p:cNvSpPr txBox="1"/>
          <p:nvPr/>
        </p:nvSpPr>
        <p:spPr>
          <a:xfrm>
            <a:off x="4267200" y="416091"/>
            <a:ext cx="13639800" cy="24869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2800"/>
              </a:lnSpc>
              <a:spcBef>
                <a:spcPct val="0"/>
              </a:spcBef>
              <a:buAutoNum type="arabicPeriod"/>
            </a:pPr>
            <a:r>
              <a:rPr lang="en-GB" sz="2000" spc="-20" dirty="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  <a:hlinkClick r:id="rId2"/>
              </a:rPr>
              <a:t>AI can predict neuroscience study results better than human experts</a:t>
            </a:r>
            <a:endParaRPr lang="en-US" sz="2000" spc="-20" dirty="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indent="-457200">
              <a:lnSpc>
                <a:spcPts val="2800"/>
              </a:lnSpc>
              <a:spcBef>
                <a:spcPct val="0"/>
              </a:spcBef>
              <a:buAutoNum type="arabicPeriod"/>
            </a:pPr>
            <a:r>
              <a:rPr lang="en-GB" sz="2000" spc="-20" dirty="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Olympiad geometry problem solving using AI</a:t>
            </a:r>
            <a:endParaRPr lang="en-GB" sz="2000" spc="-20" dirty="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indent="-457200">
              <a:lnSpc>
                <a:spcPts val="2800"/>
              </a:lnSpc>
              <a:spcBef>
                <a:spcPct val="0"/>
              </a:spcBef>
              <a:buAutoNum type="arabicPeriod"/>
            </a:pPr>
            <a:r>
              <a:rPr lang="en-GB" sz="2000" spc="-20" dirty="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Accelerating research with an AI co-scientist</a:t>
            </a:r>
            <a:endParaRPr lang="en-GB" sz="2000" spc="-20" dirty="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indent="-457200">
              <a:lnSpc>
                <a:spcPts val="2800"/>
              </a:lnSpc>
              <a:spcBef>
                <a:spcPct val="0"/>
              </a:spcBef>
              <a:buAutoNum type="arabicPeriod"/>
            </a:pPr>
            <a:r>
              <a:rPr lang="en-GB" sz="2000" spc="-20" dirty="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  <a:hlinkClick r:id="rId5"/>
              </a:rPr>
              <a:t>Mathematicians question ai performance at international math Olympiad</a:t>
            </a:r>
            <a:endParaRPr lang="en-GB" sz="2000" spc="-20" dirty="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indent="-457200">
              <a:lnSpc>
                <a:spcPts val="2800"/>
              </a:lnSpc>
              <a:spcBef>
                <a:spcPct val="0"/>
              </a:spcBef>
              <a:buAutoNum type="arabicPeriod"/>
            </a:pPr>
            <a:r>
              <a:rPr lang="en-GB" sz="2000" spc="-20" dirty="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  <a:hlinkClick r:id="rId6"/>
              </a:rPr>
              <a:t>Causal Inference Meets Deep Learning: A Comprehensive Survey</a:t>
            </a:r>
            <a:endParaRPr lang="en-US" sz="2000" spc="-20" dirty="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indent="-457200">
              <a:lnSpc>
                <a:spcPts val="2800"/>
              </a:lnSpc>
              <a:spcBef>
                <a:spcPct val="0"/>
              </a:spcBef>
              <a:buAutoNum type="arabicPeriod"/>
            </a:pPr>
            <a:endParaRPr lang="en-US" sz="2000" spc="-20" dirty="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indent="-457200">
              <a:lnSpc>
                <a:spcPts val="2800"/>
              </a:lnSpc>
              <a:spcBef>
                <a:spcPct val="0"/>
              </a:spcBef>
              <a:buAutoNum type="arabicPeriod"/>
            </a:pPr>
            <a:endParaRPr lang="en-US" sz="2000" spc="-20" dirty="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  <p:extLst>
      <p:ext uri="{BB962C8B-B14F-4D97-AF65-F5344CB8AC3E}">
        <p14:creationId xmlns:p14="http://schemas.microsoft.com/office/powerpoint/2010/main" val="1068996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7D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612EC-559E-4678-0838-E028D085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0C26396-895B-EFF8-7624-5B7BF13CA08D}"/>
              </a:ext>
            </a:extLst>
          </p:cNvPr>
          <p:cNvSpPr txBox="1"/>
          <p:nvPr/>
        </p:nvSpPr>
        <p:spPr>
          <a:xfrm>
            <a:off x="2302707" y="1761567"/>
            <a:ext cx="13682586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6500" b="1" dirty="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The evidence for </a:t>
            </a:r>
          </a:p>
          <a:p>
            <a:pPr algn="ctr">
              <a:lnSpc>
                <a:spcPts val="7150"/>
              </a:lnSpc>
            </a:pPr>
            <a:r>
              <a:rPr lang="en-US" sz="6500" b="1" dirty="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AI displacement of statisticians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9F48430-8305-952F-B393-B0FA7A721D2A}"/>
              </a:ext>
            </a:extLst>
          </p:cNvPr>
          <p:cNvSpPr txBox="1"/>
          <p:nvPr/>
        </p:nvSpPr>
        <p:spPr>
          <a:xfrm>
            <a:off x="1028700" y="6182981"/>
            <a:ext cx="4711820" cy="2486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GB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Large language models (LLM) can predict the </a:t>
            </a:r>
            <a:r>
              <a:rPr lang="en-GB" sz="1999" u="sng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results of proposed neuroscience studies more accurately than human experts</a:t>
            </a:r>
            <a:r>
              <a:rPr lang="en-GB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 finds a study led by University College London (UCL) researchers </a:t>
            </a:r>
            <a:r>
              <a:rPr lang="en-GB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  <a:hlinkClick r:id="" action="ppaction://noaction"/>
              </a:rPr>
              <a:t>[1]</a:t>
            </a:r>
            <a:endParaRPr lang="en-US" sz="2000" spc="-2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A719BD3-E6E8-2233-8631-9A1078E35229}"/>
              </a:ext>
            </a:extLst>
          </p:cNvPr>
          <p:cNvSpPr txBox="1"/>
          <p:nvPr/>
        </p:nvSpPr>
        <p:spPr>
          <a:xfrm>
            <a:off x="6788090" y="6182981"/>
            <a:ext cx="4711820" cy="320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GB" sz="1999" spc="-19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AlphaGeometry</a:t>
            </a:r>
            <a:r>
              <a:rPr lang="en-GB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 an AI system that </a:t>
            </a:r>
            <a:r>
              <a:rPr lang="en-GB" sz="1999" u="sng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solves complex geometry problems at a level approaching a human Olympiad silver-</a:t>
            </a:r>
            <a:r>
              <a:rPr lang="en-GB" sz="1999" u="sng" spc="-19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medalist</a:t>
            </a:r>
            <a:r>
              <a:rPr lang="en-GB" sz="1999" u="sng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GB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 solving 25 within the standard Olympiad time limit. The average human gold </a:t>
            </a:r>
            <a:r>
              <a:rPr lang="en-GB" sz="1999" spc="-19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medalist</a:t>
            </a:r>
            <a:r>
              <a:rPr lang="en-GB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solved 25.9 problems.</a:t>
            </a:r>
            <a:r>
              <a:rPr lang="en-GB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  <a:hlinkClick r:id="" action="ppaction://noaction"/>
              </a:rPr>
              <a:t>[2]</a:t>
            </a:r>
            <a:endParaRPr lang="en-US" sz="2000" spc="-2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3D6F4F7-D586-C572-3837-DCE4CA6A9F9C}"/>
              </a:ext>
            </a:extLst>
          </p:cNvPr>
          <p:cNvSpPr txBox="1"/>
          <p:nvPr/>
        </p:nvSpPr>
        <p:spPr>
          <a:xfrm>
            <a:off x="12109330" y="6215885"/>
            <a:ext cx="5588120" cy="24869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GB" sz="2000" spc="-2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Google’s AI co-scientist system is intended to uncover new, original knowledge and to formulate demonstrably novel research hypotheses and proposals, building upon prior evidence and tailored to specific research objectives.</a:t>
            </a:r>
            <a:r>
              <a:rPr lang="en-GB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  <a:hlinkClick r:id="" action="ppaction://noaction"/>
              </a:rPr>
              <a:t>[3]</a:t>
            </a:r>
            <a:endParaRPr lang="en-US" sz="2000" spc="-2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FA97669-6712-F7B6-C365-840C5C1032B5}"/>
              </a:ext>
            </a:extLst>
          </p:cNvPr>
          <p:cNvGrpSpPr/>
          <p:nvPr/>
        </p:nvGrpSpPr>
        <p:grpSpPr>
          <a:xfrm>
            <a:off x="2874312" y="4686311"/>
            <a:ext cx="1020596" cy="1020596"/>
            <a:chOff x="0" y="0"/>
            <a:chExt cx="1360795" cy="1360795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8E6069D-6508-360E-039E-EAFF9BFF11E5}"/>
                </a:ext>
              </a:extLst>
            </p:cNvPr>
            <p:cNvGrpSpPr/>
            <p:nvPr/>
          </p:nvGrpSpPr>
          <p:grpSpPr>
            <a:xfrm>
              <a:off x="0" y="0"/>
              <a:ext cx="1360795" cy="1360795"/>
              <a:chOff x="0" y="0"/>
              <a:chExt cx="6350000" cy="63500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804A3F57-DB0A-EA86-7B69-C60A0EA010D8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727EB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977612E-9AD1-ECCA-2C24-276EF70BF089}"/>
                </a:ext>
              </a:extLst>
            </p:cNvPr>
            <p:cNvSpPr txBox="1"/>
            <p:nvPr/>
          </p:nvSpPr>
          <p:spPr>
            <a:xfrm>
              <a:off x="208083" y="314067"/>
              <a:ext cx="944629" cy="770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9"/>
                </a:lnSpc>
              </a:pPr>
              <a:r>
                <a:rPr lang="en-US" sz="4008" b="1" dirty="0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01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0C07022-63A8-76A5-0213-5D08B5B467B9}"/>
              </a:ext>
            </a:extLst>
          </p:cNvPr>
          <p:cNvGrpSpPr/>
          <p:nvPr/>
        </p:nvGrpSpPr>
        <p:grpSpPr>
          <a:xfrm>
            <a:off x="8633702" y="4686311"/>
            <a:ext cx="1020596" cy="1020596"/>
            <a:chOff x="0" y="0"/>
            <a:chExt cx="1360795" cy="1360795"/>
          </a:xfrm>
        </p:grpSpPr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716997C7-5AD4-32F5-4693-D0CB382C2B37}"/>
                </a:ext>
              </a:extLst>
            </p:cNvPr>
            <p:cNvGrpSpPr/>
            <p:nvPr/>
          </p:nvGrpSpPr>
          <p:grpSpPr>
            <a:xfrm>
              <a:off x="0" y="0"/>
              <a:ext cx="1360795" cy="1360795"/>
              <a:chOff x="0" y="0"/>
              <a:chExt cx="6350000" cy="6350000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46A72CD4-AB1B-8957-55AE-9011048A61A3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727EB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8AFBC7E-A803-5568-5095-1599FED81067}"/>
                </a:ext>
              </a:extLst>
            </p:cNvPr>
            <p:cNvSpPr txBox="1"/>
            <p:nvPr/>
          </p:nvSpPr>
          <p:spPr>
            <a:xfrm>
              <a:off x="208083" y="314067"/>
              <a:ext cx="944629" cy="770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9"/>
                </a:lnSpc>
              </a:pPr>
              <a:r>
                <a:rPr lang="en-US" sz="4008" b="1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02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965046C2-3B73-4442-0788-2DEE50BEF249}"/>
              </a:ext>
            </a:extLst>
          </p:cNvPr>
          <p:cNvGrpSpPr/>
          <p:nvPr/>
        </p:nvGrpSpPr>
        <p:grpSpPr>
          <a:xfrm>
            <a:off x="14393092" y="4830570"/>
            <a:ext cx="1020596" cy="1020596"/>
            <a:chOff x="0" y="0"/>
            <a:chExt cx="1360795" cy="1360795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71EA655D-A649-E55A-0FF6-FE655C854F48}"/>
                </a:ext>
              </a:extLst>
            </p:cNvPr>
            <p:cNvGrpSpPr/>
            <p:nvPr/>
          </p:nvGrpSpPr>
          <p:grpSpPr>
            <a:xfrm>
              <a:off x="0" y="0"/>
              <a:ext cx="1360795" cy="1360795"/>
              <a:chOff x="0" y="0"/>
              <a:chExt cx="6350000" cy="63500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C8DD4D11-FE3B-545C-AF6B-CD343764BA3E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727EB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489A5957-522E-A6A7-7812-B7BFA15A3B65}"/>
                </a:ext>
              </a:extLst>
            </p:cNvPr>
            <p:cNvSpPr txBox="1"/>
            <p:nvPr/>
          </p:nvSpPr>
          <p:spPr>
            <a:xfrm>
              <a:off x="208083" y="314067"/>
              <a:ext cx="944629" cy="770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9"/>
                </a:lnSpc>
              </a:pPr>
              <a:r>
                <a:rPr lang="en-US" sz="4008" b="1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272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27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FDA57-7519-8488-5320-9783E7827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37151BF-2BB5-2F0E-5215-D8E25F659D1A}"/>
              </a:ext>
            </a:extLst>
          </p:cNvPr>
          <p:cNvSpPr txBox="1"/>
          <p:nvPr/>
        </p:nvSpPr>
        <p:spPr>
          <a:xfrm>
            <a:off x="2302707" y="1761567"/>
            <a:ext cx="13682586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0"/>
              </a:lnSpc>
            </a:pPr>
            <a:r>
              <a:rPr lang="en-US" sz="6500" b="1" dirty="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The counter evidence that AI will displace statisticians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A600F6C-78BE-C7DB-981E-C6C88A5E853B}"/>
              </a:ext>
            </a:extLst>
          </p:cNvPr>
          <p:cNvSpPr txBox="1"/>
          <p:nvPr/>
        </p:nvSpPr>
        <p:spPr>
          <a:xfrm>
            <a:off x="1028700" y="6182981"/>
            <a:ext cx="4711820" cy="3564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GB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The authors of the UCL paper on neuroscience prediction added a disclaimer alludin</a:t>
            </a:r>
            <a:r>
              <a:rPr lang="en-GB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</a:t>
            </a:r>
            <a:r>
              <a:rPr lang="en-GB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that “This success suggests that a great deal of science is not truly novel, but conforms to existing patterns of results in the literature.” This hints that AI still struggle at novel discoveries </a:t>
            </a:r>
            <a:r>
              <a:rPr lang="en-GB" sz="1999" spc="-19" dirty="0">
                <a:solidFill>
                  <a:srgbClr val="FFC000"/>
                </a:solidFill>
                <a:latin typeface="Roboto Mono"/>
                <a:ea typeface="Roboto Mono"/>
                <a:cs typeface="Roboto Mono"/>
                <a:sym typeface="Roboto Mono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2000" spc="-20" dirty="0">
              <a:solidFill>
                <a:srgbClr val="FFC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8282E98-8F3C-707E-5855-408C884CEDF5}"/>
              </a:ext>
            </a:extLst>
          </p:cNvPr>
          <p:cNvSpPr txBox="1"/>
          <p:nvPr/>
        </p:nvSpPr>
        <p:spPr>
          <a:xfrm>
            <a:off x="6788090" y="6182981"/>
            <a:ext cx="4711820" cy="3205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Mathematicians, including Terrence Tao (a former International </a:t>
            </a:r>
            <a:r>
              <a:rPr lang="en-US" sz="1999" spc="-19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Maths</a:t>
            </a:r>
            <a:r>
              <a:rPr lang="en-US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Olympiad gold medalist) alluded that the </a:t>
            </a:r>
            <a:r>
              <a:rPr lang="en-US" sz="1999" spc="-19" dirty="0" err="1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Maths</a:t>
            </a:r>
            <a:r>
              <a:rPr lang="en-US" sz="1999" spc="-19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Olympiad</a:t>
            </a:r>
            <a:r>
              <a:rPr lang="en-US" sz="2000" spc="-2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did not prepare him well for the kind of deep research needed for novel mathematical breakthroughs.  </a:t>
            </a:r>
            <a:r>
              <a:rPr lang="en-GB" sz="1999" spc="-19" dirty="0">
                <a:solidFill>
                  <a:srgbClr val="FFC000"/>
                </a:solidFill>
                <a:latin typeface="Roboto Mono"/>
                <a:ea typeface="Roboto Mono"/>
                <a:cs typeface="Roboto Mono"/>
                <a:sym typeface="Roboto Mono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r>
              <a:rPr lang="en-GB" sz="1999" spc="-19" dirty="0">
                <a:solidFill>
                  <a:srgbClr val="FFC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lang="en-US" sz="2000" spc="-20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E0C64C6-375A-13C4-8595-5DEEAFAA86D4}"/>
              </a:ext>
            </a:extLst>
          </p:cNvPr>
          <p:cNvSpPr txBox="1"/>
          <p:nvPr/>
        </p:nvSpPr>
        <p:spPr>
          <a:xfrm>
            <a:off x="12547480" y="6182981"/>
            <a:ext cx="4711820" cy="3923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000" spc="-2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Existing AI models are able to learn using correlation in the date but are unable to perform causal inference of the same data. Hence, out-of-sample causations are not captured well. To make the problem worse, natural language encodes human biases, masking true causation from spurious causations </a:t>
            </a:r>
            <a:r>
              <a:rPr lang="en-GB" sz="1999" spc="-19" dirty="0">
                <a:solidFill>
                  <a:srgbClr val="FFC000"/>
                </a:solidFill>
                <a:latin typeface="Roboto Mono"/>
                <a:ea typeface="Roboto Mono"/>
                <a:cs typeface="Roboto Mono"/>
                <a:sym typeface="Roboto Mono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2000" spc="-20" dirty="0">
              <a:solidFill>
                <a:srgbClr val="FFC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C347CEA-CDC6-17A3-1BFF-82690CC6FCA8}"/>
              </a:ext>
            </a:extLst>
          </p:cNvPr>
          <p:cNvGrpSpPr/>
          <p:nvPr/>
        </p:nvGrpSpPr>
        <p:grpSpPr>
          <a:xfrm>
            <a:off x="2874312" y="4686311"/>
            <a:ext cx="1020596" cy="1020596"/>
            <a:chOff x="0" y="0"/>
            <a:chExt cx="1360795" cy="1360795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A71F8774-D324-E13D-B1E6-669ADBEE1272}"/>
                </a:ext>
              </a:extLst>
            </p:cNvPr>
            <p:cNvGrpSpPr/>
            <p:nvPr/>
          </p:nvGrpSpPr>
          <p:grpSpPr>
            <a:xfrm>
              <a:off x="0" y="0"/>
              <a:ext cx="1360795" cy="1360795"/>
              <a:chOff x="0" y="0"/>
              <a:chExt cx="6350000" cy="6350000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58E86DF7-1D5A-CEB6-7752-EF81B42FA63F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67D26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430ECA0-3DDE-430B-A8D0-1D699BAC7395}"/>
                </a:ext>
              </a:extLst>
            </p:cNvPr>
            <p:cNvSpPr txBox="1"/>
            <p:nvPr/>
          </p:nvSpPr>
          <p:spPr>
            <a:xfrm>
              <a:off x="208083" y="314067"/>
              <a:ext cx="944629" cy="770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9"/>
                </a:lnSpc>
              </a:pPr>
              <a:r>
                <a:rPr lang="en-US" sz="4008" b="1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01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AE9BA69-6804-9B2D-5F4C-368CABF27264}"/>
              </a:ext>
            </a:extLst>
          </p:cNvPr>
          <p:cNvGrpSpPr/>
          <p:nvPr/>
        </p:nvGrpSpPr>
        <p:grpSpPr>
          <a:xfrm>
            <a:off x="8633702" y="4686311"/>
            <a:ext cx="1020596" cy="1020596"/>
            <a:chOff x="0" y="0"/>
            <a:chExt cx="1360795" cy="1360795"/>
          </a:xfrm>
        </p:grpSpPr>
        <p:grpSp>
          <p:nvGrpSpPr>
            <p:cNvPr id="11" name="Group 11">
              <a:extLst>
                <a:ext uri="{FF2B5EF4-FFF2-40B4-BE49-F238E27FC236}">
                  <a16:creationId xmlns:a16="http://schemas.microsoft.com/office/drawing/2014/main" id="{BDA0618E-4BEF-AB5F-344A-EBDCA9910895}"/>
                </a:ext>
              </a:extLst>
            </p:cNvPr>
            <p:cNvGrpSpPr/>
            <p:nvPr/>
          </p:nvGrpSpPr>
          <p:grpSpPr>
            <a:xfrm>
              <a:off x="0" y="0"/>
              <a:ext cx="1360795" cy="1360795"/>
              <a:chOff x="0" y="0"/>
              <a:chExt cx="6350000" cy="6350000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2A3F4467-4139-00A3-D6C5-7CDDD20E9B28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67D26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751B257-2745-9C5D-3009-B70498735028}"/>
                </a:ext>
              </a:extLst>
            </p:cNvPr>
            <p:cNvSpPr txBox="1"/>
            <p:nvPr/>
          </p:nvSpPr>
          <p:spPr>
            <a:xfrm>
              <a:off x="208083" y="314067"/>
              <a:ext cx="944629" cy="770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9"/>
                </a:lnSpc>
              </a:pPr>
              <a:r>
                <a:rPr lang="en-US" sz="4008" b="1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02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4E133D14-E7F7-F19A-BDE0-7938FE5E8124}"/>
              </a:ext>
            </a:extLst>
          </p:cNvPr>
          <p:cNvGrpSpPr/>
          <p:nvPr/>
        </p:nvGrpSpPr>
        <p:grpSpPr>
          <a:xfrm>
            <a:off x="14393092" y="4830570"/>
            <a:ext cx="1020596" cy="1020596"/>
            <a:chOff x="0" y="0"/>
            <a:chExt cx="1360795" cy="1360795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C4AAB2E2-66D1-F017-6F3E-DC786D4C8B0D}"/>
                </a:ext>
              </a:extLst>
            </p:cNvPr>
            <p:cNvGrpSpPr/>
            <p:nvPr/>
          </p:nvGrpSpPr>
          <p:grpSpPr>
            <a:xfrm>
              <a:off x="0" y="0"/>
              <a:ext cx="1360795" cy="1360795"/>
              <a:chOff x="0" y="0"/>
              <a:chExt cx="6350000" cy="63500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7FBD94AD-532F-6F61-4C70-AEA06AB9B351}"/>
                  </a:ext>
                </a:extLst>
              </p:cNvPr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67D26"/>
              </a:solidFill>
            </p:spPr>
            <p:txBody>
              <a:bodyPr/>
              <a:lstStyle/>
              <a:p>
                <a:endParaRPr lang="en-MY"/>
              </a:p>
            </p:txBody>
          </p:sp>
        </p:grp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9A40A137-507C-C0E8-C404-7CACC4832253}"/>
                </a:ext>
              </a:extLst>
            </p:cNvPr>
            <p:cNvSpPr txBox="1"/>
            <p:nvPr/>
          </p:nvSpPr>
          <p:spPr>
            <a:xfrm>
              <a:off x="208083" y="314067"/>
              <a:ext cx="944629" cy="770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9"/>
                </a:lnSpc>
              </a:pPr>
              <a:r>
                <a:rPr lang="en-US" sz="4008" b="1">
                  <a:solidFill>
                    <a:srgbClr val="FFFFFF"/>
                  </a:solidFill>
                  <a:latin typeface="Muli Bold"/>
                  <a:ea typeface="Muli Bold"/>
                  <a:cs typeface="Muli Bold"/>
                  <a:sym typeface="Muli Bold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8325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</TotalTime>
  <Words>1911</Words>
  <Application>Microsoft Office PowerPoint</Application>
  <PresentationFormat>Custom</PresentationFormat>
  <Paragraphs>206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Roboto Mono</vt:lpstr>
      <vt:lpstr>Muli Ultra-Bold</vt:lpstr>
      <vt:lpstr>Muli Heavy</vt:lpstr>
      <vt:lpstr>Calibri</vt:lpstr>
      <vt:lpstr>Arial</vt:lpstr>
      <vt:lpstr>Muli Bold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Orange Modern Technology Keynote Presentation</dc:title>
  <dc:creator>Peter Ho</dc:creator>
  <cp:lastModifiedBy>Peter Ho</cp:lastModifiedBy>
  <cp:revision>5</cp:revision>
  <dcterms:created xsi:type="dcterms:W3CDTF">2006-08-16T00:00:00Z</dcterms:created>
  <dcterms:modified xsi:type="dcterms:W3CDTF">2025-08-23T05:11:24Z</dcterms:modified>
  <dc:identifier>DAGwNg-Tp0A</dc:identifier>
</cp:coreProperties>
</file>