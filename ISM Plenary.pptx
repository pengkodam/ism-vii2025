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71" r:id="rId3"/>
    <p:sldId id="296" r:id="rId4"/>
    <p:sldId id="257" r:id="rId5"/>
    <p:sldId id="278" r:id="rId6"/>
    <p:sldId id="279" r:id="rId7"/>
    <p:sldId id="259" r:id="rId8"/>
    <p:sldId id="291" r:id="rId9"/>
    <p:sldId id="288" r:id="rId10"/>
    <p:sldId id="297" r:id="rId11"/>
    <p:sldId id="298" r:id="rId12"/>
    <p:sldId id="290" r:id="rId13"/>
    <p:sldId id="280" r:id="rId14"/>
    <p:sldId id="281" r:id="rId15"/>
    <p:sldId id="282" r:id="rId16"/>
    <p:sldId id="283" r:id="rId17"/>
    <p:sldId id="284" r:id="rId18"/>
    <p:sldId id="285" r:id="rId19"/>
    <p:sldId id="286" r:id="rId20"/>
    <p:sldId id="292" r:id="rId21"/>
    <p:sldId id="260" r:id="rId22"/>
    <p:sldId id="272" r:id="rId23"/>
    <p:sldId id="299" r:id="rId24"/>
    <p:sldId id="300" r:id="rId25"/>
    <p:sldId id="293" r:id="rId26"/>
    <p:sldId id="274" r:id="rId27"/>
    <p:sldId id="273" r:id="rId28"/>
  </p:sldIdLst>
  <p:sldSz cx="18288000" cy="10287000"/>
  <p:notesSz cx="6858000" cy="9144000"/>
  <p:embeddedFontLst>
    <p:embeddedFont>
      <p:font typeface="Muli Bold" panose="020B0604020202020204" charset="0"/>
      <p:regular r:id="rId30"/>
    </p:embeddedFont>
    <p:embeddedFont>
      <p:font typeface="Muli Heavy" panose="020B0604020202020204" charset="0"/>
      <p:regular r:id="rId31"/>
    </p:embeddedFont>
    <p:embeddedFont>
      <p:font typeface="Muli Ultra-Bold" panose="020B0604020202020204" charset="0"/>
      <p:regular r:id="rId32"/>
    </p:embeddedFont>
    <p:embeddedFont>
      <p:font typeface="Roboto Mono" panose="00000009000000000000" pitchFamily="49" charset="0"/>
      <p:regular r:id="rId33"/>
      <p:bold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7D26"/>
    <a:srgbClr val="3727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26"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31DD6-BB1E-4800-82CB-6F00211674B3}" type="datetimeFigureOut">
              <a:rPr lang="en-MY" smtClean="0"/>
              <a:t>24/8/2025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93274-A78E-422A-9876-36E9DAEA67AF}" type="slidenum">
              <a:rPr lang="en-MY" smtClean="0"/>
              <a:t>‹#›</a:t>
            </a:fld>
            <a:endParaRPr lang="en-MY"/>
          </a:p>
        </p:txBody>
      </p:sp>
    </p:spTree>
    <p:extLst>
      <p:ext uri="{BB962C8B-B14F-4D97-AF65-F5344CB8AC3E}">
        <p14:creationId xmlns:p14="http://schemas.microsoft.com/office/powerpoint/2010/main" val="120556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Demographic Parity (Statistical Parity)</a:t>
            </a:r>
            <a:r>
              <a:rPr lang="en-GB" dirty="0"/>
              <a:t> P(Ŷ = 1 | A = 0) = P(Ŷ = 1 | A = 1)</a:t>
            </a:r>
          </a:p>
          <a:p>
            <a:r>
              <a:rPr lang="en-GB" dirty="0"/>
              <a:t>Where Ŷ is predicted outcome and A is protected attribute. This requires equal positive prediction rates across groups - essentially testing independence between predictions and group membership.</a:t>
            </a:r>
          </a:p>
          <a:p>
            <a:endParaRPr lang="en-MY" dirty="0"/>
          </a:p>
        </p:txBody>
      </p:sp>
      <p:sp>
        <p:nvSpPr>
          <p:cNvPr id="4" name="Slide Number Placeholder 3"/>
          <p:cNvSpPr>
            <a:spLocks noGrp="1"/>
          </p:cNvSpPr>
          <p:nvPr>
            <p:ph type="sldNum" sz="quarter" idx="5"/>
          </p:nvPr>
        </p:nvSpPr>
        <p:spPr/>
        <p:txBody>
          <a:bodyPr/>
          <a:lstStyle/>
          <a:p>
            <a:fld id="{5B693274-A78E-422A-9876-36E9DAEA67AF}" type="slidenum">
              <a:rPr lang="en-MY" smtClean="0"/>
              <a:t>19</a:t>
            </a:fld>
            <a:endParaRPr lang="en-MY"/>
          </a:p>
        </p:txBody>
      </p:sp>
    </p:spTree>
    <p:extLst>
      <p:ext uri="{BB962C8B-B14F-4D97-AF65-F5344CB8AC3E}">
        <p14:creationId xmlns:p14="http://schemas.microsoft.com/office/powerpoint/2010/main" val="1691278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John Tukey's 1962 prediction of data analysis's future.</a:t>
            </a:r>
          </a:p>
          <a:p>
            <a:r>
              <a:rPr lang="en-GB" dirty="0"/>
              <a:t>The modern anxiety about AI's impact on the statistics profession.</a:t>
            </a:r>
          </a:p>
          <a:p>
            <a:r>
              <a:rPr lang="en-GB" dirty="0"/>
              <a:t>Reframing the question from "if" to "how" our jobs are changing</a:t>
            </a:r>
          </a:p>
          <a:p>
            <a:endParaRPr lang="en-MY" dirty="0"/>
          </a:p>
        </p:txBody>
      </p:sp>
      <p:sp>
        <p:nvSpPr>
          <p:cNvPr id="4" name="Slide Number Placeholder 3"/>
          <p:cNvSpPr>
            <a:spLocks noGrp="1"/>
          </p:cNvSpPr>
          <p:nvPr>
            <p:ph type="sldNum" sz="quarter" idx="5"/>
          </p:nvPr>
        </p:nvSpPr>
        <p:spPr/>
        <p:txBody>
          <a:bodyPr/>
          <a:lstStyle/>
          <a:p>
            <a:fld id="{5B693274-A78E-422A-9876-36E9DAEA67AF}" type="slidenum">
              <a:rPr lang="en-MY" smtClean="0"/>
              <a:t>22</a:t>
            </a:fld>
            <a:endParaRPr lang="en-MY"/>
          </a:p>
        </p:txBody>
      </p:sp>
    </p:spTree>
    <p:extLst>
      <p:ext uri="{BB962C8B-B14F-4D97-AF65-F5344CB8AC3E}">
        <p14:creationId xmlns:p14="http://schemas.microsoft.com/office/powerpoint/2010/main" val="4070896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mailto:peyter@gmail.com" TargetMode="Externa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slide" Target="slide26.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video" Target="https://www.youtube.com/embed/dtZR766sVxU?feature=oembed"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video" Target="https://www.youtube.com/embed/l3p0XqniY90?feature=oembed"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github.com/pengkodam/ISM-VII2025" TargetMode="External"/><Relationship Id="rId3" Type="http://schemas.openxmlformats.org/officeDocument/2006/relationships/hyperlink" Target="https://www.nature.com/articles/s41586-023-06747-5" TargetMode="External"/><Relationship Id="rId7" Type="http://schemas.openxmlformats.org/officeDocument/2006/relationships/hyperlink" Target="https://pmc.ncbi.nlm.nih.gov/articles/PMC4631221/" TargetMode="External"/><Relationship Id="rId2" Type="http://schemas.openxmlformats.org/officeDocument/2006/relationships/hyperlink" Target="https://www.nature.com/articles/s41562-024-02046-9" TargetMode="External"/><Relationship Id="rId1" Type="http://schemas.openxmlformats.org/officeDocument/2006/relationships/slideLayout" Target="../slideLayouts/slideLayout7.xml"/><Relationship Id="rId6" Type="http://schemas.openxmlformats.org/officeDocument/2006/relationships/hyperlink" Target="https://pmc.ncbi.nlm.nih.gov/articles/PMC11384545/" TargetMode="External"/><Relationship Id="rId5" Type="http://schemas.openxmlformats.org/officeDocument/2006/relationships/hyperlink" Target="https://www.scientificamerican.com/article/mathematicians-question-ai-performance-at-international-math-olympiad/" TargetMode="External"/><Relationship Id="rId4" Type="http://schemas.openxmlformats.org/officeDocument/2006/relationships/hyperlink" Target="https://research.google/blog/accelerating-scientific-breakthroughs-with-an-ai-co-scientist/" TargetMode="External"/><Relationship Id="rId9"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p:cNvGrpSpPr/>
        <p:nvPr/>
      </p:nvGrpSpPr>
      <p:grpSpPr>
        <a:xfrm>
          <a:off x="0" y="0"/>
          <a:ext cx="0" cy="0"/>
          <a:chOff x="0" y="0"/>
          <a:chExt cx="0" cy="0"/>
        </a:xfrm>
      </p:grpSpPr>
      <p:grpSp>
        <p:nvGrpSpPr>
          <p:cNvPr id="2" name="Group 2"/>
          <p:cNvGrpSpPr/>
          <p:nvPr/>
        </p:nvGrpSpPr>
        <p:grpSpPr>
          <a:xfrm>
            <a:off x="2361404" y="1658875"/>
            <a:ext cx="6207250" cy="6207250"/>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p:cNvSpPr txBox="1"/>
          <p:nvPr/>
        </p:nvSpPr>
        <p:spPr>
          <a:xfrm>
            <a:off x="4224877" y="2881785"/>
            <a:ext cx="12082720" cy="3847207"/>
          </a:xfrm>
          <a:prstGeom prst="rect">
            <a:avLst/>
          </a:prstGeom>
        </p:spPr>
        <p:txBody>
          <a:bodyPr lIns="0" tIns="0" rIns="0" bIns="0" rtlCol="0" anchor="t">
            <a:spAutoFit/>
          </a:bodyPr>
          <a:lstStyle/>
          <a:p>
            <a:pPr algn="l">
              <a:lnSpc>
                <a:spcPts val="14950"/>
              </a:lnSpc>
            </a:pPr>
            <a:r>
              <a:rPr lang="en-US" sz="13000" b="1" dirty="0">
                <a:solidFill>
                  <a:srgbClr val="FFFFFF"/>
                </a:solidFill>
                <a:latin typeface="Muli Heavy"/>
                <a:ea typeface="Muli Heavy"/>
                <a:cs typeface="Muli Heavy"/>
                <a:sym typeface="Muli Heavy"/>
              </a:rPr>
              <a:t>Statisticians </a:t>
            </a:r>
          </a:p>
          <a:p>
            <a:pPr algn="l">
              <a:lnSpc>
                <a:spcPts val="14950"/>
              </a:lnSpc>
            </a:pPr>
            <a:r>
              <a:rPr lang="en-US" sz="13000" b="1" dirty="0">
                <a:solidFill>
                  <a:srgbClr val="FFFFFF"/>
                </a:solidFill>
                <a:latin typeface="Muli Heavy"/>
                <a:ea typeface="Muli Heavy"/>
                <a:cs typeface="Muli Heavy"/>
                <a:sym typeface="Muli Heavy"/>
              </a:rPr>
              <a:t>In the loop</a:t>
            </a:r>
          </a:p>
        </p:txBody>
      </p:sp>
      <p:sp>
        <p:nvSpPr>
          <p:cNvPr id="5" name="TextBox 5"/>
          <p:cNvSpPr txBox="1"/>
          <p:nvPr/>
        </p:nvSpPr>
        <p:spPr>
          <a:xfrm>
            <a:off x="3581400" y="9246878"/>
            <a:ext cx="11938537" cy="765274"/>
          </a:xfrm>
          <a:prstGeom prst="rect">
            <a:avLst/>
          </a:prstGeom>
        </p:spPr>
        <p:txBody>
          <a:bodyPr lIns="0" tIns="0" rIns="0" bIns="0" rtlCol="0" anchor="t">
            <a:spAutoFit/>
          </a:bodyPr>
          <a:lstStyle/>
          <a:p>
            <a:pPr algn="ctr">
              <a:lnSpc>
                <a:spcPts val="3080"/>
              </a:lnSpc>
              <a:spcBef>
                <a:spcPct val="0"/>
              </a:spcBef>
            </a:pPr>
            <a:r>
              <a:rPr lang="en-US" sz="2200" spc="22" dirty="0">
                <a:solidFill>
                  <a:srgbClr val="FFFFFF"/>
                </a:solidFill>
                <a:latin typeface="Roboto Mono"/>
                <a:ea typeface="Roboto Mono"/>
                <a:cs typeface="Roboto Mono"/>
                <a:sym typeface="Roboto Mono"/>
              </a:rPr>
              <a:t>The 7</a:t>
            </a:r>
            <a:r>
              <a:rPr lang="en-US" sz="2200" spc="22" baseline="30000" dirty="0">
                <a:solidFill>
                  <a:srgbClr val="FFFFFF"/>
                </a:solidFill>
                <a:latin typeface="Roboto Mono"/>
                <a:ea typeface="Roboto Mono"/>
                <a:cs typeface="Roboto Mono"/>
                <a:sym typeface="Roboto Mono"/>
              </a:rPr>
              <a:t>th</a:t>
            </a:r>
            <a:r>
              <a:rPr lang="en-US" sz="2200" spc="22" dirty="0">
                <a:solidFill>
                  <a:srgbClr val="FFFFFF"/>
                </a:solidFill>
                <a:latin typeface="Roboto Mono"/>
                <a:ea typeface="Roboto Mono"/>
                <a:cs typeface="Roboto Mono"/>
                <a:sym typeface="Roboto Mono"/>
              </a:rPr>
              <a:t> ISM International Statistical Conference 2025</a:t>
            </a:r>
          </a:p>
          <a:p>
            <a:pPr algn="ctr">
              <a:lnSpc>
                <a:spcPts val="3080"/>
              </a:lnSpc>
              <a:spcBef>
                <a:spcPct val="0"/>
              </a:spcBef>
            </a:pPr>
            <a:r>
              <a:rPr lang="en-US" sz="2200" spc="22" dirty="0">
                <a:solidFill>
                  <a:srgbClr val="FFFFFF"/>
                </a:solidFill>
                <a:latin typeface="Roboto Mono"/>
                <a:ea typeface="Roboto Mono"/>
                <a:cs typeface="Roboto Mono"/>
                <a:sym typeface="Roboto Mono"/>
              </a:rPr>
              <a:t>Date</a:t>
            </a:r>
          </a:p>
        </p:txBody>
      </p:sp>
      <p:sp>
        <p:nvSpPr>
          <p:cNvPr id="6" name="TextBox 5">
            <a:extLst>
              <a:ext uri="{FF2B5EF4-FFF2-40B4-BE49-F238E27FC236}">
                <a16:creationId xmlns:a16="http://schemas.microsoft.com/office/drawing/2014/main" id="{6BA141DB-9AA1-56DF-51DB-434F17B62EC1}"/>
              </a:ext>
            </a:extLst>
          </p:cNvPr>
          <p:cNvSpPr txBox="1"/>
          <p:nvPr/>
        </p:nvSpPr>
        <p:spPr>
          <a:xfrm>
            <a:off x="3327131" y="8109745"/>
            <a:ext cx="11938537" cy="371442"/>
          </a:xfrm>
          <a:prstGeom prst="rect">
            <a:avLst/>
          </a:prstGeom>
        </p:spPr>
        <p:txBody>
          <a:bodyPr lIns="0" tIns="0" rIns="0" bIns="0" rtlCol="0" anchor="t">
            <a:spAutoFit/>
          </a:bodyPr>
          <a:lstStyle/>
          <a:p>
            <a:pPr algn="ctr">
              <a:lnSpc>
                <a:spcPts val="3080"/>
              </a:lnSpc>
              <a:spcBef>
                <a:spcPct val="0"/>
              </a:spcBef>
            </a:pPr>
            <a:r>
              <a:rPr lang="en-US" sz="2200" spc="22" dirty="0">
                <a:solidFill>
                  <a:srgbClr val="FFFFFF"/>
                </a:solidFill>
                <a:latin typeface="Roboto Mono"/>
                <a:ea typeface="Roboto Mono"/>
                <a:cs typeface="Roboto Mono"/>
                <a:sym typeface="Roboto Mono"/>
              </a:rPr>
              <a:t>Reimagining the Statistician for the Age of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A769F-EC2B-E74A-7A85-653A510A17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15C9BCB-CC37-EB8A-35CB-1331A8056D8D}"/>
              </a:ext>
            </a:extLst>
          </p:cNvPr>
          <p:cNvGrpSpPr/>
          <p:nvPr/>
        </p:nvGrpSpPr>
        <p:grpSpPr>
          <a:xfrm>
            <a:off x="8690733" y="5759729"/>
            <a:ext cx="9054541" cy="9054541"/>
            <a:chOff x="0" y="0"/>
            <a:chExt cx="6350000" cy="6350000"/>
          </a:xfrm>
        </p:grpSpPr>
        <p:sp>
          <p:nvSpPr>
            <p:cNvPr id="3" name="Freeform 3">
              <a:extLst>
                <a:ext uri="{FF2B5EF4-FFF2-40B4-BE49-F238E27FC236}">
                  <a16:creationId xmlns:a16="http://schemas.microsoft.com/office/drawing/2014/main" id="{3F9A2C8B-E8E2-35DB-80A5-A9FA2B36ADC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pSp>
        <p:nvGrpSpPr>
          <p:cNvPr id="4" name="Group 4">
            <a:extLst>
              <a:ext uri="{FF2B5EF4-FFF2-40B4-BE49-F238E27FC236}">
                <a16:creationId xmlns:a16="http://schemas.microsoft.com/office/drawing/2014/main" id="{B5089D3B-596F-5147-A75F-29A76B4F9552}"/>
              </a:ext>
            </a:extLst>
          </p:cNvPr>
          <p:cNvGrpSpPr>
            <a:grpSpLocks noChangeAspect="1"/>
          </p:cNvGrpSpPr>
          <p:nvPr/>
        </p:nvGrpSpPr>
        <p:grpSpPr>
          <a:xfrm>
            <a:off x="11200997" y="1060175"/>
            <a:ext cx="4034014" cy="8198125"/>
            <a:chOff x="0" y="0"/>
            <a:chExt cx="5001260" cy="10163810"/>
          </a:xfrm>
        </p:grpSpPr>
        <p:sp>
          <p:nvSpPr>
            <p:cNvPr id="5" name="Freeform 5">
              <a:extLst>
                <a:ext uri="{FF2B5EF4-FFF2-40B4-BE49-F238E27FC236}">
                  <a16:creationId xmlns:a16="http://schemas.microsoft.com/office/drawing/2014/main" id="{3FE0B39F-3E66-83ED-444E-FA24BF25B9A3}"/>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6" name="Freeform 6">
              <a:extLst>
                <a:ext uri="{FF2B5EF4-FFF2-40B4-BE49-F238E27FC236}">
                  <a16:creationId xmlns:a16="http://schemas.microsoft.com/office/drawing/2014/main" id="{F8640735-16E7-99BF-3BF8-A7C1BC9B4089}"/>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12855" r="-112855"/>
              </a:stretch>
            </a:blipFill>
          </p:spPr>
          <p:txBody>
            <a:bodyPr/>
            <a:lstStyle/>
            <a:p>
              <a:endParaRPr lang="en-MY"/>
            </a:p>
          </p:txBody>
        </p:sp>
      </p:grpSp>
      <p:grpSp>
        <p:nvGrpSpPr>
          <p:cNvPr id="7" name="Group 7">
            <a:extLst>
              <a:ext uri="{FF2B5EF4-FFF2-40B4-BE49-F238E27FC236}">
                <a16:creationId xmlns:a16="http://schemas.microsoft.com/office/drawing/2014/main" id="{2E9B92F2-0292-54F1-506E-CFA7F38C9796}"/>
              </a:ext>
            </a:extLst>
          </p:cNvPr>
          <p:cNvGrpSpPr/>
          <p:nvPr/>
        </p:nvGrpSpPr>
        <p:grpSpPr>
          <a:xfrm>
            <a:off x="-773401" y="-916377"/>
            <a:ext cx="3037518" cy="3037518"/>
            <a:chOff x="0" y="0"/>
            <a:chExt cx="6350000" cy="6350000"/>
          </a:xfrm>
        </p:grpSpPr>
        <p:sp>
          <p:nvSpPr>
            <p:cNvPr id="8" name="Freeform 8">
              <a:extLst>
                <a:ext uri="{FF2B5EF4-FFF2-40B4-BE49-F238E27FC236}">
                  <a16:creationId xmlns:a16="http://schemas.microsoft.com/office/drawing/2014/main" id="{BD06110F-C8EB-5337-1B99-B467B0F373C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pic>
        <p:nvPicPr>
          <p:cNvPr id="11" name="Picture 10" descr="A person in a blue shirt&#10;&#10;AI-generated content may be incorrect.">
            <a:extLst>
              <a:ext uri="{FF2B5EF4-FFF2-40B4-BE49-F238E27FC236}">
                <a16:creationId xmlns:a16="http://schemas.microsoft.com/office/drawing/2014/main" id="{60D6F657-A8A7-980A-1B68-CFEF4113AAC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5" b="99125" l="1875" r="98750">
                        <a14:foregroundMark x1="39750" y1="8500" x2="39750" y2="8500"/>
                        <a14:foregroundMark x1="44000" y1="6625" x2="44000" y2="6625"/>
                        <a14:foregroundMark x1="23500" y1="72875" x2="23500" y2="72875"/>
                        <a14:foregroundMark x1="36500" y1="73875" x2="36500" y2="73875"/>
                        <a14:foregroundMark x1="77125" y1="74250" x2="77125" y2="74250"/>
                        <a14:foregroundMark x1="38625" y1="89625" x2="38625" y2="89625"/>
                        <a14:foregroundMark x1="45750" y1="91125" x2="45750" y2="91125"/>
                        <a14:foregroundMark x1="46875" y1="96875" x2="49000" y2="97125"/>
                        <a14:foregroundMark x1="24625" y1="95125" x2="24625" y2="95125"/>
                        <a14:foregroundMark x1="19500" y1="83750" x2="19500" y2="83750"/>
                        <a14:foregroundMark x1="33625" y1="67875" x2="18375" y2="75375"/>
                        <a14:foregroundMark x1="18375" y1="75375" x2="8500" y2="85125"/>
                        <a14:foregroundMark x1="8500" y1="85125" x2="7000" y2="92500"/>
                        <a14:foregroundMark x1="4125" y1="95795" x2="3289" y2="96753"/>
                        <a14:foregroundMark x1="7000" y1="92500" x2="4136" y2="95782"/>
                        <a14:foregroundMark x1="5079" y1="98452" x2="33250" y2="99125"/>
                        <a14:foregroundMark x1="4175" y1="98430" x2="5067" y2="98451"/>
                        <a14:foregroundMark x1="2647" y1="98393" x2="2924" y2="98400"/>
                        <a14:foregroundMark x1="95125" y1="83375" x2="93125" y2="94875"/>
                        <a14:foregroundMark x1="93125" y1="94875" x2="98750" y2="98750"/>
                        <a14:backgroundMark x1="3750" y1="97625" x2="3750" y2="97625"/>
                        <a14:backgroundMark x1="2250" y1="97250" x2="3375" y2="97250"/>
                        <a14:backgroundMark x1="3750" y1="97250" x2="3750" y2="97250"/>
                        <a14:backgroundMark x1="3750" y1="97625" x2="2250" y2="97125"/>
                        <a14:backgroundMark x1="4375" y1="96500" x2="4125" y2="95750"/>
                      </a14:backgroundRemoval>
                    </a14:imgEffect>
                  </a14:imgLayer>
                </a14:imgProps>
              </a:ext>
              <a:ext uri="{28A0092B-C50C-407E-A947-70E740481C1C}">
                <a14:useLocalDpi xmlns:a14="http://schemas.microsoft.com/office/drawing/2010/main" val="0"/>
              </a:ext>
            </a:extLst>
          </a:blip>
          <a:stretch>
            <a:fillRect/>
          </a:stretch>
        </p:blipFill>
        <p:spPr>
          <a:xfrm>
            <a:off x="11200996" y="1486486"/>
            <a:ext cx="3910485" cy="7387056"/>
          </a:xfrm>
          <a:prstGeom prst="rect">
            <a:avLst/>
          </a:prstGeom>
        </p:spPr>
      </p:pic>
      <p:sp>
        <p:nvSpPr>
          <p:cNvPr id="12" name="TextBox 9">
            <a:extLst>
              <a:ext uri="{FF2B5EF4-FFF2-40B4-BE49-F238E27FC236}">
                <a16:creationId xmlns:a16="http://schemas.microsoft.com/office/drawing/2014/main" id="{4E9692CF-8D1D-CDAE-BC7C-C667CDEDC603}"/>
              </a:ext>
            </a:extLst>
          </p:cNvPr>
          <p:cNvSpPr txBox="1"/>
          <p:nvPr/>
        </p:nvSpPr>
        <p:spPr>
          <a:xfrm>
            <a:off x="1764636" y="5163457"/>
            <a:ext cx="8441983" cy="3508140"/>
          </a:xfrm>
          <a:prstGeom prst="rect">
            <a:avLst/>
          </a:prstGeom>
        </p:spPr>
        <p:txBody>
          <a:bodyPr wrap="square" lIns="0" tIns="0" rIns="0" bIns="0" rtlCol="0" anchor="t">
            <a:spAutoFit/>
          </a:bodyPr>
          <a:lstStyle/>
          <a:p>
            <a:pPr algn="l">
              <a:lnSpc>
                <a:spcPts val="9600"/>
              </a:lnSpc>
            </a:pPr>
            <a:r>
              <a:rPr lang="en-US" sz="4000" b="1" dirty="0">
                <a:solidFill>
                  <a:srgbClr val="000000"/>
                </a:solidFill>
                <a:latin typeface="Muli Ultra-Bold"/>
                <a:ea typeface="Muli Ultra-Bold"/>
                <a:cs typeface="Muli Ultra-Bold"/>
                <a:sym typeface="Muli Ultra-Bold"/>
              </a:rPr>
              <a:t>Senior Data Scientist </a:t>
            </a:r>
            <a:r>
              <a:rPr lang="en-US" sz="4000" b="1" dirty="0">
                <a:solidFill>
                  <a:srgbClr val="000000"/>
                </a:solidFill>
                <a:latin typeface="Muli Ultra-Bold"/>
                <a:ea typeface="Muli Ultra-Bold"/>
                <a:cs typeface="Muli Ultra-Bold"/>
                <a:sym typeface="Muli Ultra-Bold"/>
                <a:hlinkClick r:id="rId6"/>
              </a:rPr>
              <a:t>peyter@gmail.com</a:t>
            </a:r>
            <a:endParaRPr lang="en-US" sz="4000" b="1" dirty="0">
              <a:solidFill>
                <a:srgbClr val="000000"/>
              </a:solidFill>
              <a:latin typeface="Muli Ultra-Bold"/>
              <a:ea typeface="Muli Ultra-Bold"/>
              <a:cs typeface="Muli Ultra-Bold"/>
              <a:sym typeface="Muli Ultra-Bold"/>
            </a:endParaRPr>
          </a:p>
          <a:p>
            <a:pPr algn="l">
              <a:lnSpc>
                <a:spcPts val="9600"/>
              </a:lnSpc>
            </a:pPr>
            <a:endParaRPr lang="en-US" sz="4000" b="1" dirty="0">
              <a:solidFill>
                <a:srgbClr val="000000"/>
              </a:solidFill>
              <a:latin typeface="Muli Ultra-Bold"/>
              <a:ea typeface="Muli Ultra-Bold"/>
              <a:cs typeface="Muli Ultra-Bold"/>
              <a:sym typeface="Muli Ultra-Bold"/>
            </a:endParaRPr>
          </a:p>
        </p:txBody>
      </p:sp>
      <p:sp>
        <p:nvSpPr>
          <p:cNvPr id="13" name="TextBox 9">
            <a:extLst>
              <a:ext uri="{FF2B5EF4-FFF2-40B4-BE49-F238E27FC236}">
                <a16:creationId xmlns:a16="http://schemas.microsoft.com/office/drawing/2014/main" id="{9C15AFB2-9F16-0683-33C5-C75256639583}"/>
              </a:ext>
            </a:extLst>
          </p:cNvPr>
          <p:cNvSpPr txBox="1"/>
          <p:nvPr/>
        </p:nvSpPr>
        <p:spPr>
          <a:xfrm>
            <a:off x="1692617" y="4068565"/>
            <a:ext cx="8441983" cy="1231106"/>
          </a:xfrm>
          <a:prstGeom prst="rect">
            <a:avLst/>
          </a:prstGeom>
        </p:spPr>
        <p:txBody>
          <a:bodyPr wrap="square" lIns="0" tIns="0" rIns="0" bIns="0" rtlCol="0" anchor="t">
            <a:spAutoFit/>
          </a:bodyPr>
          <a:lstStyle/>
          <a:p>
            <a:pPr algn="l">
              <a:lnSpc>
                <a:spcPts val="9600"/>
              </a:lnSpc>
            </a:pPr>
            <a:r>
              <a:rPr lang="en-US" sz="8000" b="1" dirty="0">
                <a:solidFill>
                  <a:srgbClr val="000000"/>
                </a:solidFill>
                <a:latin typeface="Muli Ultra-Bold"/>
                <a:ea typeface="Muli Ultra-Bold"/>
                <a:cs typeface="Muli Ultra-Bold"/>
                <a:sym typeface="Muli Ultra-Bold"/>
              </a:rPr>
              <a:t>Chiung Ching Ho</a:t>
            </a:r>
          </a:p>
        </p:txBody>
      </p:sp>
      <p:sp>
        <p:nvSpPr>
          <p:cNvPr id="14" name="TextBox 13">
            <a:extLst>
              <a:ext uri="{FF2B5EF4-FFF2-40B4-BE49-F238E27FC236}">
                <a16:creationId xmlns:a16="http://schemas.microsoft.com/office/drawing/2014/main" id="{65ED1A99-26CF-4237-3840-41BF8129CCD6}"/>
              </a:ext>
            </a:extLst>
          </p:cNvPr>
          <p:cNvSpPr txBox="1"/>
          <p:nvPr/>
        </p:nvSpPr>
        <p:spPr>
          <a:xfrm>
            <a:off x="0" y="9410700"/>
            <a:ext cx="7315200" cy="923330"/>
          </a:xfrm>
          <a:prstGeom prst="rect">
            <a:avLst/>
          </a:prstGeom>
          <a:noFill/>
        </p:spPr>
        <p:txBody>
          <a:bodyPr wrap="square" rtlCol="0">
            <a:spAutoFit/>
          </a:bodyPr>
          <a:lstStyle/>
          <a:p>
            <a:r>
              <a:rPr lang="en-MY" dirty="0"/>
              <a:t>All ideas and opinions shared in the keynote address are the author’s alone, and is not representative of Bank Negara Malaysia or any officer related to Bank Negara Malaysia</a:t>
            </a:r>
          </a:p>
        </p:txBody>
      </p:sp>
    </p:spTree>
    <p:extLst>
      <p:ext uri="{BB962C8B-B14F-4D97-AF65-F5344CB8AC3E}">
        <p14:creationId xmlns:p14="http://schemas.microsoft.com/office/powerpoint/2010/main" val="914486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082CB-28B9-66D6-1CBA-F8AEF53C434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502D234-E599-5364-84DB-0D72FEE166D8}"/>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The Challenge!</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72BB4A77-699D-3329-3254-50E3167E92E7}"/>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14FF09FE-D077-15EB-FCA4-B62A54F0008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B8B148B1-6BA0-4C94-B05A-ACED4116296A}"/>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2367E17-D349-7C50-66D3-7DC9E5F25958}"/>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FF6EBB56-6A7A-75FE-6229-95206A46063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7C1D62BA-8F2E-406F-8D2C-80FDE56A5F99}"/>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41E27D6D-0191-5D0E-1153-956DF43C5B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60C6AE40-05FD-623D-BE4D-5094EABD52CC}"/>
              </a:ext>
            </a:extLst>
          </p:cNvPr>
          <p:cNvGraphicFramePr>
            <a:graphicFrameLocks noGrp="1"/>
          </p:cNvGraphicFramePr>
          <p:nvPr/>
        </p:nvGraphicFramePr>
        <p:xfrm>
          <a:off x="5455127" y="6896695"/>
          <a:ext cx="12192000" cy="26517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t>We traded 4.4% accuracy for a 99.6% gender bias reduction (although race bias increased by 23.46% )  while maintaining statistical rigor.</a:t>
                      </a:r>
                    </a:p>
                    <a:p>
                      <a:endParaRPr lang="en-GB" sz="2800" dirty="0"/>
                    </a:p>
                    <a:p>
                      <a:r>
                        <a:rPr lang="en-GB" sz="2800" dirty="0"/>
                        <a:t>Conformal prediction coverage affirmed that the basic gaussian distribution assumption of the Bayes model is true</a:t>
                      </a:r>
                    </a:p>
                    <a:p>
                      <a:endParaRPr lang="en-GB" sz="2800" b="1"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bl>
          </a:graphicData>
        </a:graphic>
      </p:graphicFrame>
      <p:sp>
        <p:nvSpPr>
          <p:cNvPr id="3" name="TextBox 2">
            <a:extLst>
              <a:ext uri="{FF2B5EF4-FFF2-40B4-BE49-F238E27FC236}">
                <a16:creationId xmlns:a16="http://schemas.microsoft.com/office/drawing/2014/main" id="{23CDEF3C-6E80-02EC-9398-C882F2931FB4}"/>
              </a:ext>
            </a:extLst>
          </p:cNvPr>
          <p:cNvSpPr txBox="1"/>
          <p:nvPr/>
        </p:nvSpPr>
        <p:spPr>
          <a:xfrm>
            <a:off x="6327822" y="1969710"/>
            <a:ext cx="9906000" cy="523220"/>
          </a:xfrm>
          <a:prstGeom prst="rect">
            <a:avLst/>
          </a:prstGeom>
          <a:noFill/>
        </p:spPr>
        <p:txBody>
          <a:bodyPr wrap="square" rtlCol="0">
            <a:spAutoFit/>
          </a:bodyPr>
          <a:lstStyle/>
          <a:p>
            <a:r>
              <a:rPr lang="en-MY" sz="2400" dirty="0"/>
              <a:t>Trading accuracy for </a:t>
            </a:r>
            <a:r>
              <a:rPr lang="en-MY" sz="2800" dirty="0"/>
              <a:t>less Bias</a:t>
            </a:r>
            <a:endParaRPr lang="en-MY" sz="2400" dirty="0"/>
          </a:p>
        </p:txBody>
      </p:sp>
      <p:graphicFrame>
        <p:nvGraphicFramePr>
          <p:cNvPr id="13" name="Table 12">
            <a:extLst>
              <a:ext uri="{FF2B5EF4-FFF2-40B4-BE49-F238E27FC236}">
                <a16:creationId xmlns:a16="http://schemas.microsoft.com/office/drawing/2014/main" id="{943648F7-BEF4-3E57-7619-FEE9D603F8AA}"/>
              </a:ext>
            </a:extLst>
          </p:cNvPr>
          <p:cNvGraphicFramePr>
            <a:graphicFrameLocks noGrp="1"/>
          </p:cNvGraphicFramePr>
          <p:nvPr>
            <p:extLst>
              <p:ext uri="{D42A27DB-BD31-4B8C-83A1-F6EECF244321}">
                <p14:modId xmlns:p14="http://schemas.microsoft.com/office/powerpoint/2010/main" val="1497206031"/>
              </p:ext>
            </p:extLst>
          </p:nvPr>
        </p:nvGraphicFramePr>
        <p:xfrm>
          <a:off x="5914608" y="4030980"/>
          <a:ext cx="12192000" cy="2225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1483195485"/>
                    </a:ext>
                  </a:extLst>
                </a:gridCol>
                <a:gridCol w="3048000">
                  <a:extLst>
                    <a:ext uri="{9D8B030D-6E8A-4147-A177-3AD203B41FA5}">
                      <a16:colId xmlns:a16="http://schemas.microsoft.com/office/drawing/2014/main" val="1625965974"/>
                    </a:ext>
                  </a:extLst>
                </a:gridCol>
                <a:gridCol w="3048000">
                  <a:extLst>
                    <a:ext uri="{9D8B030D-6E8A-4147-A177-3AD203B41FA5}">
                      <a16:colId xmlns:a16="http://schemas.microsoft.com/office/drawing/2014/main" val="114469795"/>
                    </a:ext>
                  </a:extLst>
                </a:gridCol>
                <a:gridCol w="3048000">
                  <a:extLst>
                    <a:ext uri="{9D8B030D-6E8A-4147-A177-3AD203B41FA5}">
                      <a16:colId xmlns:a16="http://schemas.microsoft.com/office/drawing/2014/main" val="939967550"/>
                    </a:ext>
                  </a:extLst>
                </a:gridCol>
              </a:tblGrid>
              <a:tr h="370840">
                <a:tc>
                  <a:txBody>
                    <a:bodyPr/>
                    <a:lstStyle/>
                    <a:p>
                      <a:pPr>
                        <a:buNone/>
                      </a:pPr>
                      <a:r>
                        <a:rPr lang="en-MY" dirty="0"/>
                        <a:t>Metric</a:t>
                      </a:r>
                    </a:p>
                  </a:txBody>
                  <a:tcPr anchor="ctr"/>
                </a:tc>
                <a:tc>
                  <a:txBody>
                    <a:bodyPr/>
                    <a:lstStyle/>
                    <a:p>
                      <a:pPr>
                        <a:buNone/>
                      </a:pPr>
                      <a:r>
                        <a:rPr lang="en-MY" dirty="0"/>
                        <a:t>Statistician in the Loop</a:t>
                      </a:r>
                    </a:p>
                  </a:txBody>
                  <a:tcPr anchor="ctr"/>
                </a:tc>
                <a:tc>
                  <a:txBody>
                    <a:bodyPr/>
                    <a:lstStyle/>
                    <a:p>
                      <a:pPr>
                        <a:buNone/>
                      </a:pPr>
                      <a:r>
                        <a:rPr lang="en-MY"/>
                        <a:t>Pure AI</a:t>
                      </a:r>
                    </a:p>
                  </a:txBody>
                  <a:tcPr anchor="ctr"/>
                </a:tc>
                <a:tc>
                  <a:txBody>
                    <a:bodyPr/>
                    <a:lstStyle/>
                    <a:p>
                      <a:pPr>
                        <a:buNone/>
                      </a:pPr>
                      <a:r>
                        <a:rPr lang="en-MY" dirty="0"/>
                        <a:t>Winner</a:t>
                      </a:r>
                    </a:p>
                  </a:txBody>
                  <a:tcPr anchor="ctr"/>
                </a:tc>
                <a:extLst>
                  <a:ext uri="{0D108BD9-81ED-4DB2-BD59-A6C34878D82A}">
                    <a16:rowId xmlns:a16="http://schemas.microsoft.com/office/drawing/2014/main" val="2032026858"/>
                  </a:ext>
                </a:extLst>
              </a:tr>
              <a:tr h="370840">
                <a:tc>
                  <a:txBody>
                    <a:bodyPr/>
                    <a:lstStyle/>
                    <a:p>
                      <a:pPr>
                        <a:buNone/>
                      </a:pPr>
                      <a:r>
                        <a:rPr lang="en-MY"/>
                        <a:t>Accuracy (R²)</a:t>
                      </a:r>
                    </a:p>
                  </a:txBody>
                  <a:tcPr anchor="ctr"/>
                </a:tc>
                <a:tc>
                  <a:txBody>
                    <a:bodyPr/>
                    <a:lstStyle/>
                    <a:p>
                      <a:pPr>
                        <a:buNone/>
                      </a:pPr>
                      <a:r>
                        <a:rPr lang="en-MY" dirty="0"/>
                        <a:t>0.263</a:t>
                      </a:r>
                    </a:p>
                  </a:txBody>
                  <a:tcPr anchor="ctr"/>
                </a:tc>
                <a:tc>
                  <a:txBody>
                    <a:bodyPr/>
                    <a:lstStyle/>
                    <a:p>
                      <a:pPr>
                        <a:buNone/>
                      </a:pPr>
                      <a:r>
                        <a:rPr lang="en-MY"/>
                        <a:t>0.275</a:t>
                      </a:r>
                    </a:p>
                  </a:txBody>
                  <a:tcPr anchor="ctr"/>
                </a:tc>
                <a:tc>
                  <a:txBody>
                    <a:bodyPr/>
                    <a:lstStyle/>
                    <a:p>
                      <a:pPr>
                        <a:buNone/>
                      </a:pPr>
                      <a:r>
                        <a:rPr lang="en-MY"/>
                        <a:t>AI</a:t>
                      </a:r>
                    </a:p>
                  </a:txBody>
                  <a:tcPr anchor="ctr"/>
                </a:tc>
                <a:extLst>
                  <a:ext uri="{0D108BD9-81ED-4DB2-BD59-A6C34878D82A}">
                    <a16:rowId xmlns:a16="http://schemas.microsoft.com/office/drawing/2014/main" val="3981997559"/>
                  </a:ext>
                </a:extLst>
              </a:tr>
              <a:tr h="370840">
                <a:tc>
                  <a:txBody>
                    <a:bodyPr/>
                    <a:lstStyle/>
                    <a:p>
                      <a:pPr>
                        <a:buNone/>
                      </a:pPr>
                      <a:r>
                        <a:rPr lang="en-MY"/>
                        <a:t>Gender Bias ($)</a:t>
                      </a:r>
                    </a:p>
                  </a:txBody>
                  <a:tcPr anchor="ctr"/>
                </a:tc>
                <a:tc>
                  <a:txBody>
                    <a:bodyPr/>
                    <a:lstStyle/>
                    <a:p>
                      <a:pPr>
                        <a:buNone/>
                      </a:pPr>
                      <a:r>
                        <a:rPr lang="en-MY" dirty="0"/>
                        <a:t>$39</a:t>
                      </a:r>
                    </a:p>
                  </a:txBody>
                  <a:tcPr anchor="ctr"/>
                </a:tc>
                <a:tc>
                  <a:txBody>
                    <a:bodyPr/>
                    <a:lstStyle/>
                    <a:p>
                      <a:pPr>
                        <a:buNone/>
                      </a:pPr>
                      <a:r>
                        <a:rPr lang="en-MY" dirty="0"/>
                        <a:t>$11,036</a:t>
                      </a:r>
                    </a:p>
                  </a:txBody>
                  <a:tcPr anchor="ctr"/>
                </a:tc>
                <a:tc>
                  <a:txBody>
                    <a:bodyPr/>
                    <a:lstStyle/>
                    <a:p>
                      <a:pPr>
                        <a:buNone/>
                      </a:pPr>
                      <a:r>
                        <a:rPr lang="en-MY"/>
                        <a:t>Human</a:t>
                      </a:r>
                    </a:p>
                  </a:txBody>
                  <a:tcPr anchor="ctr"/>
                </a:tc>
                <a:extLst>
                  <a:ext uri="{0D108BD9-81ED-4DB2-BD59-A6C34878D82A}">
                    <a16:rowId xmlns:a16="http://schemas.microsoft.com/office/drawing/2014/main" val="3066391091"/>
                  </a:ext>
                </a:extLst>
              </a:tr>
              <a:tr h="370840">
                <a:tc>
                  <a:txBody>
                    <a:bodyPr/>
                    <a:lstStyle/>
                    <a:p>
                      <a:pPr>
                        <a:buNone/>
                      </a:pPr>
                      <a:r>
                        <a:rPr lang="en-MY"/>
                        <a:t>Racial Bias ($)</a:t>
                      </a:r>
                    </a:p>
                  </a:txBody>
                  <a:tcPr anchor="ctr"/>
                </a:tc>
                <a:tc>
                  <a:txBody>
                    <a:bodyPr/>
                    <a:lstStyle/>
                    <a:p>
                      <a:pPr>
                        <a:buNone/>
                      </a:pPr>
                      <a:r>
                        <a:rPr lang="en-MY"/>
                        <a:t>$32,113</a:t>
                      </a:r>
                    </a:p>
                  </a:txBody>
                  <a:tcPr anchor="ctr"/>
                </a:tc>
                <a:tc>
                  <a:txBody>
                    <a:bodyPr/>
                    <a:lstStyle/>
                    <a:p>
                      <a:pPr>
                        <a:buNone/>
                      </a:pPr>
                      <a:r>
                        <a:rPr lang="en-MY" dirty="0"/>
                        <a:t>$26,009</a:t>
                      </a:r>
                    </a:p>
                  </a:txBody>
                  <a:tcPr anchor="ctr"/>
                </a:tc>
                <a:tc>
                  <a:txBody>
                    <a:bodyPr/>
                    <a:lstStyle/>
                    <a:p>
                      <a:pPr>
                        <a:buNone/>
                      </a:pPr>
                      <a:r>
                        <a:rPr lang="en-MY"/>
                        <a:t>AI</a:t>
                      </a:r>
                    </a:p>
                  </a:txBody>
                  <a:tcPr anchor="ctr"/>
                </a:tc>
                <a:extLst>
                  <a:ext uri="{0D108BD9-81ED-4DB2-BD59-A6C34878D82A}">
                    <a16:rowId xmlns:a16="http://schemas.microsoft.com/office/drawing/2014/main" val="643863952"/>
                  </a:ext>
                </a:extLst>
              </a:tr>
              <a:tr h="370840">
                <a:tc>
                  <a:txBody>
                    <a:bodyPr/>
                    <a:lstStyle/>
                    <a:p>
                      <a:pPr>
                        <a:buNone/>
                      </a:pPr>
                      <a:r>
                        <a:rPr lang="en-MY"/>
                        <a:t>Interval coverage</a:t>
                      </a:r>
                    </a:p>
                  </a:txBody>
                  <a:tcPr anchor="ctr"/>
                </a:tc>
                <a:tc>
                  <a:txBody>
                    <a:bodyPr/>
                    <a:lstStyle/>
                    <a:p>
                      <a:pPr>
                        <a:buNone/>
                      </a:pPr>
                      <a:r>
                        <a:rPr lang="en-MY"/>
                        <a:t>89.9</a:t>
                      </a:r>
                    </a:p>
                  </a:txBody>
                  <a:tcPr anchor="ctr"/>
                </a:tc>
                <a:tc>
                  <a:txBody>
                    <a:bodyPr/>
                    <a:lstStyle/>
                    <a:p>
                      <a:pPr>
                        <a:buNone/>
                      </a:pPr>
                      <a:r>
                        <a:rPr lang="en-MY" dirty="0"/>
                        <a:t>89.9</a:t>
                      </a:r>
                    </a:p>
                  </a:txBody>
                  <a:tcPr anchor="ctr"/>
                </a:tc>
                <a:tc>
                  <a:txBody>
                    <a:bodyPr/>
                    <a:lstStyle/>
                    <a:p>
                      <a:pPr>
                        <a:buNone/>
                      </a:pPr>
                      <a:r>
                        <a:rPr lang="en-MY"/>
                        <a:t>Tie</a:t>
                      </a:r>
                    </a:p>
                  </a:txBody>
                  <a:tcPr anchor="ctr"/>
                </a:tc>
                <a:extLst>
                  <a:ext uri="{0D108BD9-81ED-4DB2-BD59-A6C34878D82A}">
                    <a16:rowId xmlns:a16="http://schemas.microsoft.com/office/drawing/2014/main" val="3267679856"/>
                  </a:ext>
                </a:extLst>
              </a:tr>
              <a:tr h="370840">
                <a:tc>
                  <a:txBody>
                    <a:bodyPr/>
                    <a:lstStyle/>
                    <a:p>
                      <a:pPr>
                        <a:buNone/>
                      </a:pPr>
                      <a:r>
                        <a:rPr lang="en-MY"/>
                        <a:t>Transparency</a:t>
                      </a:r>
                    </a:p>
                  </a:txBody>
                  <a:tcPr anchor="ctr"/>
                </a:tc>
                <a:tc>
                  <a:txBody>
                    <a:bodyPr/>
                    <a:lstStyle/>
                    <a:p>
                      <a:pPr>
                        <a:buNone/>
                      </a:pPr>
                      <a:r>
                        <a:rPr lang="en-MY"/>
                        <a:t>High</a:t>
                      </a:r>
                    </a:p>
                  </a:txBody>
                  <a:tcPr anchor="ctr"/>
                </a:tc>
                <a:tc>
                  <a:txBody>
                    <a:bodyPr/>
                    <a:lstStyle/>
                    <a:p>
                      <a:pPr>
                        <a:buNone/>
                      </a:pPr>
                      <a:r>
                        <a:rPr lang="en-MY"/>
                        <a:t>Black-box</a:t>
                      </a:r>
                    </a:p>
                  </a:txBody>
                  <a:tcPr anchor="ctr"/>
                </a:tc>
                <a:tc>
                  <a:txBody>
                    <a:bodyPr/>
                    <a:lstStyle/>
                    <a:p>
                      <a:pPr>
                        <a:buNone/>
                      </a:pPr>
                      <a:r>
                        <a:rPr lang="en-MY" dirty="0"/>
                        <a:t>Human</a:t>
                      </a:r>
                    </a:p>
                  </a:txBody>
                  <a:tcPr anchor="ctr"/>
                </a:tc>
                <a:extLst>
                  <a:ext uri="{0D108BD9-81ED-4DB2-BD59-A6C34878D82A}">
                    <a16:rowId xmlns:a16="http://schemas.microsoft.com/office/drawing/2014/main" val="183404534"/>
                  </a:ext>
                </a:extLst>
              </a:tr>
            </a:tbl>
          </a:graphicData>
        </a:graphic>
      </p:graphicFrame>
    </p:spTree>
    <p:extLst>
      <p:ext uri="{BB962C8B-B14F-4D97-AF65-F5344CB8AC3E}">
        <p14:creationId xmlns:p14="http://schemas.microsoft.com/office/powerpoint/2010/main" val="410256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p:cNvGrpSpPr/>
        <p:nvPr/>
      </p:nvGrpSpPr>
      <p:grpSpPr>
        <a:xfrm>
          <a:off x="0" y="0"/>
          <a:ext cx="0" cy="0"/>
          <a:chOff x="0" y="0"/>
          <a:chExt cx="0" cy="0"/>
        </a:xfrm>
      </p:grpSpPr>
      <p:grpSp>
        <p:nvGrpSpPr>
          <p:cNvPr id="2" name="Group 2"/>
          <p:cNvGrpSpPr/>
          <p:nvPr/>
        </p:nvGrpSpPr>
        <p:grpSpPr>
          <a:xfrm>
            <a:off x="10972800" y="5753100"/>
            <a:ext cx="7549591" cy="7549591"/>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34902"/>
              </a:srgbClr>
            </a:solidFill>
          </p:spPr>
          <p:txBody>
            <a:bodyPr/>
            <a:lstStyle/>
            <a:p>
              <a:endParaRPr lang="en-MY"/>
            </a:p>
          </p:txBody>
        </p:sp>
      </p:grpSp>
      <p:sp>
        <p:nvSpPr>
          <p:cNvPr id="4" name="TextBox 4"/>
          <p:cNvSpPr txBox="1"/>
          <p:nvPr/>
        </p:nvSpPr>
        <p:spPr>
          <a:xfrm>
            <a:off x="1043803" y="2698355"/>
            <a:ext cx="16200394" cy="3693319"/>
          </a:xfrm>
          <a:prstGeom prst="rect">
            <a:avLst/>
          </a:prstGeom>
        </p:spPr>
        <p:txBody>
          <a:bodyPr lIns="0" tIns="0" rIns="0" bIns="0" rtlCol="0" anchor="t">
            <a:spAutoFit/>
          </a:bodyPr>
          <a:lstStyle/>
          <a:p>
            <a:pPr algn="ctr">
              <a:lnSpc>
                <a:spcPts val="9600"/>
              </a:lnSpc>
            </a:pPr>
            <a:r>
              <a:rPr lang="en-US" sz="8000" b="1" dirty="0">
                <a:solidFill>
                  <a:srgbClr val="FFFFFF"/>
                </a:solidFill>
                <a:latin typeface="Muli Ultra-Bold"/>
                <a:ea typeface="Muli Ultra-Bold"/>
                <a:cs typeface="Muli Ultra-Bold"/>
                <a:sym typeface="Muli Ultra-Bold"/>
              </a:rPr>
              <a:t>Is Artificial Intelligence </a:t>
            </a:r>
          </a:p>
          <a:p>
            <a:pPr algn="ctr">
              <a:lnSpc>
                <a:spcPts val="9600"/>
              </a:lnSpc>
            </a:pPr>
            <a:r>
              <a:rPr lang="en-US" sz="8000" b="1" dirty="0">
                <a:solidFill>
                  <a:srgbClr val="FFFFFF"/>
                </a:solidFill>
                <a:latin typeface="Muli Ultra-Bold"/>
                <a:ea typeface="Muli Ultra-Bold"/>
                <a:cs typeface="Muli Ultra-Bold"/>
                <a:sym typeface="Muli Ultra-Bold"/>
              </a:rPr>
              <a:t>coming for the statistician’s </a:t>
            </a:r>
          </a:p>
          <a:p>
            <a:pPr algn="ctr">
              <a:lnSpc>
                <a:spcPts val="9600"/>
              </a:lnSpc>
            </a:pPr>
            <a:r>
              <a:rPr lang="en-US" sz="8000" b="1" dirty="0">
                <a:solidFill>
                  <a:srgbClr val="FFFFFF"/>
                </a:solidFill>
                <a:latin typeface="Muli Ultra-Bold"/>
                <a:ea typeface="Muli Ultra-Bold"/>
                <a:cs typeface="Muli Ultra-Bold"/>
                <a:sym typeface="Muli Ultra-Bold"/>
              </a:rPr>
              <a:t>Job? (Ho,2025)</a:t>
            </a:r>
          </a:p>
        </p:txBody>
      </p:sp>
      <p:sp>
        <p:nvSpPr>
          <p:cNvPr id="5" name="Oval 4" descr="African elephant in long grass">
            <a:extLst>
              <a:ext uri="{FF2B5EF4-FFF2-40B4-BE49-F238E27FC236}">
                <a16:creationId xmlns:a16="http://schemas.microsoft.com/office/drawing/2014/main" id="{720BEC97-8823-6395-4B81-6A2E7E23CA5D}"/>
              </a:ext>
            </a:extLst>
          </p:cNvPr>
          <p:cNvSpPr/>
          <p:nvPr/>
        </p:nvSpPr>
        <p:spPr>
          <a:xfrm>
            <a:off x="11966295" y="6246019"/>
            <a:ext cx="5562600" cy="6400800"/>
          </a:xfrm>
          <a:prstGeom prst="ellipse">
            <a:avLst/>
          </a:prstGeom>
          <a:blipFill dpi="0" rotWithShape="1">
            <a:blip r:embed="rId2"/>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8" name="TextBox 7">
            <a:hlinkClick r:id="rId3" action="ppaction://hlinksldjump"/>
            <a:extLst>
              <a:ext uri="{FF2B5EF4-FFF2-40B4-BE49-F238E27FC236}">
                <a16:creationId xmlns:a16="http://schemas.microsoft.com/office/drawing/2014/main" id="{377757AA-6D31-96C5-5EEB-53909F4FAAF3}"/>
              </a:ext>
            </a:extLst>
          </p:cNvPr>
          <p:cNvSpPr txBox="1"/>
          <p:nvPr/>
        </p:nvSpPr>
        <p:spPr>
          <a:xfrm>
            <a:off x="2133600" y="9515605"/>
            <a:ext cx="1828800" cy="584775"/>
          </a:xfrm>
          <a:prstGeom prst="rect">
            <a:avLst/>
          </a:prstGeom>
          <a:solidFill>
            <a:srgbClr val="F67D26"/>
          </a:solidFill>
        </p:spPr>
        <p:txBody>
          <a:bodyPr wrap="square" rtlCol="0">
            <a:spAutoFit/>
          </a:bodyPr>
          <a:lstStyle/>
          <a:p>
            <a:pPr algn="ctr"/>
            <a:r>
              <a:rPr lang="en-MY" sz="3200" dirty="0">
                <a:latin typeface="Roboto Mono" panose="00000009000000000000" pitchFamily="49" charset="0"/>
                <a:ea typeface="Roboto Mono" panose="00000009000000000000" pitchFamily="49" charset="0"/>
              </a:rPr>
              <a:t>NO</a:t>
            </a:r>
            <a:endParaRPr lang="en-MY" dirty="0">
              <a:latin typeface="Roboto Mono" panose="00000009000000000000" pitchFamily="49" charset="0"/>
              <a:ea typeface="Roboto Mono" panose="00000009000000000000" pitchFamily="49" charset="0"/>
            </a:endParaRPr>
          </a:p>
        </p:txBody>
      </p:sp>
      <p:sp>
        <p:nvSpPr>
          <p:cNvPr id="9" name="TextBox 8">
            <a:hlinkClick r:id="rId4" action="ppaction://hlinksldjump"/>
            <a:extLst>
              <a:ext uri="{FF2B5EF4-FFF2-40B4-BE49-F238E27FC236}">
                <a16:creationId xmlns:a16="http://schemas.microsoft.com/office/drawing/2014/main" id="{063FE337-C5FC-B5E4-5884-2D39F2FB1F16}"/>
              </a:ext>
            </a:extLst>
          </p:cNvPr>
          <p:cNvSpPr txBox="1"/>
          <p:nvPr/>
        </p:nvSpPr>
        <p:spPr>
          <a:xfrm>
            <a:off x="129403" y="9509460"/>
            <a:ext cx="1828800" cy="584775"/>
          </a:xfrm>
          <a:prstGeom prst="rect">
            <a:avLst/>
          </a:prstGeom>
          <a:solidFill>
            <a:srgbClr val="F67D26"/>
          </a:solidFill>
        </p:spPr>
        <p:txBody>
          <a:bodyPr wrap="square" rtlCol="0">
            <a:spAutoFit/>
          </a:bodyPr>
          <a:lstStyle/>
          <a:p>
            <a:pPr algn="ctr"/>
            <a:r>
              <a:rPr lang="en-MY" sz="3200" dirty="0">
                <a:latin typeface="Roboto Mono" panose="00000009000000000000" pitchFamily="49" charset="0"/>
                <a:ea typeface="Roboto Mono" panose="00000009000000000000" pitchFamily="49" charset="0"/>
              </a:rPr>
              <a:t>YES</a:t>
            </a:r>
            <a:endParaRPr lang="en-MY" dirty="0">
              <a:latin typeface="Roboto Mono" panose="00000009000000000000" pitchFamily="49" charset="0"/>
              <a:ea typeface="Roboto Mono" panose="00000009000000000000"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D70C-4844-2B3D-CFD5-AA4057AB684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AE8CF70-3853-4619-ADFB-269E7CC542C8}"/>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GB" sz="6600" dirty="0"/>
              <a:t>AI is NOT the End of our Statistical profession</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8BC70B04-95E6-124A-3E35-5919BA00E30E}"/>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D1561F02-03C7-84C7-D574-22BD809C01F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2737996F-E056-894B-AEDB-A96F38E0012D}"/>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F6DAEB6A-D648-5D24-0ED6-686710C2CD39}"/>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B3B9AD18-328B-E3F8-ECA7-DACE9A4B7269}"/>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7B3E3D89-7393-1CC7-1D56-84D22FF51245}"/>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560191C6-EA52-60F7-7A1C-37233AFE86E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9C1910E7-8DF2-26E7-2591-6943023B92FC}"/>
              </a:ext>
            </a:extLst>
          </p:cNvPr>
          <p:cNvGraphicFramePr>
            <a:graphicFrameLocks noGrp="1"/>
          </p:cNvGraphicFramePr>
          <p:nvPr>
            <p:extLst>
              <p:ext uri="{D42A27DB-BD31-4B8C-83A1-F6EECF244321}">
                <p14:modId xmlns:p14="http://schemas.microsoft.com/office/powerpoint/2010/main" val="3228482524"/>
              </p:ext>
            </p:extLst>
          </p:nvPr>
        </p:nvGraphicFramePr>
        <p:xfrm>
          <a:off x="5602485" y="4000500"/>
          <a:ext cx="12192000" cy="530352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AI can detect patterns in millions of variables and automate tasks.</a:t>
                      </a:r>
                    </a:p>
                    <a:p>
                      <a:endParaRPr lang="en-GB"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The real question is: "What does it mean to be a statistician when machines can do statistics?".</a:t>
                      </a:r>
                    </a:p>
                    <a:p>
                      <a:endParaRPr lang="en-GB" sz="2400" dirty="0">
                        <a:latin typeface="Roboto Mono" panose="00000009000000000000" pitchFamily="49" charset="0"/>
                        <a:ea typeface="Roboto Mono" panose="00000009000000000000" pitchFamily="49" charset="0"/>
                      </a:endParaRP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This is a new partnership, not a battle.</a:t>
                      </a:r>
                    </a:p>
                    <a:p>
                      <a:endParaRPr lang="en-GB" sz="2400" dirty="0">
                        <a:latin typeface="Roboto Mono" panose="00000009000000000000" pitchFamily="49" charset="0"/>
                        <a:ea typeface="Roboto Mono" panose="00000009000000000000" pitchFamily="49" charset="0"/>
                      </a:endParaRP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latin typeface="Roboto Mono" panose="00000009000000000000" pitchFamily="49" charset="0"/>
                          <a:ea typeface="Roboto Mono" panose="00000009000000000000" pitchFamily="49" charset="0"/>
                        </a:rPr>
                        <a:t>Introducing the </a:t>
                      </a:r>
                      <a:r>
                        <a:rPr lang="en-GB" sz="3600" dirty="0">
                          <a:latin typeface="Roboto Mono" panose="00000009000000000000" pitchFamily="49" charset="0"/>
                          <a:ea typeface="Roboto Mono" panose="00000009000000000000" pitchFamily="49" charset="0"/>
                        </a:rPr>
                        <a:t>Statistician in the Loop </a:t>
                      </a:r>
                      <a:r>
                        <a:rPr lang="en-GB" sz="2400" dirty="0">
                          <a:latin typeface="Roboto Mono" panose="00000009000000000000" pitchFamily="49" charset="0"/>
                          <a:ea typeface="Roboto Mono" panose="00000009000000000000" pitchFamily="49" charset="0"/>
                        </a:rPr>
                        <a:t>concept.</a:t>
                      </a:r>
                      <a:endParaRPr lang="en-MY" sz="2400" dirty="0">
                        <a:latin typeface="Roboto Mono" panose="00000009000000000000" pitchFamily="49" charset="0"/>
                        <a:ea typeface="Roboto Mono" panose="00000009000000000000" pitchFamily="49" charset="0"/>
                      </a:endParaRP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bl>
          </a:graphicData>
        </a:graphic>
      </p:graphicFrame>
      <p:sp>
        <p:nvSpPr>
          <p:cNvPr id="18" name="TextBox 17">
            <a:extLst>
              <a:ext uri="{FF2B5EF4-FFF2-40B4-BE49-F238E27FC236}">
                <a16:creationId xmlns:a16="http://schemas.microsoft.com/office/drawing/2014/main" id="{C627509E-0720-3025-A6E1-5FEDFEF637D0}"/>
              </a:ext>
            </a:extLst>
          </p:cNvPr>
          <p:cNvSpPr txBox="1"/>
          <p:nvPr/>
        </p:nvSpPr>
        <p:spPr>
          <a:xfrm>
            <a:off x="6270111" y="2757368"/>
            <a:ext cx="9906000" cy="523220"/>
          </a:xfrm>
          <a:prstGeom prst="rect">
            <a:avLst/>
          </a:prstGeom>
          <a:noFill/>
        </p:spPr>
        <p:txBody>
          <a:bodyPr wrap="square" rtlCol="0">
            <a:spAutoFit/>
          </a:bodyPr>
          <a:lstStyle/>
          <a:p>
            <a:r>
              <a:rPr lang="en-MY" sz="2800" dirty="0"/>
              <a:t>It’s the signal for statisticians to evolve</a:t>
            </a:r>
          </a:p>
        </p:txBody>
      </p:sp>
    </p:spTree>
    <p:extLst>
      <p:ext uri="{BB962C8B-B14F-4D97-AF65-F5344CB8AC3E}">
        <p14:creationId xmlns:p14="http://schemas.microsoft.com/office/powerpoint/2010/main" val="885767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F724A-F806-6576-77EE-CC34D51F22B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46A993C-7EF9-7576-C937-82E87B59B48E}"/>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MY" sz="6600" dirty="0"/>
              <a:t>The Irreplaceable Human Element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E213C399-E29F-FDCA-BD6C-A3009F243F53}"/>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7BA9B332-ACA8-062E-FF3F-8093294A441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009BECDF-5D5F-1C9E-E3A9-5517F2C37073}"/>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C51B7DF-CE92-F632-7785-B0349326F405}"/>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24F4F7EF-BDAF-77F6-38D9-679758A1D5C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231972A2-7C7D-B949-A866-C02ED8EE999E}"/>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F0ED48A6-D12F-855E-743F-30289ADC4B6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09511BDA-86F8-72B8-954D-EFED21A3BC41}"/>
              </a:ext>
            </a:extLst>
          </p:cNvPr>
          <p:cNvGraphicFramePr>
            <a:graphicFrameLocks noGrp="1"/>
          </p:cNvGraphicFramePr>
          <p:nvPr>
            <p:extLst>
              <p:ext uri="{D42A27DB-BD31-4B8C-83A1-F6EECF244321}">
                <p14:modId xmlns:p14="http://schemas.microsoft.com/office/powerpoint/2010/main" val="1205130474"/>
              </p:ext>
            </p:extLst>
          </p:nvPr>
        </p:nvGraphicFramePr>
        <p:xfrm>
          <a:off x="5602485" y="4000500"/>
          <a:ext cx="12192000" cy="542544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AI finds answers; statisticians ask the right questions.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We quantify uncertainty, understand bias, and establish causality.</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We also ensure that the data collection and dissemination methodology is sound</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Statisticians ensure that AI is not feed garbage data!</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35395797-7E0F-67D5-447C-BB689764F9BD}"/>
              </a:ext>
            </a:extLst>
          </p:cNvPr>
          <p:cNvSpPr txBox="1"/>
          <p:nvPr/>
        </p:nvSpPr>
        <p:spPr>
          <a:xfrm>
            <a:off x="6292596" y="2837991"/>
            <a:ext cx="9906000" cy="461665"/>
          </a:xfrm>
          <a:prstGeom prst="rect">
            <a:avLst/>
          </a:prstGeom>
          <a:noFill/>
        </p:spPr>
        <p:txBody>
          <a:bodyPr wrap="square" rtlCol="0">
            <a:spAutoFit/>
          </a:bodyPr>
          <a:lstStyle/>
          <a:p>
            <a:r>
              <a:rPr lang="en-MY" sz="2400" dirty="0"/>
              <a:t>The Statistician in the Loop</a:t>
            </a:r>
          </a:p>
        </p:txBody>
      </p:sp>
    </p:spTree>
    <p:extLst>
      <p:ext uri="{BB962C8B-B14F-4D97-AF65-F5344CB8AC3E}">
        <p14:creationId xmlns:p14="http://schemas.microsoft.com/office/powerpoint/2010/main" val="1038221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0" y="2317715"/>
            <a:ext cx="6576971" cy="3693319"/>
          </a:xfrm>
          <a:prstGeom prst="rect">
            <a:avLst/>
          </a:prstGeom>
        </p:spPr>
        <p:txBody>
          <a:bodyPr lIns="0" tIns="0" rIns="0" bIns="0" rtlCol="0" anchor="t">
            <a:spAutoFit/>
          </a:bodyPr>
          <a:lstStyle/>
          <a:p>
            <a:pPr algn="l">
              <a:lnSpc>
                <a:spcPts val="7150"/>
              </a:lnSpc>
            </a:pPr>
            <a:r>
              <a:rPr lang="en-US" sz="6500" b="1" dirty="0">
                <a:solidFill>
                  <a:srgbClr val="F67D26"/>
                </a:solidFill>
                <a:latin typeface="Muli Bold"/>
                <a:ea typeface="Muli Bold"/>
                <a:cs typeface="Muli Bold"/>
                <a:sym typeface="Muli Bold"/>
              </a:rPr>
              <a:t>Problem Statement</a:t>
            </a:r>
          </a:p>
          <a:p>
            <a:pPr algn="l">
              <a:lnSpc>
                <a:spcPts val="7150"/>
              </a:lnSpc>
            </a:pPr>
            <a:r>
              <a:rPr lang="en-US" sz="6500" b="1" dirty="0">
                <a:solidFill>
                  <a:srgbClr val="000000"/>
                </a:solidFill>
                <a:latin typeface="Muli Bold"/>
                <a:ea typeface="Muli Bold"/>
                <a:cs typeface="Muli Bold"/>
                <a:sym typeface="Muli Bold"/>
              </a:rPr>
              <a:t>And</a:t>
            </a:r>
          </a:p>
          <a:p>
            <a:pPr algn="l">
              <a:lnSpc>
                <a:spcPts val="7150"/>
              </a:lnSpc>
            </a:pPr>
            <a:r>
              <a:rPr lang="en-US" sz="6500" b="1" dirty="0">
                <a:solidFill>
                  <a:srgbClr val="3727EB"/>
                </a:solidFill>
                <a:latin typeface="Muli Bold"/>
                <a:ea typeface="Muli Bold"/>
                <a:cs typeface="Muli Bold"/>
                <a:sym typeface="Muli Bold"/>
              </a:rPr>
              <a:t>Data</a:t>
            </a:r>
          </a:p>
        </p:txBody>
      </p:sp>
      <p:sp>
        <p:nvSpPr>
          <p:cNvPr id="3" name="TextBox 3"/>
          <p:cNvSpPr txBox="1"/>
          <p:nvPr/>
        </p:nvSpPr>
        <p:spPr>
          <a:xfrm>
            <a:off x="10779083" y="2328776"/>
            <a:ext cx="6480217" cy="2154436"/>
          </a:xfrm>
          <a:prstGeom prst="rect">
            <a:avLst/>
          </a:prstGeom>
        </p:spPr>
        <p:txBody>
          <a:bodyPr lIns="0" tIns="0" rIns="0" bIns="0" rtlCol="0" anchor="t">
            <a:spAutoFit/>
          </a:bodyPr>
          <a:lstStyle/>
          <a:p>
            <a:pPr algn="l">
              <a:lnSpc>
                <a:spcPts val="2800"/>
              </a:lnSpc>
              <a:spcBef>
                <a:spcPct val="0"/>
              </a:spcBef>
            </a:pPr>
            <a:r>
              <a:rPr lang="en-US" sz="2400" spc="-20" dirty="0">
                <a:solidFill>
                  <a:srgbClr val="000000"/>
                </a:solidFill>
                <a:latin typeface="Roboto Mono"/>
                <a:ea typeface="Roboto Mono"/>
                <a:cs typeface="Roboto Mono"/>
                <a:sym typeface="Roboto Mono"/>
              </a:rPr>
              <a:t>Annual income information from survey may be laggy. What if we wanted to predict income using predictors such as age, education levels, hours worked per week, gender and race?</a:t>
            </a:r>
          </a:p>
        </p:txBody>
      </p:sp>
      <p:sp>
        <p:nvSpPr>
          <p:cNvPr id="4" name="TextBox 4"/>
          <p:cNvSpPr txBox="1"/>
          <p:nvPr/>
        </p:nvSpPr>
        <p:spPr>
          <a:xfrm>
            <a:off x="10779083" y="4991100"/>
            <a:ext cx="6480217" cy="5027017"/>
          </a:xfrm>
          <a:prstGeom prst="rect">
            <a:avLst/>
          </a:prstGeom>
        </p:spPr>
        <p:txBody>
          <a:bodyPr lIns="0" tIns="0" rIns="0" bIns="0" rtlCol="0" anchor="t">
            <a:spAutoFit/>
          </a:bodyPr>
          <a:lstStyle/>
          <a:p>
            <a:pPr algn="l">
              <a:lnSpc>
                <a:spcPts val="2800"/>
              </a:lnSpc>
              <a:spcBef>
                <a:spcPct val="0"/>
              </a:spcBef>
            </a:pPr>
            <a:r>
              <a:rPr lang="en-GB" sz="2400" spc="-20" dirty="0">
                <a:solidFill>
                  <a:srgbClr val="000000"/>
                </a:solidFill>
                <a:latin typeface="Roboto Mono"/>
                <a:ea typeface="Roboto Mono"/>
                <a:cs typeface="Roboto Mono"/>
                <a:sym typeface="Roboto Mono"/>
              </a:rPr>
              <a:t>PUMS (Public Use Microdata Samples) is the U.S. Census Bureau's detailed individual and household-level dataset from the American Community Survey (ACS). </a:t>
            </a:r>
          </a:p>
          <a:p>
            <a:pPr algn="l">
              <a:lnSpc>
                <a:spcPts val="2800"/>
              </a:lnSpc>
              <a:spcBef>
                <a:spcPct val="0"/>
              </a:spcBef>
            </a:pPr>
            <a:r>
              <a:rPr lang="en-GB" sz="2400" spc="-20" dirty="0">
                <a:solidFill>
                  <a:srgbClr val="000000"/>
                </a:solidFill>
                <a:latin typeface="Roboto Mono"/>
                <a:ea typeface="Roboto Mono"/>
                <a:cs typeface="Roboto Mono"/>
                <a:sym typeface="Roboto Mono"/>
              </a:rPr>
              <a:t>PUMS has rich demographic detail: Each person record includes: Demographics (age, sex, race, education)Economic variables (income, hours worked, occupation, industry), Geographic identifiers (state, PUMA - areas of 100,000+ people) and Survey weights for population representation</a:t>
            </a:r>
            <a:endParaRPr lang="en-US" sz="2400" spc="-20" dirty="0">
              <a:solidFill>
                <a:srgbClr val="000000"/>
              </a:solidFill>
              <a:latin typeface="Roboto Mono"/>
              <a:ea typeface="Roboto Mono"/>
              <a:cs typeface="Roboto Mono"/>
              <a:sym typeface="Roboto Mono"/>
            </a:endParaRPr>
          </a:p>
        </p:txBody>
      </p:sp>
      <p:grpSp>
        <p:nvGrpSpPr>
          <p:cNvPr id="5" name="Group 5"/>
          <p:cNvGrpSpPr/>
          <p:nvPr/>
        </p:nvGrpSpPr>
        <p:grpSpPr>
          <a:xfrm>
            <a:off x="8742827" y="2328776"/>
            <a:ext cx="1334344" cy="1334344"/>
            <a:chOff x="0" y="0"/>
            <a:chExt cx="1779126" cy="1779126"/>
          </a:xfrm>
        </p:grpSpPr>
        <p:grpSp>
          <p:nvGrpSpPr>
            <p:cNvPr id="6" name="Group 6"/>
            <p:cNvGrpSpPr/>
            <p:nvPr/>
          </p:nvGrpSpPr>
          <p:grpSpPr>
            <a:xfrm>
              <a:off x="0" y="0"/>
              <a:ext cx="1779126" cy="1779126"/>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8" name="TextBox 8"/>
            <p:cNvSpPr txBox="1"/>
            <p:nvPr/>
          </p:nvSpPr>
          <p:spPr>
            <a:xfrm>
              <a:off x="272051" y="417954"/>
              <a:ext cx="1235023" cy="1000368"/>
            </a:xfrm>
            <a:prstGeom prst="rect">
              <a:avLst/>
            </a:prstGeom>
          </p:spPr>
          <p:txBody>
            <a:bodyPr lIns="0" tIns="0" rIns="0" bIns="0" rtlCol="0" anchor="t">
              <a:spAutoFit/>
            </a:bodyPr>
            <a:lstStyle/>
            <a:p>
              <a:pPr algn="ctr">
                <a:lnSpc>
                  <a:spcPts val="5764"/>
                </a:lnSpc>
              </a:pPr>
              <a:r>
                <a:rPr lang="en-US" sz="5240" b="1">
                  <a:solidFill>
                    <a:srgbClr val="FFFFFF"/>
                  </a:solidFill>
                  <a:latin typeface="Muli Bold"/>
                  <a:ea typeface="Muli Bold"/>
                  <a:cs typeface="Muli Bold"/>
                  <a:sym typeface="Muli Bold"/>
                </a:rPr>
                <a:t>01</a:t>
              </a:r>
            </a:p>
          </p:txBody>
        </p:sp>
      </p:grpSp>
      <p:grpSp>
        <p:nvGrpSpPr>
          <p:cNvPr id="9" name="Group 9"/>
          <p:cNvGrpSpPr/>
          <p:nvPr/>
        </p:nvGrpSpPr>
        <p:grpSpPr>
          <a:xfrm>
            <a:off x="8742828" y="4854997"/>
            <a:ext cx="1334344" cy="1334344"/>
            <a:chOff x="0" y="0"/>
            <a:chExt cx="1779126" cy="1779126"/>
          </a:xfrm>
        </p:grpSpPr>
        <p:grpSp>
          <p:nvGrpSpPr>
            <p:cNvPr id="10" name="Group 10"/>
            <p:cNvGrpSpPr/>
            <p:nvPr/>
          </p:nvGrpSpPr>
          <p:grpSpPr>
            <a:xfrm>
              <a:off x="0" y="0"/>
              <a:ext cx="1779126" cy="177912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2" name="TextBox 12"/>
            <p:cNvSpPr txBox="1"/>
            <p:nvPr/>
          </p:nvSpPr>
          <p:spPr>
            <a:xfrm>
              <a:off x="272051" y="417954"/>
              <a:ext cx="1235023" cy="1000368"/>
            </a:xfrm>
            <a:prstGeom prst="rect">
              <a:avLst/>
            </a:prstGeom>
          </p:spPr>
          <p:txBody>
            <a:bodyPr lIns="0" tIns="0" rIns="0" bIns="0" rtlCol="0" anchor="t">
              <a:spAutoFit/>
            </a:bodyPr>
            <a:lstStyle/>
            <a:p>
              <a:pPr algn="ctr">
                <a:lnSpc>
                  <a:spcPts val="5764"/>
                </a:lnSpc>
              </a:pPr>
              <a:r>
                <a:rPr lang="en-US" sz="5240" b="1" dirty="0">
                  <a:solidFill>
                    <a:srgbClr val="FFFFFF"/>
                  </a:solidFill>
                  <a:latin typeface="Muli Bold"/>
                  <a:ea typeface="Muli Bold"/>
                  <a:cs typeface="Muli Bold"/>
                  <a:sym typeface="Muli Bold"/>
                </a:rPr>
                <a:t>02</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13CD7-FDB1-A7A1-A1D9-1F9565F49CE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1DB6C1-1F38-FDEB-02F1-6B15D1A997F3}"/>
              </a:ext>
            </a:extLst>
          </p:cNvPr>
          <p:cNvGrpSpPr/>
          <p:nvPr/>
        </p:nvGrpSpPr>
        <p:grpSpPr>
          <a:xfrm>
            <a:off x="-3019361" y="736410"/>
            <a:ext cx="8766553" cy="8766553"/>
            <a:chOff x="0" y="0"/>
            <a:chExt cx="6350000" cy="6350000"/>
          </a:xfrm>
          <a:solidFill>
            <a:srgbClr val="F67D26"/>
          </a:solidFill>
        </p:grpSpPr>
        <p:sp>
          <p:nvSpPr>
            <p:cNvPr id="3" name="Freeform 3">
              <a:extLst>
                <a:ext uri="{FF2B5EF4-FFF2-40B4-BE49-F238E27FC236}">
                  <a16:creationId xmlns:a16="http://schemas.microsoft.com/office/drawing/2014/main" id="{DD2B3BFE-CF50-0630-4814-84F9BE0F2D7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endParaRPr lang="en-MY"/>
            </a:p>
          </p:txBody>
        </p:sp>
      </p:grpSp>
      <p:sp>
        <p:nvSpPr>
          <p:cNvPr id="4" name="TextBox 4">
            <a:extLst>
              <a:ext uri="{FF2B5EF4-FFF2-40B4-BE49-F238E27FC236}">
                <a16:creationId xmlns:a16="http://schemas.microsoft.com/office/drawing/2014/main" id="{1DBB0603-016B-84F1-0106-D5D85BD7439E}"/>
              </a:ext>
            </a:extLst>
          </p:cNvPr>
          <p:cNvSpPr txBox="1"/>
          <p:nvPr/>
        </p:nvSpPr>
        <p:spPr>
          <a:xfrm>
            <a:off x="331724" y="4854624"/>
            <a:ext cx="6824167" cy="910506"/>
          </a:xfrm>
          <a:prstGeom prst="rect">
            <a:avLst/>
          </a:prstGeom>
        </p:spPr>
        <p:txBody>
          <a:bodyPr lIns="0" tIns="0" rIns="0" bIns="0" rtlCol="0" anchor="t">
            <a:spAutoFit/>
          </a:bodyPr>
          <a:lstStyle/>
          <a:p>
            <a:pPr algn="l">
              <a:lnSpc>
                <a:spcPts val="7149"/>
              </a:lnSpc>
            </a:pPr>
            <a:r>
              <a:rPr lang="en-US" sz="6499" b="1" dirty="0">
                <a:solidFill>
                  <a:srgbClr val="FFFFFF"/>
                </a:solidFill>
                <a:latin typeface="Muli Bold"/>
                <a:ea typeface="Muli Bold"/>
                <a:cs typeface="Muli Bold"/>
                <a:sym typeface="Muli Bold"/>
              </a:rPr>
              <a:t>Methodology</a:t>
            </a:r>
            <a:endParaRPr lang="en-US" sz="6500" b="1" dirty="0">
              <a:solidFill>
                <a:srgbClr val="FFFFFF"/>
              </a:solidFill>
              <a:latin typeface="Muli Bold"/>
              <a:ea typeface="Muli Bold"/>
              <a:cs typeface="Muli Bold"/>
              <a:sym typeface="Muli Bold"/>
            </a:endParaRPr>
          </a:p>
        </p:txBody>
      </p:sp>
      <p:sp>
        <p:nvSpPr>
          <p:cNvPr id="5" name="TextBox 5">
            <a:extLst>
              <a:ext uri="{FF2B5EF4-FFF2-40B4-BE49-F238E27FC236}">
                <a16:creationId xmlns:a16="http://schemas.microsoft.com/office/drawing/2014/main" id="{ADC02D79-6CB6-058F-F8CF-D760D4507423}"/>
              </a:ext>
            </a:extLst>
          </p:cNvPr>
          <p:cNvSpPr txBox="1"/>
          <p:nvPr/>
        </p:nvSpPr>
        <p:spPr>
          <a:xfrm>
            <a:off x="10798098" y="1893934"/>
            <a:ext cx="6461202" cy="1380726"/>
          </a:xfrm>
          <a:prstGeom prst="rect">
            <a:avLst/>
          </a:prstGeom>
        </p:spPr>
        <p:txBody>
          <a:bodyPr lIns="0" tIns="0" rIns="0" bIns="0" rtlCol="0" anchor="t">
            <a:spAutoFit/>
          </a:bodyPr>
          <a:lstStyle/>
          <a:p>
            <a:pPr algn="l">
              <a:lnSpc>
                <a:spcPts val="2800"/>
              </a:lnSpc>
              <a:spcBef>
                <a:spcPct val="0"/>
              </a:spcBef>
            </a:pPr>
            <a:r>
              <a:rPr lang="en-US" sz="2000" spc="-20" dirty="0">
                <a:solidFill>
                  <a:srgbClr val="FFFFFF"/>
                </a:solidFill>
                <a:latin typeface="Roboto Mono"/>
                <a:ea typeface="Roboto Mono"/>
                <a:cs typeface="Roboto Mono"/>
                <a:sym typeface="Roboto Mono"/>
              </a:rPr>
              <a:t>Presentations are communication tools that can be used as demonstrations, lectures, speeches, reports, and more. It is mostly presented before an audience.</a:t>
            </a:r>
          </a:p>
        </p:txBody>
      </p:sp>
      <p:grpSp>
        <p:nvGrpSpPr>
          <p:cNvPr id="6" name="Group 6">
            <a:extLst>
              <a:ext uri="{FF2B5EF4-FFF2-40B4-BE49-F238E27FC236}">
                <a16:creationId xmlns:a16="http://schemas.microsoft.com/office/drawing/2014/main" id="{CF055FE2-8D83-07A0-6C79-F5EA6C71D644}"/>
              </a:ext>
            </a:extLst>
          </p:cNvPr>
          <p:cNvGrpSpPr/>
          <p:nvPr/>
        </p:nvGrpSpPr>
        <p:grpSpPr>
          <a:xfrm>
            <a:off x="9015645" y="562305"/>
            <a:ext cx="1068134" cy="1068134"/>
            <a:chOff x="0" y="0"/>
            <a:chExt cx="1424179" cy="1424179"/>
          </a:xfrm>
        </p:grpSpPr>
        <p:grpSp>
          <p:nvGrpSpPr>
            <p:cNvPr id="7" name="Group 7">
              <a:extLst>
                <a:ext uri="{FF2B5EF4-FFF2-40B4-BE49-F238E27FC236}">
                  <a16:creationId xmlns:a16="http://schemas.microsoft.com/office/drawing/2014/main" id="{6AE31CA9-C6D7-594A-2077-B4FE7CAA0626}"/>
                </a:ext>
              </a:extLst>
            </p:cNvPr>
            <p:cNvGrpSpPr/>
            <p:nvPr/>
          </p:nvGrpSpPr>
          <p:grpSpPr>
            <a:xfrm>
              <a:off x="0" y="0"/>
              <a:ext cx="1424179" cy="1424179"/>
              <a:chOff x="0" y="0"/>
              <a:chExt cx="6350000" cy="6350000"/>
            </a:xfrm>
          </p:grpSpPr>
          <p:sp>
            <p:nvSpPr>
              <p:cNvPr id="8" name="Freeform 8">
                <a:extLst>
                  <a:ext uri="{FF2B5EF4-FFF2-40B4-BE49-F238E27FC236}">
                    <a16:creationId xmlns:a16="http://schemas.microsoft.com/office/drawing/2014/main" id="{D26F693A-23A4-C0E0-0B9D-C8B76D2A020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9" name="TextBox 9">
              <a:extLst>
                <a:ext uri="{FF2B5EF4-FFF2-40B4-BE49-F238E27FC236}">
                  <a16:creationId xmlns:a16="http://schemas.microsoft.com/office/drawing/2014/main" id="{7C779A99-896E-9934-FF37-F708BAF60390}"/>
                </a:ext>
              </a:extLst>
            </p:cNvPr>
            <p:cNvSpPr txBox="1"/>
            <p:nvPr/>
          </p:nvSpPr>
          <p:spPr>
            <a:xfrm>
              <a:off x="217775" y="326921"/>
              <a:ext cx="988628" cy="808436"/>
            </a:xfrm>
            <a:prstGeom prst="rect">
              <a:avLst/>
            </a:prstGeom>
          </p:spPr>
          <p:txBody>
            <a:bodyPr lIns="0" tIns="0" rIns="0" bIns="0" rtlCol="0" anchor="t">
              <a:spAutoFit/>
            </a:bodyPr>
            <a:lstStyle/>
            <a:p>
              <a:pPr algn="ctr">
                <a:lnSpc>
                  <a:spcPts val="4614"/>
                </a:lnSpc>
              </a:pPr>
              <a:r>
                <a:rPr lang="en-US" sz="4195" b="1">
                  <a:solidFill>
                    <a:srgbClr val="FFFFFF"/>
                  </a:solidFill>
                  <a:latin typeface="Muli Bold"/>
                  <a:ea typeface="Muli Bold"/>
                  <a:cs typeface="Muli Bold"/>
                  <a:sym typeface="Muli Bold"/>
                </a:rPr>
                <a:t>01</a:t>
              </a:r>
            </a:p>
          </p:txBody>
        </p:sp>
      </p:grpSp>
      <p:sp>
        <p:nvSpPr>
          <p:cNvPr id="10" name="TextBox 10">
            <a:extLst>
              <a:ext uri="{FF2B5EF4-FFF2-40B4-BE49-F238E27FC236}">
                <a16:creationId xmlns:a16="http://schemas.microsoft.com/office/drawing/2014/main" id="{EDB6DE64-6240-8C09-ABD3-FAAB2EA9D4A4}"/>
              </a:ext>
            </a:extLst>
          </p:cNvPr>
          <p:cNvSpPr txBox="1"/>
          <p:nvPr/>
        </p:nvSpPr>
        <p:spPr>
          <a:xfrm>
            <a:off x="10798098" y="4429324"/>
            <a:ext cx="6461202" cy="1380726"/>
          </a:xfrm>
          <a:prstGeom prst="rect">
            <a:avLst/>
          </a:prstGeom>
        </p:spPr>
        <p:txBody>
          <a:bodyPr lIns="0" tIns="0" rIns="0" bIns="0" rtlCol="0" anchor="t">
            <a:spAutoFit/>
          </a:bodyPr>
          <a:lstStyle/>
          <a:p>
            <a:pPr algn="l">
              <a:lnSpc>
                <a:spcPts val="2800"/>
              </a:lnSpc>
              <a:spcBef>
                <a:spcPct val="0"/>
              </a:spcBef>
            </a:pPr>
            <a:r>
              <a:rPr lang="en-US" sz="2000" spc="-20" dirty="0">
                <a:solidFill>
                  <a:srgbClr val="FFFFFF"/>
                </a:solidFill>
                <a:latin typeface="Roboto Mono"/>
                <a:ea typeface="Roboto Mono"/>
                <a:cs typeface="Roboto Mono"/>
                <a:sym typeface="Roboto Mono"/>
              </a:rPr>
              <a:t>Presentations are communication tools that can be used as demonstrations, lectures, speeches, reports, and more. It is mostly presented before an audience.</a:t>
            </a:r>
          </a:p>
        </p:txBody>
      </p:sp>
      <p:sp>
        <p:nvSpPr>
          <p:cNvPr id="11" name="TextBox 11">
            <a:extLst>
              <a:ext uri="{FF2B5EF4-FFF2-40B4-BE49-F238E27FC236}">
                <a16:creationId xmlns:a16="http://schemas.microsoft.com/office/drawing/2014/main" id="{FA3A9772-746B-4BCB-687E-D277F2726037}"/>
              </a:ext>
            </a:extLst>
          </p:cNvPr>
          <p:cNvSpPr txBox="1"/>
          <p:nvPr/>
        </p:nvSpPr>
        <p:spPr>
          <a:xfrm>
            <a:off x="10798098" y="6964715"/>
            <a:ext cx="6461202" cy="1380726"/>
          </a:xfrm>
          <a:prstGeom prst="rect">
            <a:avLst/>
          </a:prstGeom>
        </p:spPr>
        <p:txBody>
          <a:bodyPr lIns="0" tIns="0" rIns="0" bIns="0" rtlCol="0" anchor="t">
            <a:spAutoFit/>
          </a:bodyPr>
          <a:lstStyle/>
          <a:p>
            <a:pPr algn="l">
              <a:lnSpc>
                <a:spcPts val="2800"/>
              </a:lnSpc>
              <a:spcBef>
                <a:spcPct val="0"/>
              </a:spcBef>
            </a:pPr>
            <a:r>
              <a:rPr lang="en-US" sz="2000" spc="-20" dirty="0">
                <a:solidFill>
                  <a:srgbClr val="FFFFFF"/>
                </a:solidFill>
                <a:latin typeface="Roboto Mono"/>
                <a:ea typeface="Roboto Mono"/>
                <a:cs typeface="Roboto Mono"/>
                <a:sym typeface="Roboto Mono"/>
              </a:rPr>
              <a:t>Presentations are communication tools that can be used as demonstrations, lectures, speeches, reports, and more. It is mostly presented before an audience.</a:t>
            </a:r>
          </a:p>
        </p:txBody>
      </p:sp>
      <p:grpSp>
        <p:nvGrpSpPr>
          <p:cNvPr id="12" name="Group 12">
            <a:extLst>
              <a:ext uri="{FF2B5EF4-FFF2-40B4-BE49-F238E27FC236}">
                <a16:creationId xmlns:a16="http://schemas.microsoft.com/office/drawing/2014/main" id="{225665FE-ADD5-8F02-3A6F-F283C198AAB4}"/>
              </a:ext>
            </a:extLst>
          </p:cNvPr>
          <p:cNvGrpSpPr/>
          <p:nvPr/>
        </p:nvGrpSpPr>
        <p:grpSpPr>
          <a:xfrm>
            <a:off x="8980668" y="3361190"/>
            <a:ext cx="1068134" cy="1068134"/>
            <a:chOff x="0" y="0"/>
            <a:chExt cx="1424179" cy="1424179"/>
          </a:xfrm>
        </p:grpSpPr>
        <p:grpSp>
          <p:nvGrpSpPr>
            <p:cNvPr id="13" name="Group 13">
              <a:extLst>
                <a:ext uri="{FF2B5EF4-FFF2-40B4-BE49-F238E27FC236}">
                  <a16:creationId xmlns:a16="http://schemas.microsoft.com/office/drawing/2014/main" id="{0BE15E57-7B79-407E-C990-ED9BD2E2825E}"/>
                </a:ext>
              </a:extLst>
            </p:cNvPr>
            <p:cNvGrpSpPr/>
            <p:nvPr/>
          </p:nvGrpSpPr>
          <p:grpSpPr>
            <a:xfrm>
              <a:off x="0" y="0"/>
              <a:ext cx="1424179" cy="1424179"/>
              <a:chOff x="0" y="0"/>
              <a:chExt cx="6350000" cy="6350000"/>
            </a:xfrm>
          </p:grpSpPr>
          <p:sp>
            <p:nvSpPr>
              <p:cNvPr id="14" name="Freeform 14">
                <a:extLst>
                  <a:ext uri="{FF2B5EF4-FFF2-40B4-BE49-F238E27FC236}">
                    <a16:creationId xmlns:a16="http://schemas.microsoft.com/office/drawing/2014/main" id="{1098DB83-6530-B986-BE9C-31387ED4151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5" name="TextBox 15">
              <a:extLst>
                <a:ext uri="{FF2B5EF4-FFF2-40B4-BE49-F238E27FC236}">
                  <a16:creationId xmlns:a16="http://schemas.microsoft.com/office/drawing/2014/main" id="{525D22BF-B1D1-F67E-DE28-44211324794F}"/>
                </a:ext>
              </a:extLst>
            </p:cNvPr>
            <p:cNvSpPr txBox="1"/>
            <p:nvPr/>
          </p:nvSpPr>
          <p:spPr>
            <a:xfrm>
              <a:off x="217775" y="326921"/>
              <a:ext cx="988628" cy="808436"/>
            </a:xfrm>
            <a:prstGeom prst="rect">
              <a:avLst/>
            </a:prstGeom>
          </p:spPr>
          <p:txBody>
            <a:bodyPr lIns="0" tIns="0" rIns="0" bIns="0" rtlCol="0" anchor="t">
              <a:spAutoFit/>
            </a:bodyPr>
            <a:lstStyle/>
            <a:p>
              <a:pPr algn="ctr">
                <a:lnSpc>
                  <a:spcPts val="4614"/>
                </a:lnSpc>
              </a:pPr>
              <a:r>
                <a:rPr lang="en-US" sz="4195" b="1">
                  <a:solidFill>
                    <a:srgbClr val="FFFFFF"/>
                  </a:solidFill>
                  <a:latin typeface="Muli Bold"/>
                  <a:ea typeface="Muli Bold"/>
                  <a:cs typeface="Muli Bold"/>
                  <a:sym typeface="Muli Bold"/>
                </a:rPr>
                <a:t>02</a:t>
              </a:r>
            </a:p>
          </p:txBody>
        </p:sp>
      </p:grpSp>
      <p:grpSp>
        <p:nvGrpSpPr>
          <p:cNvPr id="16" name="Group 16">
            <a:extLst>
              <a:ext uri="{FF2B5EF4-FFF2-40B4-BE49-F238E27FC236}">
                <a16:creationId xmlns:a16="http://schemas.microsoft.com/office/drawing/2014/main" id="{656D8B27-BE6A-DBA3-4D45-8FC2A7C8EFBF}"/>
              </a:ext>
            </a:extLst>
          </p:cNvPr>
          <p:cNvGrpSpPr/>
          <p:nvPr/>
        </p:nvGrpSpPr>
        <p:grpSpPr>
          <a:xfrm>
            <a:off x="9015644" y="6160075"/>
            <a:ext cx="1068134" cy="1068134"/>
            <a:chOff x="0" y="0"/>
            <a:chExt cx="1424179" cy="1424179"/>
          </a:xfrm>
        </p:grpSpPr>
        <p:grpSp>
          <p:nvGrpSpPr>
            <p:cNvPr id="17" name="Group 17">
              <a:extLst>
                <a:ext uri="{FF2B5EF4-FFF2-40B4-BE49-F238E27FC236}">
                  <a16:creationId xmlns:a16="http://schemas.microsoft.com/office/drawing/2014/main" id="{214805C0-B936-C5CF-803B-15DB291A4D71}"/>
                </a:ext>
              </a:extLst>
            </p:cNvPr>
            <p:cNvGrpSpPr/>
            <p:nvPr/>
          </p:nvGrpSpPr>
          <p:grpSpPr>
            <a:xfrm>
              <a:off x="0" y="0"/>
              <a:ext cx="1424179" cy="1424179"/>
              <a:chOff x="0" y="0"/>
              <a:chExt cx="6350000" cy="6350000"/>
            </a:xfrm>
          </p:grpSpPr>
          <p:sp>
            <p:nvSpPr>
              <p:cNvPr id="18" name="Freeform 18">
                <a:extLst>
                  <a:ext uri="{FF2B5EF4-FFF2-40B4-BE49-F238E27FC236}">
                    <a16:creationId xmlns:a16="http://schemas.microsoft.com/office/drawing/2014/main" id="{1D80E0B2-8B6A-2680-D6C2-60FBC91417E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9" name="TextBox 19">
              <a:extLst>
                <a:ext uri="{FF2B5EF4-FFF2-40B4-BE49-F238E27FC236}">
                  <a16:creationId xmlns:a16="http://schemas.microsoft.com/office/drawing/2014/main" id="{B1758A1A-2A40-46BF-45F4-EC8DD82AA4B8}"/>
                </a:ext>
              </a:extLst>
            </p:cNvPr>
            <p:cNvSpPr txBox="1"/>
            <p:nvPr/>
          </p:nvSpPr>
          <p:spPr>
            <a:xfrm>
              <a:off x="217775" y="326921"/>
              <a:ext cx="988628" cy="808436"/>
            </a:xfrm>
            <a:prstGeom prst="rect">
              <a:avLst/>
            </a:prstGeom>
          </p:spPr>
          <p:txBody>
            <a:bodyPr lIns="0" tIns="0" rIns="0" bIns="0" rtlCol="0" anchor="t">
              <a:spAutoFit/>
            </a:bodyPr>
            <a:lstStyle/>
            <a:p>
              <a:pPr algn="ctr">
                <a:lnSpc>
                  <a:spcPts val="4614"/>
                </a:lnSpc>
              </a:pPr>
              <a:r>
                <a:rPr lang="en-US" sz="4195" b="1">
                  <a:solidFill>
                    <a:srgbClr val="FFFFFF"/>
                  </a:solidFill>
                  <a:latin typeface="Muli Bold"/>
                  <a:ea typeface="Muli Bold"/>
                  <a:cs typeface="Muli Bold"/>
                  <a:sym typeface="Muli Bold"/>
                </a:rPr>
                <a:t>03</a:t>
              </a:r>
            </a:p>
          </p:txBody>
        </p:sp>
      </p:grpSp>
      <p:sp>
        <p:nvSpPr>
          <p:cNvPr id="20" name="TextBox 19">
            <a:extLst>
              <a:ext uri="{FF2B5EF4-FFF2-40B4-BE49-F238E27FC236}">
                <a16:creationId xmlns:a16="http://schemas.microsoft.com/office/drawing/2014/main" id="{62331DB7-A5CF-9B4A-07E7-8C8844773822}"/>
              </a:ext>
            </a:extLst>
          </p:cNvPr>
          <p:cNvSpPr txBox="1"/>
          <p:nvPr/>
        </p:nvSpPr>
        <p:spPr>
          <a:xfrm>
            <a:off x="10886607" y="6212546"/>
            <a:ext cx="7391400" cy="2246769"/>
          </a:xfrm>
          <a:prstGeom prst="rect">
            <a:avLst/>
          </a:prstGeom>
          <a:noFill/>
        </p:spPr>
        <p:txBody>
          <a:bodyPr wrap="square" rtlCol="0">
            <a:spAutoFit/>
          </a:bodyPr>
          <a:lstStyle/>
          <a:p>
            <a:r>
              <a:rPr lang="en-GB" sz="2000" b="1" dirty="0">
                <a:latin typeface="Roboto Mono" panose="00000009000000000000" pitchFamily="49" charset="0"/>
                <a:ea typeface="Roboto Mono" panose="00000009000000000000" pitchFamily="49" charset="0"/>
              </a:rPr>
              <a:t>The system demonstrates why human expertise remains essential.</a:t>
            </a:r>
            <a:r>
              <a:rPr lang="en-GB" sz="2000" dirty="0">
                <a:latin typeface="Roboto Mono" panose="00000009000000000000" pitchFamily="49" charset="0"/>
                <a:ea typeface="Roboto Mono" panose="00000009000000000000" pitchFamily="49" charset="0"/>
              </a:rPr>
              <a:t> While AI agents detect bias and quantify uncertainty, only human statisticians can make critical value judgments about fairness trade-offs and interpret results contextually, showing AI should amplify rather than replace statistical expertise.</a:t>
            </a:r>
            <a:endParaRPr lang="en-MY" sz="2000" dirty="0">
              <a:latin typeface="Roboto Mono" panose="00000009000000000000" pitchFamily="49" charset="0"/>
              <a:ea typeface="Roboto Mono" panose="00000009000000000000" pitchFamily="49" charset="0"/>
            </a:endParaRPr>
          </a:p>
        </p:txBody>
      </p:sp>
      <p:sp>
        <p:nvSpPr>
          <p:cNvPr id="21" name="TextBox 20">
            <a:extLst>
              <a:ext uri="{FF2B5EF4-FFF2-40B4-BE49-F238E27FC236}">
                <a16:creationId xmlns:a16="http://schemas.microsoft.com/office/drawing/2014/main" id="{7A54010F-1536-6819-B703-84E1E5E3ADEC}"/>
              </a:ext>
            </a:extLst>
          </p:cNvPr>
          <p:cNvSpPr txBox="1"/>
          <p:nvPr/>
        </p:nvSpPr>
        <p:spPr>
          <a:xfrm>
            <a:off x="10896600" y="562305"/>
            <a:ext cx="7391400" cy="2554545"/>
          </a:xfrm>
          <a:prstGeom prst="rect">
            <a:avLst/>
          </a:prstGeom>
          <a:noFill/>
        </p:spPr>
        <p:txBody>
          <a:bodyPr wrap="square" rtlCol="0">
            <a:spAutoFit/>
          </a:bodyPr>
          <a:lstStyle/>
          <a:p>
            <a:r>
              <a:rPr lang="en-GB" sz="2000" b="1" dirty="0">
                <a:latin typeface="Roboto Mono" panose="00000009000000000000" pitchFamily="49" charset="0"/>
                <a:ea typeface="Roboto Mono" panose="00000009000000000000" pitchFamily="49" charset="0"/>
              </a:rPr>
              <a:t>Three AI agents guided by human decisions.</a:t>
            </a:r>
            <a:r>
              <a:rPr lang="en-GB" sz="2000" dirty="0">
                <a:latin typeface="Roboto Mono" panose="00000009000000000000" pitchFamily="49" charset="0"/>
                <a:ea typeface="Roboto Mono" panose="00000009000000000000" pitchFamily="49" charset="0"/>
              </a:rPr>
              <a:t> </a:t>
            </a:r>
          </a:p>
          <a:p>
            <a:r>
              <a:rPr lang="en-GB" sz="2000" dirty="0">
                <a:latin typeface="Roboto Mono" panose="00000009000000000000" pitchFamily="49" charset="0"/>
                <a:ea typeface="Roboto Mono" panose="00000009000000000000" pitchFamily="49" charset="0"/>
              </a:rPr>
              <a:t>The Statistical Feedback Agent detects systemic bias in the PUMS income data, requiring human statisticians to choose between documenting reality (using all variables) or applying fairness constraints (excluding protected attributes such as gender and race) - an ethical judgment AI cannot make.</a:t>
            </a:r>
            <a:endParaRPr lang="en-MY" sz="2000" dirty="0">
              <a:latin typeface="Roboto Mono" panose="00000009000000000000" pitchFamily="49" charset="0"/>
              <a:ea typeface="Roboto Mono" panose="00000009000000000000" pitchFamily="49" charset="0"/>
            </a:endParaRPr>
          </a:p>
        </p:txBody>
      </p:sp>
      <p:sp>
        <p:nvSpPr>
          <p:cNvPr id="22" name="TextBox 21">
            <a:extLst>
              <a:ext uri="{FF2B5EF4-FFF2-40B4-BE49-F238E27FC236}">
                <a16:creationId xmlns:a16="http://schemas.microsoft.com/office/drawing/2014/main" id="{9BD53D75-E8AC-3713-3FB6-1711BE7F1020}"/>
              </a:ext>
            </a:extLst>
          </p:cNvPr>
          <p:cNvSpPr txBox="1"/>
          <p:nvPr/>
        </p:nvSpPr>
        <p:spPr>
          <a:xfrm>
            <a:off x="10896600" y="3274660"/>
            <a:ext cx="7391400" cy="2246769"/>
          </a:xfrm>
          <a:prstGeom prst="rect">
            <a:avLst/>
          </a:prstGeom>
          <a:noFill/>
        </p:spPr>
        <p:txBody>
          <a:bodyPr wrap="square" rtlCol="0">
            <a:spAutoFit/>
          </a:bodyPr>
          <a:lstStyle/>
          <a:p>
            <a:r>
              <a:rPr lang="en-GB" sz="2000" b="1" dirty="0">
                <a:latin typeface="Roboto Mono" panose="00000009000000000000" pitchFamily="49" charset="0"/>
                <a:ea typeface="Roboto Mono" panose="00000009000000000000" pitchFamily="49" charset="0"/>
              </a:rPr>
              <a:t>Forecast uncertainty combines two methods working with the same features.</a:t>
            </a:r>
            <a:r>
              <a:rPr lang="en-GB" sz="2000" dirty="0">
                <a:latin typeface="Roboto Mono" panose="00000009000000000000" pitchFamily="49" charset="0"/>
                <a:ea typeface="Roboto Mono" panose="00000009000000000000" pitchFamily="49" charset="0"/>
              </a:rPr>
              <a:t> </a:t>
            </a:r>
          </a:p>
          <a:p>
            <a:r>
              <a:rPr lang="en-GB" sz="2000" dirty="0">
                <a:latin typeface="Roboto Mono" panose="00000009000000000000" pitchFamily="49" charset="0"/>
                <a:ea typeface="Roboto Mono" panose="00000009000000000000" pitchFamily="49" charset="0"/>
              </a:rPr>
              <a:t>Bayesian Ridge regression provides income predictions with model uncertainty, while Conformal Prediction creates guaranteed coverage intervals (e.g., "90% will contain true income") regardless of model assumptions.</a:t>
            </a:r>
            <a:endParaRPr lang="en-MY" sz="2000" dirty="0">
              <a:latin typeface="Roboto Mono" panose="00000009000000000000" pitchFamily="49" charset="0"/>
              <a:ea typeface="Roboto Mono" panose="00000009000000000000" pitchFamily="49" charset="0"/>
            </a:endParaRPr>
          </a:p>
        </p:txBody>
      </p:sp>
      <p:sp>
        <p:nvSpPr>
          <p:cNvPr id="23" name="TextBox 22">
            <a:extLst>
              <a:ext uri="{FF2B5EF4-FFF2-40B4-BE49-F238E27FC236}">
                <a16:creationId xmlns:a16="http://schemas.microsoft.com/office/drawing/2014/main" id="{8D12592C-F6BD-FBA5-2ED9-149140A72366}"/>
              </a:ext>
            </a:extLst>
          </p:cNvPr>
          <p:cNvSpPr txBox="1"/>
          <p:nvPr/>
        </p:nvSpPr>
        <p:spPr>
          <a:xfrm>
            <a:off x="9645422" y="8774444"/>
            <a:ext cx="8766553" cy="923330"/>
          </a:xfrm>
          <a:prstGeom prst="rect">
            <a:avLst/>
          </a:prstGeom>
          <a:noFill/>
        </p:spPr>
        <p:txBody>
          <a:bodyPr wrap="square" rtlCol="0">
            <a:spAutoFit/>
          </a:bodyPr>
          <a:lstStyle/>
          <a:p>
            <a:r>
              <a:rPr lang="en-MY" dirty="0"/>
              <a:t>Focus is on the gender wage gap (median income) and race wage gap (difference between highest and lowest wage by race)</a:t>
            </a:r>
          </a:p>
          <a:p>
            <a:r>
              <a:rPr lang="en-MY" dirty="0"/>
              <a:t>Systemic gender and race wage bias is documented in literatures such as </a:t>
            </a:r>
            <a:r>
              <a:rPr lang="en-MY" dirty="0">
                <a:hlinkClick r:id="rId2" action="ppaction://hlinksldjump"/>
              </a:rPr>
              <a:t>6</a:t>
            </a:r>
            <a:r>
              <a:rPr lang="en-MY" dirty="0"/>
              <a:t>.</a:t>
            </a:r>
          </a:p>
        </p:txBody>
      </p:sp>
    </p:spTree>
    <p:extLst>
      <p:ext uri="{BB962C8B-B14F-4D97-AF65-F5344CB8AC3E}">
        <p14:creationId xmlns:p14="http://schemas.microsoft.com/office/powerpoint/2010/main" val="27261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B9E7-BEC2-D3A2-2709-B2144D9F593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6CAB3A8-3124-C9ED-16F3-F8D367F462CA}"/>
              </a:ext>
            </a:extLst>
          </p:cNvPr>
          <p:cNvSpPr txBox="1"/>
          <p:nvPr/>
        </p:nvSpPr>
        <p:spPr>
          <a:xfrm>
            <a:off x="6454473" y="300552"/>
            <a:ext cx="10741327" cy="1846659"/>
          </a:xfrm>
          <a:prstGeom prst="rect">
            <a:avLst/>
          </a:prstGeom>
        </p:spPr>
        <p:txBody>
          <a:bodyPr lIns="0" tIns="0" rIns="0" bIns="0" rtlCol="0" anchor="t">
            <a:spAutoFit/>
          </a:bodyPr>
          <a:lstStyle/>
          <a:p>
            <a:pPr>
              <a:lnSpc>
                <a:spcPts val="7150"/>
              </a:lnSpc>
            </a:pPr>
            <a:r>
              <a:rPr lang="en-MY" sz="6600" dirty="0"/>
              <a:t>Statistician in the Loop : The method</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001C74B1-225C-C41E-51F0-D0C89CB51C64}"/>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B1F8DB7-563A-85A0-221C-2A6C13C207B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01E66A37-96BE-7CDB-3E41-A35AB899B4C1}"/>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F47FE5C1-4556-3B25-19E2-CE6152BDD5C9}"/>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4D695C94-B285-02BE-518C-E28138225137}"/>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ECBC497F-E201-B4D5-3D74-1293FB48C714}"/>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6310C0B-54D8-466E-4DF1-3D7D9BD31CD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2777147A-B629-E3E3-603E-6B809B17904D}"/>
              </a:ext>
            </a:extLst>
          </p:cNvPr>
          <p:cNvGraphicFramePr>
            <a:graphicFrameLocks noGrp="1"/>
          </p:cNvGraphicFramePr>
          <p:nvPr>
            <p:extLst>
              <p:ext uri="{D42A27DB-BD31-4B8C-83A1-F6EECF244321}">
                <p14:modId xmlns:p14="http://schemas.microsoft.com/office/powerpoint/2010/main" val="3748911033"/>
              </p:ext>
            </p:extLst>
          </p:nvPr>
        </p:nvGraphicFramePr>
        <p:xfrm>
          <a:off x="4794226" y="2151583"/>
          <a:ext cx="12192000" cy="76809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2800" dirty="0">
                          <a:latin typeface="Roboto Mono" panose="00000009000000000000" pitchFamily="49" charset="0"/>
                          <a:ea typeface="Roboto Mono" panose="00000009000000000000" pitchFamily="49" charset="0"/>
                        </a:rPr>
                        <a:t>AI finds answers; statisticians ask the right questions.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latin typeface="Roboto Mono" panose="00000009000000000000" pitchFamily="49" charset="0"/>
                          <a:ea typeface="Roboto Mono" panose="00000009000000000000" pitchFamily="49" charset="0"/>
                        </a:rPr>
                        <a:t>Step 1: </a:t>
                      </a:r>
                      <a:r>
                        <a:rPr lang="en-GB" sz="2400" b="1" dirty="0">
                          <a:latin typeface="Roboto Mono" panose="00000009000000000000" pitchFamily="49" charset="0"/>
                          <a:ea typeface="Roboto Mono" panose="00000009000000000000" pitchFamily="49" charset="0"/>
                        </a:rPr>
                        <a:t>Bias Detection</a:t>
                      </a:r>
                      <a:r>
                        <a:rPr lang="en-GB" sz="2400" dirty="0">
                          <a:latin typeface="Roboto Mono" panose="00000009000000000000" pitchFamily="49" charset="0"/>
                          <a:ea typeface="Roboto Mono" panose="00000009000000000000" pitchFamily="49" charset="0"/>
                        </a:rPr>
                        <a:t>: The Statistical Feedback Agent flags multiple sources of bias in the data, including a 25% median gender gap and 75.8% income gap between racial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Step 2: </a:t>
                      </a:r>
                      <a:r>
                        <a:rPr lang="en-GB" sz="2400" b="1" dirty="0">
                          <a:latin typeface="Roboto Mono" panose="00000009000000000000" pitchFamily="49" charset="0"/>
                          <a:ea typeface="Roboto Mono" panose="00000009000000000000" pitchFamily="49" charset="0"/>
                        </a:rPr>
                        <a:t>Human Decision Point #1</a:t>
                      </a:r>
                      <a:r>
                        <a:rPr lang="en-GB" sz="2400" dirty="0">
                          <a:latin typeface="Roboto Mono" panose="00000009000000000000" pitchFamily="49" charset="0"/>
                          <a:ea typeface="Roboto Mono" panose="00000009000000000000" pitchFamily="49" charset="0"/>
                        </a:rPr>
                        <a:t>: The statistician decides how to handle the detected bias (e.g., apply fairness constraints).</a:t>
                      </a: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Step 3: </a:t>
                      </a:r>
                      <a:r>
                        <a:rPr lang="en-GB" sz="2400" b="1" dirty="0">
                          <a:latin typeface="Roboto Mono" panose="00000009000000000000" pitchFamily="49" charset="0"/>
                          <a:ea typeface="Roboto Mono" panose="00000009000000000000" pitchFamily="49" charset="0"/>
                        </a:rPr>
                        <a:t>Fair Model</a:t>
                      </a:r>
                      <a:r>
                        <a:rPr lang="en-GB" sz="2400" dirty="0">
                          <a:latin typeface="Roboto Mono" panose="00000009000000000000" pitchFamily="49" charset="0"/>
                          <a:ea typeface="Roboto Mono" panose="00000009000000000000" pitchFamily="49" charset="0"/>
                        </a:rPr>
                        <a:t>: A fairness-aware model is built using only age, education level and hours worked per week while excluding gender and race</a:t>
                      </a:r>
                    </a:p>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400" dirty="0">
                          <a:latin typeface="Roboto Mono" panose="00000009000000000000" pitchFamily="49" charset="0"/>
                          <a:ea typeface="Roboto Mono" panose="00000009000000000000" pitchFamily="49" charset="0"/>
                        </a:rPr>
                        <a:t>Step 4: </a:t>
                      </a:r>
                      <a:r>
                        <a:rPr lang="en-MY" sz="2400" b="1" dirty="0">
                          <a:latin typeface="Roboto Mono" panose="00000009000000000000" pitchFamily="49" charset="0"/>
                          <a:ea typeface="Roboto Mono" panose="00000009000000000000" pitchFamily="49" charset="0"/>
                        </a:rPr>
                        <a:t>Conformal Prediction</a:t>
                      </a:r>
                      <a:r>
                        <a:rPr lang="en-MY" sz="2400" dirty="0">
                          <a:latin typeface="Roboto Mono" panose="00000009000000000000" pitchFamily="49" charset="0"/>
                          <a:ea typeface="Roboto Mono" panose="00000009000000000000" pitchFamily="49" charset="0"/>
                        </a:rPr>
                        <a:t>: Conformal provides distribution-free prediction intervals version of the Bayesian model to test the Bayesian assumptions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Tree>
    <p:extLst>
      <p:ext uri="{BB962C8B-B14F-4D97-AF65-F5344CB8AC3E}">
        <p14:creationId xmlns:p14="http://schemas.microsoft.com/office/powerpoint/2010/main" val="2954312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E4403-BCE4-D22D-1FB7-EF4EAEF47A0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6207DF7-6EDF-C20F-6A55-E93CAD83310D}"/>
              </a:ext>
            </a:extLst>
          </p:cNvPr>
          <p:cNvSpPr txBox="1"/>
          <p:nvPr/>
        </p:nvSpPr>
        <p:spPr>
          <a:xfrm>
            <a:off x="5297336" y="375964"/>
            <a:ext cx="10741327" cy="2769989"/>
          </a:xfrm>
          <a:prstGeom prst="rect">
            <a:avLst/>
          </a:prstGeom>
        </p:spPr>
        <p:txBody>
          <a:bodyPr lIns="0" tIns="0" rIns="0" bIns="0" rtlCol="0" anchor="t">
            <a:spAutoFit/>
          </a:bodyPr>
          <a:lstStyle/>
          <a:p>
            <a:pPr>
              <a:lnSpc>
                <a:spcPts val="7150"/>
              </a:lnSpc>
            </a:pPr>
            <a:r>
              <a:rPr lang="en-MY" sz="6600" dirty="0">
                <a:latin typeface="Roboto Mono" panose="00000009000000000000" pitchFamily="49" charset="0"/>
                <a:ea typeface="Roboto Mono" panose="00000009000000000000" pitchFamily="49" charset="0"/>
              </a:rPr>
              <a:t>Statistician in the Loop interacting with Agents</a:t>
            </a:r>
            <a:endParaRPr lang="en-US" sz="6500" b="1" dirty="0">
              <a:solidFill>
                <a:srgbClr val="000000"/>
              </a:solidFill>
              <a:latin typeface="Roboto Mono" panose="00000009000000000000" pitchFamily="49" charset="0"/>
              <a:ea typeface="Roboto Mono" panose="00000009000000000000" pitchFamily="49" charset="0"/>
              <a:cs typeface="Muli Bold"/>
              <a:sym typeface="Muli Bold"/>
            </a:endParaRPr>
          </a:p>
        </p:txBody>
      </p:sp>
      <p:grpSp>
        <p:nvGrpSpPr>
          <p:cNvPr id="6" name="Group 6">
            <a:extLst>
              <a:ext uri="{FF2B5EF4-FFF2-40B4-BE49-F238E27FC236}">
                <a16:creationId xmlns:a16="http://schemas.microsoft.com/office/drawing/2014/main" id="{5C3D34AC-4692-92F1-725C-647A81AE63B0}"/>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ECFEE95C-A6FD-516C-3382-23A334EEAE0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11" name="Group 11">
            <a:extLst>
              <a:ext uri="{FF2B5EF4-FFF2-40B4-BE49-F238E27FC236}">
                <a16:creationId xmlns:a16="http://schemas.microsoft.com/office/drawing/2014/main" id="{8BBDA209-90F7-B3CA-B40D-1E7740E9B6DD}"/>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B50C5E60-10C9-C273-674F-07F2B7EB12F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4" name="Rectangle 3">
            <a:extLst>
              <a:ext uri="{FF2B5EF4-FFF2-40B4-BE49-F238E27FC236}">
                <a16:creationId xmlns:a16="http://schemas.microsoft.com/office/drawing/2014/main" id="{D484F290-D72A-8E61-31C3-2802512B7724}"/>
              </a:ext>
            </a:extLst>
          </p:cNvPr>
          <p:cNvSpPr/>
          <p:nvPr/>
        </p:nvSpPr>
        <p:spPr>
          <a:xfrm>
            <a:off x="10058400" y="4610100"/>
            <a:ext cx="12192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nvGrpSpPr>
          <p:cNvPr id="22" name="Group 21">
            <a:extLst>
              <a:ext uri="{FF2B5EF4-FFF2-40B4-BE49-F238E27FC236}">
                <a16:creationId xmlns:a16="http://schemas.microsoft.com/office/drawing/2014/main" id="{74330301-0D73-F543-D576-6323CFECE92B}"/>
              </a:ext>
            </a:extLst>
          </p:cNvPr>
          <p:cNvGrpSpPr/>
          <p:nvPr/>
        </p:nvGrpSpPr>
        <p:grpSpPr>
          <a:xfrm>
            <a:off x="4305299" y="3619500"/>
            <a:ext cx="12725400" cy="4096287"/>
            <a:chOff x="4191000" y="1961613"/>
            <a:chExt cx="12264978" cy="4096287"/>
          </a:xfrm>
        </p:grpSpPr>
        <p:pic>
          <p:nvPicPr>
            <p:cNvPr id="14" name="Picture 2" descr="Generated image">
              <a:extLst>
                <a:ext uri="{FF2B5EF4-FFF2-40B4-BE49-F238E27FC236}">
                  <a16:creationId xmlns:a16="http://schemas.microsoft.com/office/drawing/2014/main" id="{EC71118B-09D9-35BD-648F-E03921DF2E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7430"/>
            <a:stretch>
              <a:fillRect/>
            </a:stretch>
          </p:blipFill>
          <p:spPr bwMode="auto">
            <a:xfrm>
              <a:off x="4191000" y="1961613"/>
              <a:ext cx="12264978" cy="3480782"/>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81CAC0DC-69FE-4D74-5591-4BB76E0D2180}"/>
                </a:ext>
              </a:extLst>
            </p:cNvPr>
            <p:cNvSpPr/>
            <p:nvPr/>
          </p:nvSpPr>
          <p:spPr>
            <a:xfrm>
              <a:off x="4800600" y="5600700"/>
              <a:ext cx="754380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3" name="TextBox 22">
            <a:extLst>
              <a:ext uri="{FF2B5EF4-FFF2-40B4-BE49-F238E27FC236}">
                <a16:creationId xmlns:a16="http://schemas.microsoft.com/office/drawing/2014/main" id="{22031072-5CF2-76F5-F63E-29E5DBEE700C}"/>
              </a:ext>
            </a:extLst>
          </p:cNvPr>
          <p:cNvSpPr txBox="1"/>
          <p:nvPr/>
        </p:nvSpPr>
        <p:spPr>
          <a:xfrm>
            <a:off x="4419600" y="7659623"/>
            <a:ext cx="2667000" cy="1569660"/>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Bias</a:t>
            </a:r>
          </a:p>
          <a:p>
            <a:r>
              <a:rPr lang="en-MY" sz="3200" dirty="0">
                <a:latin typeface="Roboto Mono" panose="00000009000000000000" pitchFamily="49" charset="0"/>
                <a:ea typeface="Roboto Mono" panose="00000009000000000000" pitchFamily="49" charset="0"/>
              </a:rPr>
              <a:t>Detecting</a:t>
            </a:r>
          </a:p>
          <a:p>
            <a:r>
              <a:rPr lang="en-MY" sz="3200" dirty="0">
                <a:latin typeface="Roboto Mono" panose="00000009000000000000" pitchFamily="49" charset="0"/>
                <a:ea typeface="Roboto Mono" panose="00000009000000000000" pitchFamily="49" charset="0"/>
              </a:rPr>
              <a:t>Agent</a:t>
            </a:r>
          </a:p>
        </p:txBody>
      </p:sp>
      <p:sp>
        <p:nvSpPr>
          <p:cNvPr id="24" name="TextBox 23">
            <a:extLst>
              <a:ext uri="{FF2B5EF4-FFF2-40B4-BE49-F238E27FC236}">
                <a16:creationId xmlns:a16="http://schemas.microsoft.com/office/drawing/2014/main" id="{A4CBE675-B167-282C-5A8E-A50A0873A3D1}"/>
              </a:ext>
            </a:extLst>
          </p:cNvPr>
          <p:cNvSpPr txBox="1"/>
          <p:nvPr/>
        </p:nvSpPr>
        <p:spPr>
          <a:xfrm>
            <a:off x="11292590" y="7539701"/>
            <a:ext cx="2667000" cy="1077218"/>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Bayes Agent</a:t>
            </a:r>
          </a:p>
        </p:txBody>
      </p:sp>
      <p:sp>
        <p:nvSpPr>
          <p:cNvPr id="25" name="TextBox 24">
            <a:extLst>
              <a:ext uri="{FF2B5EF4-FFF2-40B4-BE49-F238E27FC236}">
                <a16:creationId xmlns:a16="http://schemas.microsoft.com/office/drawing/2014/main" id="{14F53DB7-718B-C10C-AA80-F4CB4E248783}"/>
              </a:ext>
            </a:extLst>
          </p:cNvPr>
          <p:cNvSpPr txBox="1"/>
          <p:nvPr/>
        </p:nvSpPr>
        <p:spPr>
          <a:xfrm>
            <a:off x="14097000" y="7715787"/>
            <a:ext cx="2667000" cy="1569660"/>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Conformal</a:t>
            </a:r>
          </a:p>
          <a:p>
            <a:r>
              <a:rPr lang="en-MY" sz="3200" dirty="0">
                <a:latin typeface="Roboto Mono" panose="00000009000000000000" pitchFamily="49" charset="0"/>
                <a:ea typeface="Roboto Mono" panose="00000009000000000000" pitchFamily="49" charset="0"/>
              </a:rPr>
              <a:t>Prediction</a:t>
            </a:r>
          </a:p>
          <a:p>
            <a:r>
              <a:rPr lang="en-MY" sz="3200" dirty="0">
                <a:latin typeface="Roboto Mono" panose="00000009000000000000" pitchFamily="49" charset="0"/>
                <a:ea typeface="Roboto Mono" panose="00000009000000000000" pitchFamily="49" charset="0"/>
              </a:rPr>
              <a:t>Agent</a:t>
            </a:r>
          </a:p>
        </p:txBody>
      </p:sp>
      <p:sp>
        <p:nvSpPr>
          <p:cNvPr id="26" name="TextBox 25">
            <a:extLst>
              <a:ext uri="{FF2B5EF4-FFF2-40B4-BE49-F238E27FC236}">
                <a16:creationId xmlns:a16="http://schemas.microsoft.com/office/drawing/2014/main" id="{A4EBAABD-5E3E-564C-75D1-9FFF90663E0F}"/>
              </a:ext>
            </a:extLst>
          </p:cNvPr>
          <p:cNvSpPr txBox="1"/>
          <p:nvPr/>
        </p:nvSpPr>
        <p:spPr>
          <a:xfrm>
            <a:off x="7500079" y="7678936"/>
            <a:ext cx="3124200" cy="2554545"/>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Statistician-in-the- Loop</a:t>
            </a:r>
          </a:p>
          <a:p>
            <a:r>
              <a:rPr lang="en-MY" sz="3200" dirty="0">
                <a:latin typeface="Roboto Mono" panose="00000009000000000000" pitchFamily="49" charset="0"/>
                <a:ea typeface="Roboto Mono" panose="00000009000000000000" pitchFamily="49" charset="0"/>
              </a:rPr>
              <a:t>Decision </a:t>
            </a:r>
          </a:p>
          <a:p>
            <a:r>
              <a:rPr lang="en-MY" sz="3200" dirty="0">
                <a:latin typeface="Roboto Mono" panose="00000009000000000000" pitchFamily="49" charset="0"/>
                <a:ea typeface="Roboto Mono" panose="00000009000000000000" pitchFamily="49" charset="0"/>
              </a:rPr>
              <a:t>Point</a:t>
            </a:r>
          </a:p>
        </p:txBody>
      </p:sp>
    </p:spTree>
    <p:extLst>
      <p:ext uri="{BB962C8B-B14F-4D97-AF65-F5344CB8AC3E}">
        <p14:creationId xmlns:p14="http://schemas.microsoft.com/office/powerpoint/2010/main" val="4057107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9B576-1060-C750-952B-0E5540CB43A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39508AD-A736-BD77-449C-03332722EC3F}"/>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The Challenge!</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24A84725-45FD-107A-3956-847C67FA0601}"/>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B4B80DB7-BABC-DBD1-2DB6-EECB51A6CFD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3E669AC2-7F2B-AAD0-2F18-0D922D1E5C9E}"/>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27E7758E-E6F5-8A17-2C3F-3AD1131660C4}"/>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2F4F08F3-CF6A-C40B-AD10-C825174B04E0}"/>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EFE6E482-2245-9E2A-FA61-937949E6C317}"/>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226906D6-ECA1-489E-DAEA-939697CE915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A851E0A4-D6CA-A166-DDCF-6FB543AAD1C9}"/>
              </a:ext>
            </a:extLst>
          </p:cNvPr>
          <p:cNvGraphicFramePr>
            <a:graphicFrameLocks noGrp="1"/>
          </p:cNvGraphicFramePr>
          <p:nvPr/>
        </p:nvGraphicFramePr>
        <p:xfrm>
          <a:off x="5455127" y="6896695"/>
          <a:ext cx="12192000" cy="26517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t>We traded 4.4% accuracy for a 99.6% gender bias reduction (although race bias increased by 23.46% )  while maintaining statistical rigor.</a:t>
                      </a:r>
                    </a:p>
                    <a:p>
                      <a:endParaRPr lang="en-GB" sz="2800" dirty="0"/>
                    </a:p>
                    <a:p>
                      <a:r>
                        <a:rPr lang="en-GB" sz="2800" dirty="0"/>
                        <a:t>Conformal prediction coverage affirmed that the basic gaussian distribution assumption of the Bayes model is true</a:t>
                      </a:r>
                    </a:p>
                    <a:p>
                      <a:endParaRPr lang="en-GB" sz="2800" b="1"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bl>
          </a:graphicData>
        </a:graphic>
      </p:graphicFrame>
      <p:sp>
        <p:nvSpPr>
          <p:cNvPr id="3" name="TextBox 2">
            <a:extLst>
              <a:ext uri="{FF2B5EF4-FFF2-40B4-BE49-F238E27FC236}">
                <a16:creationId xmlns:a16="http://schemas.microsoft.com/office/drawing/2014/main" id="{B1FF54C6-837E-3111-143B-4AB1F6C27621}"/>
              </a:ext>
            </a:extLst>
          </p:cNvPr>
          <p:cNvSpPr txBox="1"/>
          <p:nvPr/>
        </p:nvSpPr>
        <p:spPr>
          <a:xfrm>
            <a:off x="6327822" y="1969710"/>
            <a:ext cx="9906000" cy="523220"/>
          </a:xfrm>
          <a:prstGeom prst="rect">
            <a:avLst/>
          </a:prstGeom>
          <a:noFill/>
        </p:spPr>
        <p:txBody>
          <a:bodyPr wrap="square" rtlCol="0">
            <a:spAutoFit/>
          </a:bodyPr>
          <a:lstStyle/>
          <a:p>
            <a:r>
              <a:rPr lang="en-MY" sz="2400" dirty="0"/>
              <a:t>Trading accuracy for </a:t>
            </a:r>
            <a:r>
              <a:rPr lang="en-MY" sz="2800" dirty="0"/>
              <a:t>less Bias</a:t>
            </a:r>
            <a:endParaRPr lang="en-MY" sz="2400" dirty="0"/>
          </a:p>
        </p:txBody>
      </p:sp>
      <p:graphicFrame>
        <p:nvGraphicFramePr>
          <p:cNvPr id="13" name="Table 12">
            <a:extLst>
              <a:ext uri="{FF2B5EF4-FFF2-40B4-BE49-F238E27FC236}">
                <a16:creationId xmlns:a16="http://schemas.microsoft.com/office/drawing/2014/main" id="{B9D5A449-A151-D73C-D5FE-6A945432D06D}"/>
              </a:ext>
            </a:extLst>
          </p:cNvPr>
          <p:cNvGraphicFramePr>
            <a:graphicFrameLocks noGrp="1"/>
          </p:cNvGraphicFramePr>
          <p:nvPr/>
        </p:nvGraphicFramePr>
        <p:xfrm>
          <a:off x="5914608" y="4030980"/>
          <a:ext cx="12192000" cy="2225040"/>
        </p:xfrm>
        <a:graphic>
          <a:graphicData uri="http://schemas.openxmlformats.org/drawingml/2006/table">
            <a:tbl>
              <a:tblPr firstRow="1" bandRow="1">
                <a:tableStyleId>{93296810-A885-4BE3-A3E7-6D5BEEA58F35}</a:tableStyleId>
              </a:tblPr>
              <a:tblGrid>
                <a:gridCol w="3048000">
                  <a:extLst>
                    <a:ext uri="{9D8B030D-6E8A-4147-A177-3AD203B41FA5}">
                      <a16:colId xmlns:a16="http://schemas.microsoft.com/office/drawing/2014/main" val="1483195485"/>
                    </a:ext>
                  </a:extLst>
                </a:gridCol>
                <a:gridCol w="3048000">
                  <a:extLst>
                    <a:ext uri="{9D8B030D-6E8A-4147-A177-3AD203B41FA5}">
                      <a16:colId xmlns:a16="http://schemas.microsoft.com/office/drawing/2014/main" val="1625965974"/>
                    </a:ext>
                  </a:extLst>
                </a:gridCol>
                <a:gridCol w="3048000">
                  <a:extLst>
                    <a:ext uri="{9D8B030D-6E8A-4147-A177-3AD203B41FA5}">
                      <a16:colId xmlns:a16="http://schemas.microsoft.com/office/drawing/2014/main" val="114469795"/>
                    </a:ext>
                  </a:extLst>
                </a:gridCol>
                <a:gridCol w="3048000">
                  <a:extLst>
                    <a:ext uri="{9D8B030D-6E8A-4147-A177-3AD203B41FA5}">
                      <a16:colId xmlns:a16="http://schemas.microsoft.com/office/drawing/2014/main" val="939967550"/>
                    </a:ext>
                  </a:extLst>
                </a:gridCol>
              </a:tblGrid>
              <a:tr h="370840">
                <a:tc>
                  <a:txBody>
                    <a:bodyPr/>
                    <a:lstStyle/>
                    <a:p>
                      <a:pPr>
                        <a:buNone/>
                      </a:pPr>
                      <a:r>
                        <a:rPr lang="en-MY" dirty="0"/>
                        <a:t>Metric</a:t>
                      </a:r>
                    </a:p>
                  </a:txBody>
                  <a:tcPr anchor="ctr"/>
                </a:tc>
                <a:tc>
                  <a:txBody>
                    <a:bodyPr/>
                    <a:lstStyle/>
                    <a:p>
                      <a:pPr>
                        <a:buNone/>
                      </a:pPr>
                      <a:r>
                        <a:rPr lang="en-MY" dirty="0"/>
                        <a:t>Statistician in the Loop</a:t>
                      </a:r>
                    </a:p>
                  </a:txBody>
                  <a:tcPr anchor="ctr"/>
                </a:tc>
                <a:tc>
                  <a:txBody>
                    <a:bodyPr/>
                    <a:lstStyle/>
                    <a:p>
                      <a:pPr>
                        <a:buNone/>
                      </a:pPr>
                      <a:r>
                        <a:rPr lang="en-MY"/>
                        <a:t>Pure AI</a:t>
                      </a:r>
                    </a:p>
                  </a:txBody>
                  <a:tcPr anchor="ctr"/>
                </a:tc>
                <a:tc>
                  <a:txBody>
                    <a:bodyPr/>
                    <a:lstStyle/>
                    <a:p>
                      <a:pPr>
                        <a:buNone/>
                      </a:pPr>
                      <a:r>
                        <a:rPr lang="en-MY" dirty="0"/>
                        <a:t>Winner</a:t>
                      </a:r>
                    </a:p>
                  </a:txBody>
                  <a:tcPr anchor="ctr"/>
                </a:tc>
                <a:extLst>
                  <a:ext uri="{0D108BD9-81ED-4DB2-BD59-A6C34878D82A}">
                    <a16:rowId xmlns:a16="http://schemas.microsoft.com/office/drawing/2014/main" val="2032026858"/>
                  </a:ext>
                </a:extLst>
              </a:tr>
              <a:tr h="370840">
                <a:tc>
                  <a:txBody>
                    <a:bodyPr/>
                    <a:lstStyle/>
                    <a:p>
                      <a:pPr>
                        <a:buNone/>
                      </a:pPr>
                      <a:r>
                        <a:rPr lang="en-MY"/>
                        <a:t>Accuracy (R²)</a:t>
                      </a:r>
                    </a:p>
                  </a:txBody>
                  <a:tcPr anchor="ctr"/>
                </a:tc>
                <a:tc>
                  <a:txBody>
                    <a:bodyPr/>
                    <a:lstStyle/>
                    <a:p>
                      <a:pPr>
                        <a:buNone/>
                      </a:pPr>
                      <a:r>
                        <a:rPr lang="en-MY" dirty="0"/>
                        <a:t>0.263</a:t>
                      </a:r>
                    </a:p>
                  </a:txBody>
                  <a:tcPr anchor="ctr"/>
                </a:tc>
                <a:tc>
                  <a:txBody>
                    <a:bodyPr/>
                    <a:lstStyle/>
                    <a:p>
                      <a:pPr>
                        <a:buNone/>
                      </a:pPr>
                      <a:r>
                        <a:rPr lang="en-MY"/>
                        <a:t>0.275</a:t>
                      </a:r>
                    </a:p>
                  </a:txBody>
                  <a:tcPr anchor="ctr"/>
                </a:tc>
                <a:tc>
                  <a:txBody>
                    <a:bodyPr/>
                    <a:lstStyle/>
                    <a:p>
                      <a:pPr>
                        <a:buNone/>
                      </a:pPr>
                      <a:r>
                        <a:rPr lang="en-MY"/>
                        <a:t>AI</a:t>
                      </a:r>
                    </a:p>
                  </a:txBody>
                  <a:tcPr anchor="ctr"/>
                </a:tc>
                <a:extLst>
                  <a:ext uri="{0D108BD9-81ED-4DB2-BD59-A6C34878D82A}">
                    <a16:rowId xmlns:a16="http://schemas.microsoft.com/office/drawing/2014/main" val="3981997559"/>
                  </a:ext>
                </a:extLst>
              </a:tr>
              <a:tr h="370840">
                <a:tc>
                  <a:txBody>
                    <a:bodyPr/>
                    <a:lstStyle/>
                    <a:p>
                      <a:pPr>
                        <a:buNone/>
                      </a:pPr>
                      <a:r>
                        <a:rPr lang="en-MY"/>
                        <a:t>Gender Bias ($)</a:t>
                      </a:r>
                    </a:p>
                  </a:txBody>
                  <a:tcPr anchor="ctr"/>
                </a:tc>
                <a:tc>
                  <a:txBody>
                    <a:bodyPr/>
                    <a:lstStyle/>
                    <a:p>
                      <a:pPr>
                        <a:buNone/>
                      </a:pPr>
                      <a:r>
                        <a:rPr lang="en-MY" dirty="0"/>
                        <a:t>$39</a:t>
                      </a:r>
                    </a:p>
                  </a:txBody>
                  <a:tcPr anchor="ctr"/>
                </a:tc>
                <a:tc>
                  <a:txBody>
                    <a:bodyPr/>
                    <a:lstStyle/>
                    <a:p>
                      <a:pPr>
                        <a:buNone/>
                      </a:pPr>
                      <a:r>
                        <a:rPr lang="en-MY" dirty="0"/>
                        <a:t>$11,036</a:t>
                      </a:r>
                    </a:p>
                  </a:txBody>
                  <a:tcPr anchor="ctr"/>
                </a:tc>
                <a:tc>
                  <a:txBody>
                    <a:bodyPr/>
                    <a:lstStyle/>
                    <a:p>
                      <a:pPr>
                        <a:buNone/>
                      </a:pPr>
                      <a:r>
                        <a:rPr lang="en-MY"/>
                        <a:t>Human</a:t>
                      </a:r>
                    </a:p>
                  </a:txBody>
                  <a:tcPr anchor="ctr"/>
                </a:tc>
                <a:extLst>
                  <a:ext uri="{0D108BD9-81ED-4DB2-BD59-A6C34878D82A}">
                    <a16:rowId xmlns:a16="http://schemas.microsoft.com/office/drawing/2014/main" val="3066391091"/>
                  </a:ext>
                </a:extLst>
              </a:tr>
              <a:tr h="370840">
                <a:tc>
                  <a:txBody>
                    <a:bodyPr/>
                    <a:lstStyle/>
                    <a:p>
                      <a:pPr>
                        <a:buNone/>
                      </a:pPr>
                      <a:r>
                        <a:rPr lang="en-MY"/>
                        <a:t>Racial Bias ($)</a:t>
                      </a:r>
                    </a:p>
                  </a:txBody>
                  <a:tcPr anchor="ctr"/>
                </a:tc>
                <a:tc>
                  <a:txBody>
                    <a:bodyPr/>
                    <a:lstStyle/>
                    <a:p>
                      <a:pPr>
                        <a:buNone/>
                      </a:pPr>
                      <a:r>
                        <a:rPr lang="en-MY"/>
                        <a:t>$32,113</a:t>
                      </a:r>
                    </a:p>
                  </a:txBody>
                  <a:tcPr anchor="ctr"/>
                </a:tc>
                <a:tc>
                  <a:txBody>
                    <a:bodyPr/>
                    <a:lstStyle/>
                    <a:p>
                      <a:pPr>
                        <a:buNone/>
                      </a:pPr>
                      <a:r>
                        <a:rPr lang="en-MY" dirty="0"/>
                        <a:t>$26,009</a:t>
                      </a:r>
                    </a:p>
                  </a:txBody>
                  <a:tcPr anchor="ctr"/>
                </a:tc>
                <a:tc>
                  <a:txBody>
                    <a:bodyPr/>
                    <a:lstStyle/>
                    <a:p>
                      <a:pPr>
                        <a:buNone/>
                      </a:pPr>
                      <a:r>
                        <a:rPr lang="en-MY"/>
                        <a:t>AI</a:t>
                      </a:r>
                    </a:p>
                  </a:txBody>
                  <a:tcPr anchor="ctr"/>
                </a:tc>
                <a:extLst>
                  <a:ext uri="{0D108BD9-81ED-4DB2-BD59-A6C34878D82A}">
                    <a16:rowId xmlns:a16="http://schemas.microsoft.com/office/drawing/2014/main" val="643863952"/>
                  </a:ext>
                </a:extLst>
              </a:tr>
              <a:tr h="370840">
                <a:tc>
                  <a:txBody>
                    <a:bodyPr/>
                    <a:lstStyle/>
                    <a:p>
                      <a:pPr>
                        <a:buNone/>
                      </a:pPr>
                      <a:r>
                        <a:rPr lang="en-MY"/>
                        <a:t>Interval coverage</a:t>
                      </a:r>
                    </a:p>
                  </a:txBody>
                  <a:tcPr anchor="ctr"/>
                </a:tc>
                <a:tc>
                  <a:txBody>
                    <a:bodyPr/>
                    <a:lstStyle/>
                    <a:p>
                      <a:pPr>
                        <a:buNone/>
                      </a:pPr>
                      <a:r>
                        <a:rPr lang="en-MY"/>
                        <a:t>89.9</a:t>
                      </a:r>
                    </a:p>
                  </a:txBody>
                  <a:tcPr anchor="ctr"/>
                </a:tc>
                <a:tc>
                  <a:txBody>
                    <a:bodyPr/>
                    <a:lstStyle/>
                    <a:p>
                      <a:pPr>
                        <a:buNone/>
                      </a:pPr>
                      <a:r>
                        <a:rPr lang="en-MY" dirty="0"/>
                        <a:t>89.9</a:t>
                      </a:r>
                    </a:p>
                  </a:txBody>
                  <a:tcPr anchor="ctr"/>
                </a:tc>
                <a:tc>
                  <a:txBody>
                    <a:bodyPr/>
                    <a:lstStyle/>
                    <a:p>
                      <a:pPr>
                        <a:buNone/>
                      </a:pPr>
                      <a:r>
                        <a:rPr lang="en-MY"/>
                        <a:t>Tie</a:t>
                      </a:r>
                    </a:p>
                  </a:txBody>
                  <a:tcPr anchor="ctr"/>
                </a:tc>
                <a:extLst>
                  <a:ext uri="{0D108BD9-81ED-4DB2-BD59-A6C34878D82A}">
                    <a16:rowId xmlns:a16="http://schemas.microsoft.com/office/drawing/2014/main" val="3267679856"/>
                  </a:ext>
                </a:extLst>
              </a:tr>
              <a:tr h="370840">
                <a:tc>
                  <a:txBody>
                    <a:bodyPr/>
                    <a:lstStyle/>
                    <a:p>
                      <a:pPr>
                        <a:buNone/>
                      </a:pPr>
                      <a:r>
                        <a:rPr lang="en-MY"/>
                        <a:t>Transparency</a:t>
                      </a:r>
                    </a:p>
                  </a:txBody>
                  <a:tcPr anchor="ctr"/>
                </a:tc>
                <a:tc>
                  <a:txBody>
                    <a:bodyPr/>
                    <a:lstStyle/>
                    <a:p>
                      <a:pPr>
                        <a:buNone/>
                      </a:pPr>
                      <a:r>
                        <a:rPr lang="en-MY"/>
                        <a:t>High</a:t>
                      </a:r>
                    </a:p>
                  </a:txBody>
                  <a:tcPr anchor="ctr"/>
                </a:tc>
                <a:tc>
                  <a:txBody>
                    <a:bodyPr/>
                    <a:lstStyle/>
                    <a:p>
                      <a:pPr>
                        <a:buNone/>
                      </a:pPr>
                      <a:r>
                        <a:rPr lang="en-MY"/>
                        <a:t>Black-box</a:t>
                      </a:r>
                    </a:p>
                  </a:txBody>
                  <a:tcPr anchor="ctr"/>
                </a:tc>
                <a:tc>
                  <a:txBody>
                    <a:bodyPr/>
                    <a:lstStyle/>
                    <a:p>
                      <a:pPr>
                        <a:buNone/>
                      </a:pPr>
                      <a:r>
                        <a:rPr lang="en-MY" dirty="0"/>
                        <a:t>Human</a:t>
                      </a:r>
                    </a:p>
                  </a:txBody>
                  <a:tcPr anchor="ctr"/>
                </a:tc>
                <a:extLst>
                  <a:ext uri="{0D108BD9-81ED-4DB2-BD59-A6C34878D82A}">
                    <a16:rowId xmlns:a16="http://schemas.microsoft.com/office/drawing/2014/main" val="183404534"/>
                  </a:ext>
                </a:extLst>
              </a:tr>
            </a:tbl>
          </a:graphicData>
        </a:graphic>
      </p:graphicFrame>
    </p:spTree>
    <p:extLst>
      <p:ext uri="{BB962C8B-B14F-4D97-AF65-F5344CB8AC3E}">
        <p14:creationId xmlns:p14="http://schemas.microsoft.com/office/powerpoint/2010/main" val="1344083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70BFA-6B9C-F88C-20CB-C13A01F9D65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5B7E92C-2186-80AC-EFCF-93F2AE0936C1}"/>
              </a:ext>
            </a:extLst>
          </p:cNvPr>
          <p:cNvSpPr txBox="1"/>
          <p:nvPr/>
        </p:nvSpPr>
        <p:spPr>
          <a:xfrm>
            <a:off x="4495800" y="115370"/>
            <a:ext cx="13792200" cy="923330"/>
          </a:xfrm>
          <a:prstGeom prst="rect">
            <a:avLst/>
          </a:prstGeom>
        </p:spPr>
        <p:txBody>
          <a:bodyPr wrap="square" lIns="0" tIns="0" rIns="0" bIns="0" rtlCol="0" anchor="t">
            <a:spAutoFit/>
          </a:bodyPr>
          <a:lstStyle/>
          <a:p>
            <a:pPr>
              <a:lnSpc>
                <a:spcPts val="7150"/>
              </a:lnSpc>
            </a:pPr>
            <a:r>
              <a:rPr lang="en-MY" sz="6600" b="1" dirty="0">
                <a:solidFill>
                  <a:srgbClr val="000000"/>
                </a:solidFill>
                <a:latin typeface="Muli Bold"/>
                <a:ea typeface="Muli Bold"/>
                <a:cs typeface="Muli Bold"/>
                <a:sym typeface="Muli Bold"/>
              </a:rPr>
              <a:t>Statistician in the Loop: The effect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3CB30858-6B96-F2D3-EB01-3350AD780BF7}"/>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89D05E4C-115A-0026-6D3E-4AABDF84DD3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11" name="Group 11">
            <a:extLst>
              <a:ext uri="{FF2B5EF4-FFF2-40B4-BE49-F238E27FC236}">
                <a16:creationId xmlns:a16="http://schemas.microsoft.com/office/drawing/2014/main" id="{F3D6CED0-78E1-FD33-74A4-E210061F017F}"/>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B09C18D3-9D29-85D1-9937-324A2E43649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pic>
        <p:nvPicPr>
          <p:cNvPr id="14" name="Picture 13">
            <a:extLst>
              <a:ext uri="{FF2B5EF4-FFF2-40B4-BE49-F238E27FC236}">
                <a16:creationId xmlns:a16="http://schemas.microsoft.com/office/drawing/2014/main" id="{105317BC-9CF9-79E2-3754-23C1DBEC8E58}"/>
              </a:ext>
            </a:extLst>
          </p:cNvPr>
          <p:cNvPicPr>
            <a:picLocks noChangeAspect="1"/>
          </p:cNvPicPr>
          <p:nvPr/>
        </p:nvPicPr>
        <p:blipFill>
          <a:blip r:embed="rId2"/>
          <a:stretch>
            <a:fillRect/>
          </a:stretch>
        </p:blipFill>
        <p:spPr>
          <a:xfrm>
            <a:off x="2057400" y="1069594"/>
            <a:ext cx="16033772" cy="9217405"/>
          </a:xfrm>
          <a:prstGeom prst="rect">
            <a:avLst/>
          </a:prstGeom>
        </p:spPr>
      </p:pic>
    </p:spTree>
    <p:extLst>
      <p:ext uri="{BB962C8B-B14F-4D97-AF65-F5344CB8AC3E}">
        <p14:creationId xmlns:p14="http://schemas.microsoft.com/office/powerpoint/2010/main" val="1684529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3BBD9-D3D7-2FC3-19CC-1A2DD743EDF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AA76EB0-72AF-BACB-B004-DC67375264CB}"/>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MY" sz="6600" dirty="0"/>
              <a:t>The wisdom of asking the right questions</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E9E20B11-C504-66F1-6B4A-578F651E5A16}"/>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01BFD05-A94B-1ED4-DB38-FBE20C07552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97B1E9E0-5121-06C0-E33E-6AF0EAC43FF2}"/>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8E994C88-EAF3-966E-F224-5EA3830FFF9B}"/>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8C91B828-35A3-AF4A-64DE-71510BC55144}"/>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2CDC2781-984D-FA83-BF75-652BEEE27DA9}"/>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F6749A1F-B025-C067-2C0A-C5D37C0B537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120B620E-40FB-12DE-49DF-C05E4870F8DF}"/>
              </a:ext>
            </a:extLst>
          </p:cNvPr>
          <p:cNvGraphicFramePr>
            <a:graphicFrameLocks noGrp="1"/>
          </p:cNvGraphicFramePr>
          <p:nvPr>
            <p:extLst>
              <p:ext uri="{D42A27DB-BD31-4B8C-83A1-F6EECF244321}">
                <p14:modId xmlns:p14="http://schemas.microsoft.com/office/powerpoint/2010/main" val="1340362373"/>
              </p:ext>
            </p:extLst>
          </p:nvPr>
        </p:nvGraphicFramePr>
        <p:xfrm>
          <a:off x="4648200" y="3862319"/>
          <a:ext cx="12192000" cy="6474778"/>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#1 AI achieves 95% accuracy in predicting job performance.</a:t>
                      </a:r>
                    </a:p>
                    <a:p>
                      <a:pPr>
                        <a:buNone/>
                      </a:pPr>
                      <a:endParaRPr lang="en-GB" sz="4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Roboto Mono" panose="00000009000000000000" pitchFamily="49" charset="0"/>
                          <a:ea typeface="Roboto Mono" panose="00000009000000000000" pitchFamily="49" charset="0"/>
                        </a:rPr>
                        <a:t>A statistician asks about fairness, protected characteristics, and the definition of "performance".</a:t>
                      </a:r>
                      <a:endParaRPr lang="en-MY" sz="3200" dirty="0">
                        <a:latin typeface="Roboto Mono" panose="00000009000000000000" pitchFamily="49" charset="0"/>
                        <a:ea typeface="Roboto Mono" panose="00000009000000000000" pitchFamily="49" charset="0"/>
                      </a:endParaRPr>
                    </a:p>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s-ES" sz="2800" dirty="0">
                          <a:latin typeface="Roboto Mono" panose="00000009000000000000" pitchFamily="49" charset="0"/>
                          <a:ea typeface="Roboto Mono" panose="00000009000000000000" pitchFamily="49" charset="0"/>
                        </a:rPr>
                        <a:t>#2 AI </a:t>
                      </a:r>
                      <a:r>
                        <a:rPr lang="es-ES" sz="2800" dirty="0" err="1">
                          <a:latin typeface="Roboto Mono" panose="00000009000000000000" pitchFamily="49" charset="0"/>
                          <a:ea typeface="Roboto Mono" panose="00000009000000000000" pitchFamily="49" charset="0"/>
                        </a:rPr>
                        <a:t>identifies</a:t>
                      </a:r>
                      <a:r>
                        <a:rPr lang="es-ES" sz="2800" dirty="0">
                          <a:latin typeface="Roboto Mono" panose="00000009000000000000" pitchFamily="49" charset="0"/>
                          <a:ea typeface="Roboto Mono" panose="00000009000000000000" pitchFamily="49" charset="0"/>
                        </a:rPr>
                        <a:t> a novel </a:t>
                      </a:r>
                      <a:r>
                        <a:rPr lang="es-ES" sz="2800" dirty="0" err="1">
                          <a:latin typeface="Roboto Mono" panose="00000009000000000000" pitchFamily="49" charset="0"/>
                          <a:ea typeface="Roboto Mono" panose="00000009000000000000" pitchFamily="49" charset="0"/>
                        </a:rPr>
                        <a:t>biomarker</a:t>
                      </a:r>
                      <a:r>
                        <a:rPr lang="es-ES" sz="2800" dirty="0">
                          <a:latin typeface="Roboto Mono" panose="00000009000000000000" pitchFamily="49" charset="0"/>
                          <a:ea typeface="Roboto Mono" panose="00000009000000000000" pitchFamily="49" charset="0"/>
                        </a:rPr>
                        <a:t>.</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A statistician asks about clinical significance, trial design, and ethical implications.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FBE8F7C8-AA66-37D1-1F1A-B29A310CB2CA}"/>
              </a:ext>
            </a:extLst>
          </p:cNvPr>
          <p:cNvSpPr txBox="1"/>
          <p:nvPr/>
        </p:nvSpPr>
        <p:spPr>
          <a:xfrm>
            <a:off x="6327822" y="3196453"/>
            <a:ext cx="9906000" cy="523220"/>
          </a:xfrm>
          <a:prstGeom prst="rect">
            <a:avLst/>
          </a:prstGeom>
          <a:noFill/>
        </p:spPr>
        <p:txBody>
          <a:bodyPr wrap="square" rtlCol="0">
            <a:spAutoFit/>
          </a:bodyPr>
          <a:lstStyle/>
          <a:p>
            <a:r>
              <a:rPr lang="en-MY" sz="2800" dirty="0">
                <a:latin typeface="Roboto Mono" panose="00000009000000000000" pitchFamily="49" charset="0"/>
                <a:ea typeface="Roboto Mono" panose="00000009000000000000" pitchFamily="49" charset="0"/>
              </a:rPr>
              <a:t>Case studies</a:t>
            </a:r>
          </a:p>
        </p:txBody>
      </p:sp>
    </p:spTree>
    <p:extLst>
      <p:ext uri="{BB962C8B-B14F-4D97-AF65-F5344CB8AC3E}">
        <p14:creationId xmlns:p14="http://schemas.microsoft.com/office/powerpoint/2010/main" val="282337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C1C3-27A9-1565-5658-8DC3D19259E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8C578C0-3280-A178-E0AA-727933203E15}"/>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GB" sz="6600" dirty="0"/>
              <a:t>The Art of Causal Thinking</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41B1DD79-F6A5-DB6D-6359-8AFBDF49ECBB}"/>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24C60A7-4787-BE96-B4BD-54027475DCE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5A8A706B-3AAC-F375-2BF9-5005B8920750}"/>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C012FCCB-B559-2AE4-178E-ADD6B28DC277}"/>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588E0E87-E8B2-C6E4-C49B-EA654D062F8B}"/>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C6C79CDF-424B-FE70-92CF-8B03D5BB1DDA}"/>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6E3D9CB5-5F52-F44E-7A86-A8C4746A524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C5691CC6-F849-B383-5091-0CA83D70A2C1}"/>
              </a:ext>
            </a:extLst>
          </p:cNvPr>
          <p:cNvGraphicFramePr>
            <a:graphicFrameLocks noGrp="1"/>
          </p:cNvGraphicFramePr>
          <p:nvPr>
            <p:extLst>
              <p:ext uri="{D42A27DB-BD31-4B8C-83A1-F6EECF244321}">
                <p14:modId xmlns:p14="http://schemas.microsoft.com/office/powerpoint/2010/main" val="1040987029"/>
              </p:ext>
            </p:extLst>
          </p:nvPr>
        </p:nvGraphicFramePr>
        <p:xfrm>
          <a:off x="4747611" y="2713712"/>
          <a:ext cx="12192000" cy="70713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4000" dirty="0">
                          <a:latin typeface="Roboto Mono" panose="00000009000000000000" pitchFamily="49" charset="0"/>
                          <a:ea typeface="Roboto Mono" panose="00000009000000000000" pitchFamily="49" charset="0"/>
                        </a:rPr>
                        <a:t>AI excels at correlation.</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40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59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dirty="0">
                          <a:latin typeface="Roboto Mono" panose="00000009000000000000" pitchFamily="49" charset="0"/>
                          <a:ea typeface="Roboto Mono" panose="00000009000000000000" pitchFamily="49" charset="0"/>
                        </a:rPr>
                        <a:t>Causation is our domain: we control for confounding variables, design experiments, and understand causal inference.</a:t>
                      </a:r>
                      <a:endParaRPr lang="en-MY" sz="36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36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3600" dirty="0">
                          <a:latin typeface="Roboto Mono" panose="00000009000000000000" pitchFamily="49" charset="0"/>
                          <a:ea typeface="Roboto Mono" panose="00000009000000000000" pitchFamily="49" charset="0"/>
                        </a:rPr>
                        <a:t>Example: An AI predicts email marketing increases spending, but a statistician designs a randomized experiment to prove it.</a:t>
                      </a:r>
                      <a:endParaRPr lang="en-MY" sz="36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45BEDDFB-CECC-84D3-6495-E2FCE390464C}"/>
              </a:ext>
            </a:extLst>
          </p:cNvPr>
          <p:cNvSpPr txBox="1"/>
          <p:nvPr/>
        </p:nvSpPr>
        <p:spPr>
          <a:xfrm>
            <a:off x="6327822" y="1988100"/>
            <a:ext cx="9906000" cy="461665"/>
          </a:xfrm>
          <a:prstGeom prst="rect">
            <a:avLst/>
          </a:prstGeom>
          <a:noFill/>
        </p:spPr>
        <p:txBody>
          <a:bodyPr wrap="square" rtlCol="0">
            <a:spAutoFit/>
          </a:bodyPr>
          <a:lstStyle/>
          <a:p>
            <a:r>
              <a:rPr lang="en-MY" sz="2400" dirty="0">
                <a:latin typeface="Roboto Mono" panose="00000009000000000000" pitchFamily="49" charset="0"/>
                <a:ea typeface="Roboto Mono" panose="00000009000000000000" pitchFamily="49" charset="0"/>
              </a:rPr>
              <a:t>Correlation Isn't Causation</a:t>
            </a:r>
          </a:p>
        </p:txBody>
      </p:sp>
    </p:spTree>
    <p:extLst>
      <p:ext uri="{BB962C8B-B14F-4D97-AF65-F5344CB8AC3E}">
        <p14:creationId xmlns:p14="http://schemas.microsoft.com/office/powerpoint/2010/main" val="3435986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3785-6320-766C-C6F1-116BD7C1091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FBCFE4B-5A63-E7CC-ACBF-16C5E3F99846}"/>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GB" sz="6600" dirty="0"/>
              <a:t>Beyond Accuracy: The Illusion of Accuracy</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15F34CF4-843A-EA64-EFC6-04D7F0AC4108}"/>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ABC87537-2258-389F-776F-58AB45C7E74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6490A68B-86C0-E526-DABD-F89B6D96DCC6}"/>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9447D12C-A675-AA71-0DF7-31EB2DC0660D}"/>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C015B605-BD9F-00DC-EB11-2CAA78C3FFA0}"/>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540C44F1-E957-4060-A449-DD786844E94D}"/>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246D92EB-559E-4BE3-5E78-AD02F566204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63475062-DFC5-2079-CD17-BF652ACAA0D9}"/>
              </a:ext>
            </a:extLst>
          </p:cNvPr>
          <p:cNvGraphicFramePr>
            <a:graphicFrameLocks noGrp="1"/>
          </p:cNvGraphicFramePr>
          <p:nvPr>
            <p:extLst>
              <p:ext uri="{D42A27DB-BD31-4B8C-83A1-F6EECF244321}">
                <p14:modId xmlns:p14="http://schemas.microsoft.com/office/powerpoint/2010/main" val="3126911550"/>
              </p:ext>
            </p:extLst>
          </p:nvPr>
        </p:nvGraphicFramePr>
        <p:xfrm>
          <a:off x="4648200" y="3507802"/>
          <a:ext cx="12192000" cy="51663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2800" dirty="0">
                          <a:latin typeface="Roboto Mono" panose="00000009000000000000" pitchFamily="49" charset="0"/>
                          <a:ea typeface="Roboto Mono" panose="00000009000000000000" pitchFamily="49" charset="0"/>
                        </a:rPr>
                        <a:t>AI obsesses over single-point accuracy metrics.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latin typeface="Roboto Mono" panose="00000009000000000000" pitchFamily="49" charset="0"/>
                          <a:ea typeface="Roboto Mono" panose="00000009000000000000" pitchFamily="49" charset="0"/>
                        </a:rPr>
                        <a:t>A deeper statistical understanding is needed to avoid misleading metrics like Simpson's Paradox.</a:t>
                      </a:r>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MY" sz="2400" dirty="0">
                          <a:latin typeface="Roboto Mono" panose="00000009000000000000" pitchFamily="49" charset="0"/>
                          <a:ea typeface="Roboto Mono" panose="00000009000000000000" pitchFamily="49" charset="0"/>
                        </a:rPr>
                        <a:t>Simpson Paradox - </a:t>
                      </a:r>
                      <a:r>
                        <a:rPr lang="en-GB" sz="2400" dirty="0">
                          <a:latin typeface="Roboto Mono" panose="00000009000000000000" pitchFamily="49" charset="0"/>
                          <a:ea typeface="Roboto Mono" panose="00000009000000000000" pitchFamily="49" charset="0"/>
                        </a:rPr>
                        <a:t>when a trend that appears in aggregate data reverses (or disappears) when the data is broken into subgroups.</a:t>
                      </a:r>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400" dirty="0">
                          <a:latin typeface="Roboto Mono" panose="00000009000000000000" pitchFamily="49" charset="0"/>
                          <a:ea typeface="Roboto Mono" panose="00000009000000000000" pitchFamily="49" charset="0"/>
                        </a:rPr>
                        <a:t>California PUMS analysis example: An accurate model can still have a significant income bias against women and certain racial groups.</a:t>
                      </a:r>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40705966"/>
                  </a:ext>
                </a:extLst>
              </a:tr>
            </a:tbl>
          </a:graphicData>
        </a:graphic>
      </p:graphicFrame>
      <p:sp>
        <p:nvSpPr>
          <p:cNvPr id="3" name="TextBox 2">
            <a:extLst>
              <a:ext uri="{FF2B5EF4-FFF2-40B4-BE49-F238E27FC236}">
                <a16:creationId xmlns:a16="http://schemas.microsoft.com/office/drawing/2014/main" id="{3B6ECF73-A04C-B94F-D296-1E39DE2A354F}"/>
              </a:ext>
            </a:extLst>
          </p:cNvPr>
          <p:cNvSpPr txBox="1"/>
          <p:nvPr/>
        </p:nvSpPr>
        <p:spPr>
          <a:xfrm>
            <a:off x="6327822" y="2808208"/>
            <a:ext cx="9906000" cy="461665"/>
          </a:xfrm>
          <a:prstGeom prst="rect">
            <a:avLst/>
          </a:prstGeom>
          <a:noFill/>
        </p:spPr>
        <p:txBody>
          <a:bodyPr wrap="square" rtlCol="0">
            <a:spAutoFit/>
          </a:bodyPr>
          <a:lstStyle/>
          <a:p>
            <a:r>
              <a:rPr lang="en-MY" sz="2400" dirty="0">
                <a:latin typeface="Roboto Mono" panose="00000009000000000000" pitchFamily="49" charset="0"/>
                <a:ea typeface="Roboto Mono" panose="00000009000000000000" pitchFamily="49" charset="0"/>
              </a:rPr>
              <a:t>Remember Simpson’s Paradox</a:t>
            </a:r>
          </a:p>
        </p:txBody>
      </p:sp>
    </p:spTree>
    <p:extLst>
      <p:ext uri="{BB962C8B-B14F-4D97-AF65-F5344CB8AC3E}">
        <p14:creationId xmlns:p14="http://schemas.microsoft.com/office/powerpoint/2010/main" val="3456955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675A-828C-10EC-864F-E89FEFC511A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697B126-09BA-EB06-9B2F-7CB3B6697E06}"/>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The Quest for Uncertainty</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A969BBB4-CFE2-45B9-AAB5-6529B4E4FCE5}"/>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E0002229-CFE9-FC2B-5A59-EF51D32298F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83CFF76F-8775-9C6E-2FFF-AF954986AE73}"/>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F67029ED-E4F0-6520-553E-6CA67BB3E12A}"/>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4C26D830-BCC4-D3BB-3602-88581F1504C9}"/>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FFD38D6F-F96F-23E6-3C1C-84D64DD54874}"/>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42A0474-0DCD-CBB0-1D13-A8C1ABE3A0C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4175298A-7806-1A0D-B32C-5FC11F3E5EB9}"/>
              </a:ext>
            </a:extLst>
          </p:cNvPr>
          <p:cNvGraphicFramePr>
            <a:graphicFrameLocks noGrp="1"/>
          </p:cNvGraphicFramePr>
          <p:nvPr>
            <p:extLst>
              <p:ext uri="{D42A27DB-BD31-4B8C-83A1-F6EECF244321}">
                <p14:modId xmlns:p14="http://schemas.microsoft.com/office/powerpoint/2010/main" val="583639058"/>
              </p:ext>
            </p:extLst>
          </p:nvPr>
        </p:nvGraphicFramePr>
        <p:xfrm>
          <a:off x="4730122" y="2607697"/>
          <a:ext cx="12192000" cy="768096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3200" dirty="0">
                          <a:latin typeface="Roboto Mono" panose="00000009000000000000" pitchFamily="49" charset="0"/>
                          <a:ea typeface="Roboto Mono" panose="00000009000000000000" pitchFamily="49" charset="0"/>
                        </a:rPr>
                        <a:t>AI models are often overconfident, defaulting to point estimates without measures of certainty.</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000"/>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dirty="0">
                          <a:latin typeface="Roboto Mono" panose="00000009000000000000" pitchFamily="49" charset="0"/>
                          <a:ea typeface="Roboto Mono" panose="00000009000000000000" pitchFamily="49" charset="0"/>
                        </a:rPr>
                        <a:t>Statisticians provide crucial context with honest prediction intervals.</a:t>
                      </a:r>
                      <a:endParaRPr lang="en-MY"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sz="2000" dirty="0"/>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Using conformal prediction with uncertainty-normalized scores, interval widths adapt to the model’s estimated uncertainty: observations with higher estimated uncertainty receive wider intervals, and those with lower uncertainty receive narrower intervals. This effect is data- and model-dependent and is not inherently tied to income level</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71D578A5-9052-8003-E13C-4BEC69575B39}"/>
              </a:ext>
            </a:extLst>
          </p:cNvPr>
          <p:cNvSpPr txBox="1"/>
          <p:nvPr/>
        </p:nvSpPr>
        <p:spPr>
          <a:xfrm>
            <a:off x="6327822" y="1978373"/>
            <a:ext cx="9906000" cy="461665"/>
          </a:xfrm>
          <a:prstGeom prst="rect">
            <a:avLst/>
          </a:prstGeom>
          <a:noFill/>
        </p:spPr>
        <p:txBody>
          <a:bodyPr wrap="square" rtlCol="0">
            <a:spAutoFit/>
          </a:bodyPr>
          <a:lstStyle/>
          <a:p>
            <a:r>
              <a:rPr lang="en-MY" sz="2400" dirty="0">
                <a:latin typeface="Roboto Mono" panose="00000009000000000000" pitchFamily="49" charset="0"/>
                <a:ea typeface="Roboto Mono" panose="00000009000000000000" pitchFamily="49" charset="0"/>
              </a:rPr>
              <a:t>Are you sure?</a:t>
            </a:r>
          </a:p>
        </p:txBody>
      </p:sp>
    </p:spTree>
    <p:extLst>
      <p:ext uri="{BB962C8B-B14F-4D97-AF65-F5344CB8AC3E}">
        <p14:creationId xmlns:p14="http://schemas.microsoft.com/office/powerpoint/2010/main" val="2367062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86A2-6E85-AA45-741E-DC80D208AAB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60FCA48-BCE4-957B-30F0-503A0521E223}"/>
              </a:ext>
            </a:extLst>
          </p:cNvPr>
          <p:cNvSpPr txBox="1"/>
          <p:nvPr/>
        </p:nvSpPr>
        <p:spPr>
          <a:xfrm>
            <a:off x="6327822" y="1095375"/>
            <a:ext cx="10741327" cy="923330"/>
          </a:xfrm>
          <a:prstGeom prst="rect">
            <a:avLst/>
          </a:prstGeom>
        </p:spPr>
        <p:txBody>
          <a:bodyPr lIns="0" tIns="0" rIns="0" bIns="0" rtlCol="0" anchor="t">
            <a:spAutoFit/>
          </a:bodyPr>
          <a:lstStyle/>
          <a:p>
            <a:pPr>
              <a:lnSpc>
                <a:spcPts val="7150"/>
              </a:lnSpc>
            </a:pPr>
            <a:r>
              <a:rPr lang="en-MY" sz="6600" dirty="0"/>
              <a:t>Garbage In, Garbage Out?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0E334AB1-C788-E1AC-48C6-DC2073B49C99}"/>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17BB3DEF-6FF3-EA44-C223-363E8888463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34C54871-FBF5-2E8B-D888-058AF4BFCDC9}"/>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551A8709-525F-E9A1-F473-53F94AFDAA23}"/>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23E33C70-089A-9E54-10D8-A7034BEBF6DA}"/>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54C6F02B-9871-4B2B-0250-01E8CCD65C76}"/>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822A5E3-ABFD-8557-06C7-4134D34A24E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F64FCC3E-C950-233E-4443-6C50222C49B6}"/>
              </a:ext>
            </a:extLst>
          </p:cNvPr>
          <p:cNvGraphicFramePr>
            <a:graphicFrameLocks noGrp="1"/>
          </p:cNvGraphicFramePr>
          <p:nvPr>
            <p:extLst>
              <p:ext uri="{D42A27DB-BD31-4B8C-83A1-F6EECF244321}">
                <p14:modId xmlns:p14="http://schemas.microsoft.com/office/powerpoint/2010/main" val="2306274257"/>
              </p:ext>
            </p:extLst>
          </p:nvPr>
        </p:nvGraphicFramePr>
        <p:xfrm>
          <a:off x="4775093" y="2615329"/>
          <a:ext cx="12192000" cy="704088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A sophisticated neural network is useless if trained on biased data.</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A trained statistician will be aware of biases introduced by </a:t>
                      </a:r>
                      <a:r>
                        <a:rPr lang="en-MY" sz="2800" dirty="0">
                          <a:latin typeface="Roboto Mono" panose="00000009000000000000" pitchFamily="49" charset="0"/>
                          <a:ea typeface="Roboto Mono" panose="00000009000000000000" pitchFamily="49" charset="0"/>
                        </a:rPr>
                        <a:t>Sampling weights, due to sampling design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800" dirty="0">
                        <a:latin typeface="Roboto Mono" panose="00000009000000000000" pitchFamily="49" charset="0"/>
                        <a:ea typeface="Roboto Mono" panose="00000009000000000000" pitchFamily="49" charset="0"/>
                      </a:endParaRPr>
                    </a:p>
                    <a:p>
                      <a:r>
                        <a:rPr lang="en-MY" sz="2800" dirty="0">
                          <a:latin typeface="Roboto Mono" panose="00000009000000000000" pitchFamily="49" charset="0"/>
                          <a:ea typeface="Roboto Mono" panose="00000009000000000000" pitchFamily="49" charset="0"/>
                        </a:rPr>
                        <a:t>Temporal bias, e.g. inflation rate or currency exchange rate at a given time</a:t>
                      </a:r>
                    </a:p>
                    <a:p>
                      <a:endParaRPr lang="en-MY" sz="2800" dirty="0">
                        <a:latin typeface="Roboto Mono" panose="00000009000000000000" pitchFamily="49" charset="0"/>
                        <a:ea typeface="Roboto Mono" panose="00000009000000000000" pitchFamily="49" charset="0"/>
                      </a:endParaRPr>
                    </a:p>
                    <a:p>
                      <a:r>
                        <a:rPr lang="en-MY" sz="2800" dirty="0">
                          <a:latin typeface="Roboto Mono" panose="00000009000000000000" pitchFamily="49" charset="0"/>
                          <a:ea typeface="Roboto Mono" panose="00000009000000000000" pitchFamily="49" charset="0"/>
                        </a:rPr>
                        <a:t>Spatial bias, which may perpetuate historical biases </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2F27804D-6A01-9A22-053D-9382D16BEBFD}"/>
              </a:ext>
            </a:extLst>
          </p:cNvPr>
          <p:cNvSpPr txBox="1"/>
          <p:nvPr/>
        </p:nvSpPr>
        <p:spPr>
          <a:xfrm>
            <a:off x="6329071" y="1902619"/>
            <a:ext cx="9906000" cy="461665"/>
          </a:xfrm>
          <a:prstGeom prst="rect">
            <a:avLst/>
          </a:prstGeom>
          <a:noFill/>
        </p:spPr>
        <p:txBody>
          <a:bodyPr wrap="square" rtlCol="0">
            <a:spAutoFit/>
          </a:bodyPr>
          <a:lstStyle/>
          <a:p>
            <a:r>
              <a:rPr lang="en-MY" sz="2400" dirty="0">
                <a:latin typeface="Roboto Mono" panose="00000009000000000000" pitchFamily="49" charset="0"/>
                <a:ea typeface="Roboto Mono" panose="00000009000000000000" pitchFamily="49" charset="0"/>
              </a:rPr>
              <a:t>Data quality matters</a:t>
            </a:r>
          </a:p>
        </p:txBody>
      </p:sp>
    </p:spTree>
    <p:extLst>
      <p:ext uri="{BB962C8B-B14F-4D97-AF65-F5344CB8AC3E}">
        <p14:creationId xmlns:p14="http://schemas.microsoft.com/office/powerpoint/2010/main" val="3306519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D4C1-89E9-2A88-FF6B-B9F5DE3473CA}"/>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2A1ECD6-4FC9-DC64-F052-9C0E557DE247}"/>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MY" sz="6600" dirty="0"/>
              <a:t>The AI-enabled Statistician's Toolkit</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F2FA86CE-9378-C913-0566-F7E99DF941CC}"/>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FF1A3F5D-9FD7-7275-C274-0B7BC2007C0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239790CE-FB60-FA51-509D-8D5CA45A5BD8}"/>
              </a:ext>
            </a:extLst>
          </p:cNvPr>
          <p:cNvGrpSpPr>
            <a:grpSpLocks noChangeAspect="1"/>
          </p:cNvGrpSpPr>
          <p:nvPr/>
        </p:nvGrpSpPr>
        <p:grpSpPr>
          <a:xfrm>
            <a:off x="1066800" y="1038700"/>
            <a:ext cx="4120342" cy="8373565"/>
            <a:chOff x="0" y="0"/>
            <a:chExt cx="5001260" cy="10163810"/>
          </a:xfrm>
        </p:grpSpPr>
        <p:sp>
          <p:nvSpPr>
            <p:cNvPr id="9" name="Freeform 9">
              <a:extLst>
                <a:ext uri="{FF2B5EF4-FFF2-40B4-BE49-F238E27FC236}">
                  <a16:creationId xmlns:a16="http://schemas.microsoft.com/office/drawing/2014/main" id="{7B6293C9-392B-E842-6DCC-D143EF23EC03}"/>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2"/>
              <a:stretch>
                <a:fillRect l="-45" r="-45"/>
              </a:stretch>
            </a:blipFill>
          </p:spPr>
          <p:txBody>
            <a:bodyPr/>
            <a:lstStyle/>
            <a:p>
              <a:endParaRPr lang="en-MY"/>
            </a:p>
          </p:txBody>
        </p:sp>
        <p:sp>
          <p:nvSpPr>
            <p:cNvPr id="10" name="Freeform 10">
              <a:extLst>
                <a:ext uri="{FF2B5EF4-FFF2-40B4-BE49-F238E27FC236}">
                  <a16:creationId xmlns:a16="http://schemas.microsoft.com/office/drawing/2014/main" id="{4AB6EB57-FF7C-4E9C-481C-A67BC0A17470}"/>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3"/>
              <a:stretch>
                <a:fillRect l="-130919" r="-94791"/>
              </a:stretch>
            </a:blipFill>
          </p:spPr>
          <p:txBody>
            <a:bodyPr/>
            <a:lstStyle/>
            <a:p>
              <a:endParaRPr lang="en-MY"/>
            </a:p>
          </p:txBody>
        </p:sp>
      </p:grpSp>
      <p:grpSp>
        <p:nvGrpSpPr>
          <p:cNvPr id="11" name="Group 11">
            <a:extLst>
              <a:ext uri="{FF2B5EF4-FFF2-40B4-BE49-F238E27FC236}">
                <a16:creationId xmlns:a16="http://schemas.microsoft.com/office/drawing/2014/main" id="{51445902-8AD1-1B9F-F1E7-70D5CBBC0966}"/>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8A2374F9-D33A-2BC3-DA14-B693607327D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A096DD04-D159-9276-6C9A-1F06DD816706}"/>
              </a:ext>
            </a:extLst>
          </p:cNvPr>
          <p:cNvGraphicFramePr>
            <a:graphicFrameLocks noGrp="1"/>
          </p:cNvGraphicFramePr>
          <p:nvPr>
            <p:extLst>
              <p:ext uri="{D42A27DB-BD31-4B8C-83A1-F6EECF244321}">
                <p14:modId xmlns:p14="http://schemas.microsoft.com/office/powerpoint/2010/main" val="1855636257"/>
              </p:ext>
            </p:extLst>
          </p:nvPr>
        </p:nvGraphicFramePr>
        <p:xfrm>
          <a:off x="5602485" y="4000500"/>
          <a:ext cx="12192000" cy="579120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sz="20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3200" dirty="0">
                          <a:latin typeface="Roboto Mono" panose="00000009000000000000" pitchFamily="49" charset="0"/>
                          <a:ea typeface="Roboto Mono" panose="00000009000000000000" pitchFamily="49" charset="0"/>
                        </a:rPr>
                        <a:t>Statisticians may need to move away from proprietary statistics software such as </a:t>
                      </a:r>
                      <a:r>
                        <a:rPr lang="en-GB" sz="3200" dirty="0" err="1">
                          <a:latin typeface="Roboto Mono" panose="00000009000000000000" pitchFamily="49" charset="0"/>
                          <a:ea typeface="Roboto Mono" panose="00000009000000000000" pitchFamily="49" charset="0"/>
                        </a:rPr>
                        <a:t>Matlab</a:t>
                      </a:r>
                      <a:r>
                        <a:rPr lang="en-GB" sz="3200" dirty="0">
                          <a:latin typeface="Roboto Mono" panose="00000009000000000000" pitchFamily="49" charset="0"/>
                          <a:ea typeface="Roboto Mono" panose="00000009000000000000" pitchFamily="49" charset="0"/>
                        </a:rPr>
                        <a:t>, Stata, SPSS…</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00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32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0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Programming languages such as Python and R has rich support for statistical test</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0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GB" sz="2800" dirty="0">
                          <a:latin typeface="Roboto Mono" panose="00000009000000000000" pitchFamily="49" charset="0"/>
                          <a:ea typeface="Roboto Mono" panose="00000009000000000000" pitchFamily="49" charset="0"/>
                        </a:rPr>
                        <a:t>The core of machine learning is built on statistical theory: regression, hypothesis testing, PCA, and Bayesian methods.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F012B2AF-5174-9E99-DD77-0F25B5321E3B}"/>
              </a:ext>
            </a:extLst>
          </p:cNvPr>
          <p:cNvSpPr txBox="1"/>
          <p:nvPr/>
        </p:nvSpPr>
        <p:spPr>
          <a:xfrm>
            <a:off x="6360301" y="2795468"/>
            <a:ext cx="9906000" cy="461665"/>
          </a:xfrm>
          <a:prstGeom prst="rect">
            <a:avLst/>
          </a:prstGeom>
          <a:noFill/>
        </p:spPr>
        <p:txBody>
          <a:bodyPr wrap="square" rtlCol="0">
            <a:spAutoFit/>
          </a:bodyPr>
          <a:lstStyle/>
          <a:p>
            <a:r>
              <a:rPr lang="en-MY" sz="2400" dirty="0">
                <a:latin typeface="Roboto Mono" panose="00000009000000000000" pitchFamily="49" charset="0"/>
                <a:ea typeface="Roboto Mono" panose="00000009000000000000" pitchFamily="49" charset="0"/>
              </a:rPr>
              <a:t>Tooling for the AI-enabled</a:t>
            </a:r>
          </a:p>
        </p:txBody>
      </p:sp>
    </p:spTree>
    <p:extLst>
      <p:ext uri="{BB962C8B-B14F-4D97-AF65-F5344CB8AC3E}">
        <p14:creationId xmlns:p14="http://schemas.microsoft.com/office/powerpoint/2010/main" val="1053007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F1AB-990C-DC0B-E0A1-8E185AA4B86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12D73B-62E4-9048-F200-F74D86BCCD8B}"/>
              </a:ext>
            </a:extLst>
          </p:cNvPr>
          <p:cNvSpPr txBox="1"/>
          <p:nvPr/>
        </p:nvSpPr>
        <p:spPr>
          <a:xfrm>
            <a:off x="6327822" y="1095375"/>
            <a:ext cx="10741327" cy="1846659"/>
          </a:xfrm>
          <a:prstGeom prst="rect">
            <a:avLst/>
          </a:prstGeom>
        </p:spPr>
        <p:txBody>
          <a:bodyPr lIns="0" tIns="0" rIns="0" bIns="0" rtlCol="0" anchor="t">
            <a:spAutoFit/>
          </a:bodyPr>
          <a:lstStyle/>
          <a:p>
            <a:pPr>
              <a:lnSpc>
                <a:spcPts val="7150"/>
              </a:lnSpc>
            </a:pPr>
            <a:r>
              <a:rPr lang="en-GB" sz="6600" dirty="0"/>
              <a:t>The New Frontier: Interpretability and Fairness</a:t>
            </a:r>
            <a:endParaRPr lang="en-US" sz="6500" b="1" dirty="0">
              <a:solidFill>
                <a:srgbClr val="000000"/>
              </a:solidFill>
              <a:latin typeface="Muli Bold"/>
              <a:ea typeface="Muli Bold"/>
              <a:cs typeface="Muli Bold"/>
              <a:sym typeface="Muli Bold"/>
            </a:endParaRPr>
          </a:p>
        </p:txBody>
      </p:sp>
      <p:grpSp>
        <p:nvGrpSpPr>
          <p:cNvPr id="6" name="Group 6">
            <a:extLst>
              <a:ext uri="{FF2B5EF4-FFF2-40B4-BE49-F238E27FC236}">
                <a16:creationId xmlns:a16="http://schemas.microsoft.com/office/drawing/2014/main" id="{392369FD-BF27-C3AF-79C9-648EF7BFA571}"/>
              </a:ext>
            </a:extLst>
          </p:cNvPr>
          <p:cNvGrpSpPr/>
          <p:nvPr/>
        </p:nvGrpSpPr>
        <p:grpSpPr>
          <a:xfrm>
            <a:off x="-2711426" y="-2472745"/>
            <a:ext cx="6700551" cy="6700551"/>
            <a:chOff x="0" y="0"/>
            <a:chExt cx="6350000" cy="6350000"/>
          </a:xfrm>
        </p:grpSpPr>
        <p:sp>
          <p:nvSpPr>
            <p:cNvPr id="7" name="Freeform 7">
              <a:extLst>
                <a:ext uri="{FF2B5EF4-FFF2-40B4-BE49-F238E27FC236}">
                  <a16:creationId xmlns:a16="http://schemas.microsoft.com/office/drawing/2014/main" id="{2002680B-D7F0-5B84-25AE-3B5FA48625B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grpSp>
        <p:nvGrpSpPr>
          <p:cNvPr id="8" name="Group 8">
            <a:extLst>
              <a:ext uri="{FF2B5EF4-FFF2-40B4-BE49-F238E27FC236}">
                <a16:creationId xmlns:a16="http://schemas.microsoft.com/office/drawing/2014/main" id="{A438D375-C7B9-0669-04F7-11A598E21F33}"/>
              </a:ext>
            </a:extLst>
          </p:cNvPr>
          <p:cNvGrpSpPr>
            <a:grpSpLocks noChangeAspect="1"/>
          </p:cNvGrpSpPr>
          <p:nvPr/>
        </p:nvGrpSpPr>
        <p:grpSpPr>
          <a:xfrm>
            <a:off x="1066800" y="1038700"/>
            <a:ext cx="4120122" cy="8373418"/>
            <a:chOff x="0" y="0"/>
            <a:chExt cx="5000993" cy="10163632"/>
          </a:xfrm>
        </p:grpSpPr>
        <p:sp>
          <p:nvSpPr>
            <p:cNvPr id="9" name="Freeform 9">
              <a:extLst>
                <a:ext uri="{FF2B5EF4-FFF2-40B4-BE49-F238E27FC236}">
                  <a16:creationId xmlns:a16="http://schemas.microsoft.com/office/drawing/2014/main" id="{1A54A627-567C-C596-314A-D067B7ECEA11}"/>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3"/>
              <a:stretch>
                <a:fillRect l="-45" r="-45"/>
              </a:stretch>
            </a:blipFill>
          </p:spPr>
          <p:txBody>
            <a:bodyPr/>
            <a:lstStyle/>
            <a:p>
              <a:endParaRPr lang="en-MY"/>
            </a:p>
          </p:txBody>
        </p:sp>
        <p:sp>
          <p:nvSpPr>
            <p:cNvPr id="10" name="Freeform 10">
              <a:extLst>
                <a:ext uri="{FF2B5EF4-FFF2-40B4-BE49-F238E27FC236}">
                  <a16:creationId xmlns:a16="http://schemas.microsoft.com/office/drawing/2014/main" id="{6C40F514-8B9D-E5A2-AFD1-A8C2C19B62C1}"/>
                </a:ext>
              </a:extLst>
            </p:cNvPr>
            <p:cNvSpPr>
              <a:spLocks/>
            </p:cNvSpPr>
            <p:nvPr/>
          </p:nvSpPr>
          <p:spPr>
            <a:xfrm>
              <a:off x="338760" y="288797"/>
              <a:ext cx="4330777"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4"/>
              <a:stretch>
                <a:fillRect l="-130919" r="-94791"/>
              </a:stretch>
            </a:blipFill>
          </p:spPr>
          <p:txBody>
            <a:bodyPr/>
            <a:lstStyle/>
            <a:p>
              <a:endParaRPr lang="en-MY" dirty="0"/>
            </a:p>
          </p:txBody>
        </p:sp>
      </p:grpSp>
      <p:grpSp>
        <p:nvGrpSpPr>
          <p:cNvPr id="11" name="Group 11">
            <a:extLst>
              <a:ext uri="{FF2B5EF4-FFF2-40B4-BE49-F238E27FC236}">
                <a16:creationId xmlns:a16="http://schemas.microsoft.com/office/drawing/2014/main" id="{4D58B6B5-B875-41E7-B99F-9FB30D0E0661}"/>
              </a:ext>
            </a:extLst>
          </p:cNvPr>
          <p:cNvGrpSpPr/>
          <p:nvPr/>
        </p:nvGrpSpPr>
        <p:grpSpPr>
          <a:xfrm>
            <a:off x="17259300" y="9258300"/>
            <a:ext cx="1759930" cy="1759930"/>
            <a:chOff x="0" y="0"/>
            <a:chExt cx="6350000" cy="6350000"/>
          </a:xfrm>
        </p:grpSpPr>
        <p:sp>
          <p:nvSpPr>
            <p:cNvPr id="12" name="Freeform 12">
              <a:extLst>
                <a:ext uri="{FF2B5EF4-FFF2-40B4-BE49-F238E27FC236}">
                  <a16:creationId xmlns:a16="http://schemas.microsoft.com/office/drawing/2014/main" id="{29707F24-363E-7435-F33B-18643401F90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graphicFrame>
        <p:nvGraphicFramePr>
          <p:cNvPr id="17" name="Table 16">
            <a:extLst>
              <a:ext uri="{FF2B5EF4-FFF2-40B4-BE49-F238E27FC236}">
                <a16:creationId xmlns:a16="http://schemas.microsoft.com/office/drawing/2014/main" id="{87E9C7C5-7D03-EA70-21A9-010F3B1B7B36}"/>
              </a:ext>
            </a:extLst>
          </p:cNvPr>
          <p:cNvGraphicFramePr>
            <a:graphicFrameLocks noGrp="1"/>
          </p:cNvGraphicFramePr>
          <p:nvPr>
            <p:extLst>
              <p:ext uri="{D42A27DB-BD31-4B8C-83A1-F6EECF244321}">
                <p14:modId xmlns:p14="http://schemas.microsoft.com/office/powerpoint/2010/main" val="931634951"/>
              </p:ext>
            </p:extLst>
          </p:nvPr>
        </p:nvGraphicFramePr>
        <p:xfrm>
          <a:off x="5602485" y="4000500"/>
          <a:ext cx="12192000" cy="6400800"/>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696283118"/>
                    </a:ext>
                  </a:extLst>
                </a:gridCol>
                <a:gridCol w="10591800">
                  <a:extLst>
                    <a:ext uri="{9D8B030D-6E8A-4147-A177-3AD203B41FA5}">
                      <a16:colId xmlns:a16="http://schemas.microsoft.com/office/drawing/2014/main" val="3465462505"/>
                    </a:ext>
                  </a:extLst>
                </a:gridCol>
              </a:tblGrid>
              <a:tr h="533400">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r>
                        <a:rPr lang="en-GB" sz="2800" dirty="0">
                          <a:latin typeface="Roboto Mono" panose="00000009000000000000" pitchFamily="49" charset="0"/>
                          <a:ea typeface="Roboto Mono" panose="00000009000000000000" pitchFamily="49" charset="0"/>
                        </a:rPr>
                        <a:t>Interpretability is possible due to tools such as SHAP</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740666857"/>
                  </a:ext>
                </a:extLst>
              </a:tr>
              <a:tr h="378778">
                <a:tc>
                  <a:txBody>
                    <a:bodyPr/>
                    <a:lstStyle/>
                    <a:p>
                      <a:endParaRPr lang="en-MY" sz="280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a:buNone/>
                      </a:pPr>
                      <a:endParaRPr lang="en-GB"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1983891"/>
                  </a:ext>
                </a:extLst>
              </a:tr>
              <a:tr h="714058">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latin typeface="Roboto Mono" panose="00000009000000000000" pitchFamily="49" charset="0"/>
                          <a:ea typeface="Roboto Mono" panose="00000009000000000000" pitchFamily="49" charset="0"/>
                        </a:rPr>
                        <a:t>Fairness is also measurable , using measures such as demographic parity and equal class distribution across groups</a:t>
                      </a:r>
                    </a:p>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91774452"/>
                  </a:ext>
                </a:extLst>
              </a:tr>
              <a:tr h="378778">
                <a:tc>
                  <a:txBody>
                    <a:bodyPr/>
                    <a:lstStyle/>
                    <a:p>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tc>
                  <a:txBody>
                    <a:bodyPr/>
                    <a:lstStyle/>
                    <a:p>
                      <a:r>
                        <a:rPr lang="en-MY" sz="2800" dirty="0">
                          <a:latin typeface="Roboto Mono" panose="00000009000000000000" pitchFamily="49" charset="0"/>
                          <a:ea typeface="Roboto Mono" panose="00000009000000000000" pitchFamily="49" charset="0"/>
                        </a:rPr>
                        <a:t>Often a balancing act between </a:t>
                      </a:r>
                      <a:r>
                        <a:rPr lang="en-GB" sz="2800" dirty="0">
                          <a:latin typeface="Roboto Mono" panose="00000009000000000000" pitchFamily="49" charset="0"/>
                          <a:ea typeface="Roboto Mono" panose="00000009000000000000" pitchFamily="49" charset="0"/>
                        </a:rPr>
                        <a:t>allocation fairness (who gets the benefit) versus classification accuracy fairness (equal error rates) versus calibration fairness (equal meaning of scores)</a:t>
                      </a:r>
                      <a:endParaRPr lang="en-MY" sz="28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074569"/>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438983"/>
                  </a:ext>
                </a:extLst>
              </a:tr>
              <a:tr h="378778">
                <a:tc>
                  <a:txBody>
                    <a:bodyPr/>
                    <a:lstStyle/>
                    <a:p>
                      <a:endParaRPr lang="en-MY" dirty="0"/>
                    </a:p>
                  </a:txBody>
                  <a:tcPr>
                    <a:lnL>
                      <a:noFill/>
                    </a:lnL>
                    <a:lnR>
                      <a:noFill/>
                    </a:lnR>
                    <a:lnT>
                      <a:noFill/>
                    </a:lnT>
                    <a:lnB>
                      <a:noFill/>
                    </a:lnB>
                    <a:lnTlToBr w="12700" cmpd="sng">
                      <a:noFill/>
                      <a:prstDash val="solid"/>
                    </a:lnTlToBr>
                    <a:lnBlToTr w="12700" cmpd="sng">
                      <a:noFill/>
                      <a:prstDash val="solid"/>
                    </a:lnBlToTr>
                  </a:tcPr>
                </a:tc>
                <a:tc>
                  <a:txBody>
                    <a:bodyPr/>
                    <a:lstStyle/>
                    <a:p>
                      <a:endParaRPr lang="en-MY" sz="2400" dirty="0">
                        <a:latin typeface="Roboto Mono" panose="00000009000000000000" pitchFamily="49" charset="0"/>
                        <a:ea typeface="Roboto Mono" panose="00000009000000000000" pitchFamily="49" charset="0"/>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30882808"/>
                  </a:ext>
                </a:extLst>
              </a:tr>
            </a:tbl>
          </a:graphicData>
        </a:graphic>
      </p:graphicFrame>
      <p:sp>
        <p:nvSpPr>
          <p:cNvPr id="3" name="TextBox 2">
            <a:extLst>
              <a:ext uri="{FF2B5EF4-FFF2-40B4-BE49-F238E27FC236}">
                <a16:creationId xmlns:a16="http://schemas.microsoft.com/office/drawing/2014/main" id="{CDB1D291-C43D-F7E0-6592-D3E3AB549941}"/>
              </a:ext>
            </a:extLst>
          </p:cNvPr>
          <p:cNvSpPr txBox="1"/>
          <p:nvPr/>
        </p:nvSpPr>
        <p:spPr>
          <a:xfrm>
            <a:off x="6327822" y="2931635"/>
            <a:ext cx="9906000" cy="461665"/>
          </a:xfrm>
          <a:prstGeom prst="rect">
            <a:avLst/>
          </a:prstGeom>
          <a:noFill/>
        </p:spPr>
        <p:txBody>
          <a:bodyPr wrap="square" rtlCol="0">
            <a:spAutoFit/>
          </a:bodyPr>
          <a:lstStyle/>
          <a:p>
            <a:r>
              <a:rPr lang="en-MY" sz="2400" dirty="0">
                <a:latin typeface="Roboto Mono" panose="00000009000000000000" pitchFamily="49" charset="0"/>
                <a:ea typeface="Roboto Mono" panose="00000009000000000000" pitchFamily="49" charset="0"/>
              </a:rPr>
              <a:t>SHAP</a:t>
            </a:r>
          </a:p>
        </p:txBody>
      </p:sp>
    </p:spTree>
    <p:extLst>
      <p:ext uri="{BB962C8B-B14F-4D97-AF65-F5344CB8AC3E}">
        <p14:creationId xmlns:p14="http://schemas.microsoft.com/office/powerpoint/2010/main" val="1447650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a:extLst>
            <a:ext uri="{FF2B5EF4-FFF2-40B4-BE49-F238E27FC236}">
              <a16:creationId xmlns:a16="http://schemas.microsoft.com/office/drawing/2014/main" id="{80F466BE-1A6A-ADEF-004C-FB20CDE435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A64F55B-BAD4-8D4F-DAD6-F9246E5254FA}"/>
              </a:ext>
            </a:extLst>
          </p:cNvPr>
          <p:cNvGrpSpPr/>
          <p:nvPr/>
        </p:nvGrpSpPr>
        <p:grpSpPr>
          <a:xfrm>
            <a:off x="-4898911" y="760223"/>
            <a:ext cx="8766553" cy="8766553"/>
            <a:chOff x="0" y="0"/>
            <a:chExt cx="6350000" cy="6350000"/>
          </a:xfrm>
        </p:grpSpPr>
        <p:sp>
          <p:nvSpPr>
            <p:cNvPr id="3" name="Freeform 3">
              <a:extLst>
                <a:ext uri="{FF2B5EF4-FFF2-40B4-BE49-F238E27FC236}">
                  <a16:creationId xmlns:a16="http://schemas.microsoft.com/office/drawing/2014/main" id="{F8920E8F-7635-C824-2475-44EE6BFA8B6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34902"/>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 name="TextBox 4">
            <a:extLst>
              <a:ext uri="{FF2B5EF4-FFF2-40B4-BE49-F238E27FC236}">
                <a16:creationId xmlns:a16="http://schemas.microsoft.com/office/drawing/2014/main" id="{A1FD3DFD-0078-B772-2BAA-EC4F39717FD4}"/>
              </a:ext>
            </a:extLst>
          </p:cNvPr>
          <p:cNvSpPr txBox="1"/>
          <p:nvPr/>
        </p:nvSpPr>
        <p:spPr>
          <a:xfrm>
            <a:off x="1028700" y="4270515"/>
            <a:ext cx="6824167" cy="910506"/>
          </a:xfrm>
          <a:prstGeom prst="rect">
            <a:avLst/>
          </a:prstGeom>
        </p:spPr>
        <p:txBody>
          <a:bodyPr lIns="0" tIns="0" rIns="0" bIns="0" rtlCol="0" anchor="t">
            <a:spAutoFit/>
          </a:bodyPr>
          <a:lstStyle/>
          <a:p>
            <a:pPr marL="0" marR="0" lvl="0" indent="0" algn="l" defTabSz="914400" rtl="0" eaLnBrk="1" fontAlgn="auto" latinLnBrk="0" hangingPunct="1">
              <a:lnSpc>
                <a:spcPts val="7149"/>
              </a:lnSpc>
              <a:spcBef>
                <a:spcPts val="0"/>
              </a:spcBef>
              <a:spcAft>
                <a:spcPts val="0"/>
              </a:spcAft>
              <a:buClrTx/>
              <a:buSzTx/>
              <a:buFontTx/>
              <a:buNone/>
              <a:tabLst/>
              <a:defRPr/>
            </a:pPr>
            <a:r>
              <a:rPr kumimoji="0" lang="en-US" sz="6499" b="1" i="0" u="none" strike="noStrike" kern="1200" cap="none" spc="0" normalizeH="0" baseline="0" noProof="0" dirty="0">
                <a:ln>
                  <a:noFill/>
                </a:ln>
                <a:solidFill>
                  <a:srgbClr val="FFFFFF"/>
                </a:solidFill>
                <a:effectLst/>
                <a:uLnTx/>
                <a:uFillTx/>
                <a:latin typeface="Muli Bold"/>
                <a:ea typeface="Muli Bold"/>
                <a:cs typeface="Muli Bold"/>
                <a:sym typeface="Muli Bold"/>
              </a:rPr>
              <a:t>Call to action</a:t>
            </a:r>
            <a:endParaRPr kumimoji="0" lang="en-US" sz="6500" b="1" i="0" u="none" strike="noStrike" kern="1200" cap="none" spc="0" normalizeH="0" baseline="0" noProof="0" dirty="0">
              <a:ln>
                <a:noFill/>
              </a:ln>
              <a:solidFill>
                <a:srgbClr val="FFFFFF"/>
              </a:solidFill>
              <a:effectLst/>
              <a:uLnTx/>
              <a:uFillTx/>
              <a:latin typeface="Muli Bold"/>
              <a:ea typeface="Muli Bold"/>
              <a:cs typeface="Muli Bold"/>
              <a:sym typeface="Muli Bold"/>
            </a:endParaRPr>
          </a:p>
        </p:txBody>
      </p:sp>
      <p:sp>
        <p:nvSpPr>
          <p:cNvPr id="5" name="TextBox 5">
            <a:extLst>
              <a:ext uri="{FF2B5EF4-FFF2-40B4-BE49-F238E27FC236}">
                <a16:creationId xmlns:a16="http://schemas.microsoft.com/office/drawing/2014/main" id="{990B388E-B5B5-613D-366D-74CECE5DA6F7}"/>
              </a:ext>
            </a:extLst>
          </p:cNvPr>
          <p:cNvSpPr txBox="1"/>
          <p:nvPr/>
        </p:nvSpPr>
        <p:spPr>
          <a:xfrm>
            <a:off x="10798098" y="2125402"/>
            <a:ext cx="6461202" cy="1806777"/>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rPr>
              <a:t>Learn R and Python. And if you know R and Python, pick up a</a:t>
            </a:r>
            <a:r>
              <a:rPr lang="en-US" sz="3200" spc="-20" dirty="0" err="1">
                <a:solidFill>
                  <a:srgbClr val="FFFFFF"/>
                </a:solidFill>
                <a:latin typeface="Roboto Mono"/>
                <a:ea typeface="Roboto Mono"/>
                <a:cs typeface="Roboto Mono"/>
                <a:sym typeface="Roboto Mono"/>
              </a:rPr>
              <a:t>gentic</a:t>
            </a:r>
            <a:r>
              <a:rPr lang="en-US" sz="3200" spc="-20" dirty="0">
                <a:solidFill>
                  <a:srgbClr val="FFFFFF"/>
                </a:solidFill>
                <a:latin typeface="Roboto Mono"/>
                <a:ea typeface="Roboto Mono"/>
                <a:cs typeface="Roboto Mono"/>
                <a:sym typeface="Roboto Mono"/>
              </a:rPr>
              <a:t> coding to scale up analytics throughput</a:t>
            </a:r>
            <a:endPar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endParaRPr>
          </a:p>
        </p:txBody>
      </p:sp>
      <p:grpSp>
        <p:nvGrpSpPr>
          <p:cNvPr id="6" name="Group 6">
            <a:extLst>
              <a:ext uri="{FF2B5EF4-FFF2-40B4-BE49-F238E27FC236}">
                <a16:creationId xmlns:a16="http://schemas.microsoft.com/office/drawing/2014/main" id="{2579BC5B-8B1B-5003-C479-9310B8ECB27E}"/>
              </a:ext>
            </a:extLst>
          </p:cNvPr>
          <p:cNvGrpSpPr/>
          <p:nvPr/>
        </p:nvGrpSpPr>
        <p:grpSpPr>
          <a:xfrm>
            <a:off x="9144000" y="2074043"/>
            <a:ext cx="1068134" cy="1068134"/>
            <a:chOff x="0" y="0"/>
            <a:chExt cx="1424179" cy="1424179"/>
          </a:xfrm>
        </p:grpSpPr>
        <p:grpSp>
          <p:nvGrpSpPr>
            <p:cNvPr id="7" name="Group 7">
              <a:extLst>
                <a:ext uri="{FF2B5EF4-FFF2-40B4-BE49-F238E27FC236}">
                  <a16:creationId xmlns:a16="http://schemas.microsoft.com/office/drawing/2014/main" id="{B4184F90-C339-4EF1-2EF2-2254EF36B658}"/>
                </a:ext>
              </a:extLst>
            </p:cNvPr>
            <p:cNvGrpSpPr/>
            <p:nvPr/>
          </p:nvGrpSpPr>
          <p:grpSpPr>
            <a:xfrm>
              <a:off x="0" y="0"/>
              <a:ext cx="1424179" cy="1424179"/>
              <a:chOff x="0" y="0"/>
              <a:chExt cx="6350000" cy="6350000"/>
            </a:xfrm>
          </p:grpSpPr>
          <p:sp>
            <p:nvSpPr>
              <p:cNvPr id="8" name="Freeform 8">
                <a:extLst>
                  <a:ext uri="{FF2B5EF4-FFF2-40B4-BE49-F238E27FC236}">
                    <a16:creationId xmlns:a16="http://schemas.microsoft.com/office/drawing/2014/main" id="{8A4F9807-D560-70A3-1DF5-7590E77095D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9">
              <a:extLst>
                <a:ext uri="{FF2B5EF4-FFF2-40B4-BE49-F238E27FC236}">
                  <a16:creationId xmlns:a16="http://schemas.microsoft.com/office/drawing/2014/main" id="{D030A4E4-35BC-0B91-F6CE-739B3FB54F72}"/>
                </a:ext>
              </a:extLst>
            </p:cNvPr>
            <p:cNvSpPr txBox="1"/>
            <p:nvPr/>
          </p:nvSpPr>
          <p:spPr>
            <a:xfrm>
              <a:off x="217775" y="326921"/>
              <a:ext cx="988628" cy="808436"/>
            </a:xfrm>
            <a:prstGeom prst="rect">
              <a:avLst/>
            </a:prstGeom>
          </p:spPr>
          <p:txBody>
            <a:bodyPr lIns="0" tIns="0" rIns="0" bIns="0" rtlCol="0" anchor="t">
              <a:spAutoFit/>
            </a:bodyPr>
            <a:lstStyle/>
            <a:p>
              <a:pPr marL="0" marR="0" lvl="0" indent="0" algn="ctr" defTabSz="914400" rtl="0" eaLnBrk="1" fontAlgn="auto" latinLnBrk="0" hangingPunct="1">
                <a:lnSpc>
                  <a:spcPts val="4614"/>
                </a:lnSpc>
                <a:spcBef>
                  <a:spcPts val="0"/>
                </a:spcBef>
                <a:spcAft>
                  <a:spcPts val="0"/>
                </a:spcAft>
                <a:buClrTx/>
                <a:buSzTx/>
                <a:buFontTx/>
                <a:buNone/>
                <a:tabLst/>
                <a:defRPr/>
              </a:pPr>
              <a:r>
                <a:rPr kumimoji="0" lang="en-US" sz="4195" b="1" i="0" u="none" strike="noStrike" kern="1200" cap="none" spc="0" normalizeH="0" baseline="0" noProof="0">
                  <a:ln>
                    <a:noFill/>
                  </a:ln>
                  <a:solidFill>
                    <a:srgbClr val="FFFFFF"/>
                  </a:solidFill>
                  <a:effectLst/>
                  <a:uLnTx/>
                  <a:uFillTx/>
                  <a:latin typeface="Muli Bold"/>
                  <a:ea typeface="Muli Bold"/>
                  <a:cs typeface="Muli Bold"/>
                  <a:sym typeface="Muli Bold"/>
                </a:rPr>
                <a:t>01</a:t>
              </a:r>
            </a:p>
          </p:txBody>
        </p:sp>
      </p:grpSp>
      <p:sp>
        <p:nvSpPr>
          <p:cNvPr id="10" name="TextBox 10">
            <a:extLst>
              <a:ext uri="{FF2B5EF4-FFF2-40B4-BE49-F238E27FC236}">
                <a16:creationId xmlns:a16="http://schemas.microsoft.com/office/drawing/2014/main" id="{E1DC0457-5FB8-AE98-0046-0386F5171802}"/>
              </a:ext>
            </a:extLst>
          </p:cNvPr>
          <p:cNvSpPr txBox="1"/>
          <p:nvPr/>
        </p:nvSpPr>
        <p:spPr>
          <a:xfrm>
            <a:off x="10828078" y="4725768"/>
            <a:ext cx="6461202" cy="729559"/>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GB"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rPr>
              <a:t>Download and explore the California PUMS data.</a:t>
            </a:r>
            <a:endPar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endParaRPr>
          </a:p>
        </p:txBody>
      </p:sp>
      <p:sp>
        <p:nvSpPr>
          <p:cNvPr id="11" name="TextBox 11">
            <a:extLst>
              <a:ext uri="{FF2B5EF4-FFF2-40B4-BE49-F238E27FC236}">
                <a16:creationId xmlns:a16="http://schemas.microsoft.com/office/drawing/2014/main" id="{1423067B-CB04-4241-E20C-280F8D4775D3}"/>
              </a:ext>
            </a:extLst>
          </p:cNvPr>
          <p:cNvSpPr txBox="1"/>
          <p:nvPr/>
        </p:nvSpPr>
        <p:spPr>
          <a:xfrm>
            <a:off x="10784357" y="7272049"/>
            <a:ext cx="6461202" cy="1101264"/>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GB"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rPr>
              <a:t>Implement manual conformal prediction to understand uncertainty.</a:t>
            </a:r>
            <a:endParaRPr kumimoji="0" lang="en-US" sz="3200" b="0" i="0" u="none" strike="noStrike" kern="1200" cap="none" spc="-20" normalizeH="0" baseline="0" noProof="0" dirty="0">
              <a:ln>
                <a:noFill/>
              </a:ln>
              <a:solidFill>
                <a:srgbClr val="FFFFFF"/>
              </a:solidFill>
              <a:effectLst/>
              <a:uLnTx/>
              <a:uFillTx/>
              <a:latin typeface="Roboto Mono"/>
              <a:ea typeface="Roboto Mono"/>
              <a:cs typeface="Roboto Mono"/>
              <a:sym typeface="Roboto Mono"/>
            </a:endParaRPr>
          </a:p>
        </p:txBody>
      </p:sp>
      <p:grpSp>
        <p:nvGrpSpPr>
          <p:cNvPr id="12" name="Group 12">
            <a:extLst>
              <a:ext uri="{FF2B5EF4-FFF2-40B4-BE49-F238E27FC236}">
                <a16:creationId xmlns:a16="http://schemas.microsoft.com/office/drawing/2014/main" id="{E1A0FA0A-BFDB-0389-4E1A-49841A490F62}"/>
              </a:ext>
            </a:extLst>
          </p:cNvPr>
          <p:cNvGrpSpPr/>
          <p:nvPr/>
        </p:nvGrpSpPr>
        <p:grpSpPr>
          <a:xfrm>
            <a:off x="9144000" y="4609433"/>
            <a:ext cx="1068134" cy="1068134"/>
            <a:chOff x="0" y="0"/>
            <a:chExt cx="1424179" cy="1424179"/>
          </a:xfrm>
        </p:grpSpPr>
        <p:grpSp>
          <p:nvGrpSpPr>
            <p:cNvPr id="13" name="Group 13">
              <a:extLst>
                <a:ext uri="{FF2B5EF4-FFF2-40B4-BE49-F238E27FC236}">
                  <a16:creationId xmlns:a16="http://schemas.microsoft.com/office/drawing/2014/main" id="{8C3B86D2-CB0A-1FCB-D79E-BE1201B6828A}"/>
                </a:ext>
              </a:extLst>
            </p:cNvPr>
            <p:cNvGrpSpPr/>
            <p:nvPr/>
          </p:nvGrpSpPr>
          <p:grpSpPr>
            <a:xfrm>
              <a:off x="0" y="0"/>
              <a:ext cx="1424179" cy="1424179"/>
              <a:chOff x="0" y="0"/>
              <a:chExt cx="6350000" cy="6350000"/>
            </a:xfrm>
          </p:grpSpPr>
          <p:sp>
            <p:nvSpPr>
              <p:cNvPr id="14" name="Freeform 14">
                <a:extLst>
                  <a:ext uri="{FF2B5EF4-FFF2-40B4-BE49-F238E27FC236}">
                    <a16:creationId xmlns:a16="http://schemas.microsoft.com/office/drawing/2014/main" id="{EB1F7464-CFA1-7335-CD25-EC9A3F47DF9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 name="TextBox 15">
              <a:extLst>
                <a:ext uri="{FF2B5EF4-FFF2-40B4-BE49-F238E27FC236}">
                  <a16:creationId xmlns:a16="http://schemas.microsoft.com/office/drawing/2014/main" id="{BEF1059C-E4E5-FB3D-F8E8-430529B73A4E}"/>
                </a:ext>
              </a:extLst>
            </p:cNvPr>
            <p:cNvSpPr txBox="1"/>
            <p:nvPr/>
          </p:nvSpPr>
          <p:spPr>
            <a:xfrm>
              <a:off x="217775" y="326921"/>
              <a:ext cx="988628" cy="808436"/>
            </a:xfrm>
            <a:prstGeom prst="rect">
              <a:avLst/>
            </a:prstGeom>
          </p:spPr>
          <p:txBody>
            <a:bodyPr lIns="0" tIns="0" rIns="0" bIns="0" rtlCol="0" anchor="t">
              <a:spAutoFit/>
            </a:bodyPr>
            <a:lstStyle/>
            <a:p>
              <a:pPr marL="0" marR="0" lvl="0" indent="0" algn="ctr" defTabSz="914400" rtl="0" eaLnBrk="1" fontAlgn="auto" latinLnBrk="0" hangingPunct="1">
                <a:lnSpc>
                  <a:spcPts val="4614"/>
                </a:lnSpc>
                <a:spcBef>
                  <a:spcPts val="0"/>
                </a:spcBef>
                <a:spcAft>
                  <a:spcPts val="0"/>
                </a:spcAft>
                <a:buClrTx/>
                <a:buSzTx/>
                <a:buFontTx/>
                <a:buNone/>
                <a:tabLst/>
                <a:defRPr/>
              </a:pPr>
              <a:r>
                <a:rPr kumimoji="0" lang="en-US" sz="4195" b="1" i="0" u="none" strike="noStrike" kern="1200" cap="none" spc="0" normalizeH="0" baseline="0" noProof="0">
                  <a:ln>
                    <a:noFill/>
                  </a:ln>
                  <a:solidFill>
                    <a:srgbClr val="FFFFFF"/>
                  </a:solidFill>
                  <a:effectLst/>
                  <a:uLnTx/>
                  <a:uFillTx/>
                  <a:latin typeface="Muli Bold"/>
                  <a:ea typeface="Muli Bold"/>
                  <a:cs typeface="Muli Bold"/>
                  <a:sym typeface="Muli Bold"/>
                </a:rPr>
                <a:t>02</a:t>
              </a:r>
            </a:p>
          </p:txBody>
        </p:sp>
      </p:grpSp>
      <p:grpSp>
        <p:nvGrpSpPr>
          <p:cNvPr id="16" name="Group 16">
            <a:extLst>
              <a:ext uri="{FF2B5EF4-FFF2-40B4-BE49-F238E27FC236}">
                <a16:creationId xmlns:a16="http://schemas.microsoft.com/office/drawing/2014/main" id="{1C9BEB4A-E84C-61EA-1C6D-16FBC187EFBF}"/>
              </a:ext>
            </a:extLst>
          </p:cNvPr>
          <p:cNvGrpSpPr/>
          <p:nvPr/>
        </p:nvGrpSpPr>
        <p:grpSpPr>
          <a:xfrm>
            <a:off x="9144000" y="7144823"/>
            <a:ext cx="1068134" cy="1068134"/>
            <a:chOff x="0" y="0"/>
            <a:chExt cx="1424179" cy="1424179"/>
          </a:xfrm>
        </p:grpSpPr>
        <p:grpSp>
          <p:nvGrpSpPr>
            <p:cNvPr id="17" name="Group 17">
              <a:extLst>
                <a:ext uri="{FF2B5EF4-FFF2-40B4-BE49-F238E27FC236}">
                  <a16:creationId xmlns:a16="http://schemas.microsoft.com/office/drawing/2014/main" id="{9E9F161D-EC86-E6A5-1686-72D865FF80E6}"/>
                </a:ext>
              </a:extLst>
            </p:cNvPr>
            <p:cNvGrpSpPr/>
            <p:nvPr/>
          </p:nvGrpSpPr>
          <p:grpSpPr>
            <a:xfrm>
              <a:off x="0" y="0"/>
              <a:ext cx="1424179" cy="1424179"/>
              <a:chOff x="0" y="0"/>
              <a:chExt cx="6350000" cy="6350000"/>
            </a:xfrm>
          </p:grpSpPr>
          <p:sp>
            <p:nvSpPr>
              <p:cNvPr id="18" name="Freeform 18">
                <a:extLst>
                  <a:ext uri="{FF2B5EF4-FFF2-40B4-BE49-F238E27FC236}">
                    <a16:creationId xmlns:a16="http://schemas.microsoft.com/office/drawing/2014/main" id="{6F56F811-29E8-E2C6-8F9B-7E2AB50A48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9" name="TextBox 19">
              <a:extLst>
                <a:ext uri="{FF2B5EF4-FFF2-40B4-BE49-F238E27FC236}">
                  <a16:creationId xmlns:a16="http://schemas.microsoft.com/office/drawing/2014/main" id="{AF3A911D-F8F9-EFCF-A01C-C4D4D578CA24}"/>
                </a:ext>
              </a:extLst>
            </p:cNvPr>
            <p:cNvSpPr txBox="1"/>
            <p:nvPr/>
          </p:nvSpPr>
          <p:spPr>
            <a:xfrm>
              <a:off x="217775" y="326921"/>
              <a:ext cx="988628" cy="808436"/>
            </a:xfrm>
            <a:prstGeom prst="rect">
              <a:avLst/>
            </a:prstGeom>
          </p:spPr>
          <p:txBody>
            <a:bodyPr lIns="0" tIns="0" rIns="0" bIns="0" rtlCol="0" anchor="t">
              <a:spAutoFit/>
            </a:bodyPr>
            <a:lstStyle/>
            <a:p>
              <a:pPr marL="0" marR="0" lvl="0" indent="0" algn="ctr" defTabSz="914400" rtl="0" eaLnBrk="1" fontAlgn="auto" latinLnBrk="0" hangingPunct="1">
                <a:lnSpc>
                  <a:spcPts val="4614"/>
                </a:lnSpc>
                <a:spcBef>
                  <a:spcPts val="0"/>
                </a:spcBef>
                <a:spcAft>
                  <a:spcPts val="0"/>
                </a:spcAft>
                <a:buClrTx/>
                <a:buSzTx/>
                <a:buFontTx/>
                <a:buNone/>
                <a:tabLst/>
                <a:defRPr/>
              </a:pPr>
              <a:r>
                <a:rPr kumimoji="0" lang="en-US" sz="4195" b="1" i="0" u="none" strike="noStrike" kern="1200" cap="none" spc="0" normalizeH="0" baseline="0" noProof="0">
                  <a:ln>
                    <a:noFill/>
                  </a:ln>
                  <a:solidFill>
                    <a:srgbClr val="FFFFFF"/>
                  </a:solidFill>
                  <a:effectLst/>
                  <a:uLnTx/>
                  <a:uFillTx/>
                  <a:latin typeface="Muli Bold"/>
                  <a:ea typeface="Muli Bold"/>
                  <a:cs typeface="Muli Bold"/>
                  <a:sym typeface="Muli Bold"/>
                </a:rPr>
                <a:t>03</a:t>
              </a:r>
            </a:p>
          </p:txBody>
        </p:sp>
      </p:grpSp>
      <p:sp>
        <p:nvSpPr>
          <p:cNvPr id="20" name="TextBox 4">
            <a:extLst>
              <a:ext uri="{FF2B5EF4-FFF2-40B4-BE49-F238E27FC236}">
                <a16:creationId xmlns:a16="http://schemas.microsoft.com/office/drawing/2014/main" id="{C658CFCA-4BFD-6EF9-AAA2-17B3106AC3D8}"/>
              </a:ext>
            </a:extLst>
          </p:cNvPr>
          <p:cNvSpPr txBox="1"/>
          <p:nvPr/>
        </p:nvSpPr>
        <p:spPr>
          <a:xfrm>
            <a:off x="6800050" y="9071523"/>
            <a:ext cx="6824167" cy="910506"/>
          </a:xfrm>
          <a:prstGeom prst="rect">
            <a:avLst/>
          </a:prstGeom>
        </p:spPr>
        <p:txBody>
          <a:bodyPr lIns="0" tIns="0" rIns="0" bIns="0" rtlCol="0" anchor="t">
            <a:spAutoFit/>
          </a:bodyPr>
          <a:lstStyle/>
          <a:p>
            <a:pPr marL="0" marR="0" lvl="0" indent="0" algn="l" defTabSz="914400" rtl="0" eaLnBrk="1" fontAlgn="auto" latinLnBrk="0" hangingPunct="1">
              <a:lnSpc>
                <a:spcPts val="7149"/>
              </a:lnSpc>
              <a:spcBef>
                <a:spcPts val="0"/>
              </a:spcBef>
              <a:spcAft>
                <a:spcPts val="0"/>
              </a:spcAft>
              <a:buClrTx/>
              <a:buSzTx/>
              <a:buFontTx/>
              <a:buNone/>
              <a:tabLst/>
              <a:defRPr/>
            </a:pPr>
            <a:r>
              <a:rPr kumimoji="0" lang="en-US" sz="6499" b="1" i="0" u="none" strike="noStrike" kern="1200" cap="none" spc="0" normalizeH="0" baseline="0" noProof="0" dirty="0">
                <a:ln>
                  <a:noFill/>
                </a:ln>
                <a:solidFill>
                  <a:srgbClr val="FFFFFF"/>
                </a:solidFill>
                <a:effectLst/>
                <a:uLnTx/>
                <a:uFillTx/>
                <a:latin typeface="Muli Bold"/>
                <a:ea typeface="Muli Bold"/>
                <a:cs typeface="Muli Bold"/>
                <a:sym typeface="Muli Bold"/>
              </a:rPr>
              <a:t>Work with GenAI </a:t>
            </a:r>
            <a:endParaRPr kumimoji="0" lang="en-US" sz="6500" b="1" i="0" u="none" strike="noStrike" kern="1200" cap="none" spc="0" normalizeH="0" baseline="0" noProof="0" dirty="0">
              <a:ln>
                <a:noFill/>
              </a:ln>
              <a:solidFill>
                <a:srgbClr val="FFFFFF"/>
              </a:solidFill>
              <a:effectLst/>
              <a:uLnTx/>
              <a:uFillTx/>
              <a:latin typeface="Muli Bold"/>
              <a:ea typeface="Muli Bold"/>
              <a:cs typeface="Muli Bold"/>
              <a:sym typeface="Muli Bold"/>
            </a:endParaRPr>
          </a:p>
        </p:txBody>
      </p:sp>
    </p:spTree>
    <p:extLst>
      <p:ext uri="{BB962C8B-B14F-4D97-AF65-F5344CB8AC3E}">
        <p14:creationId xmlns:p14="http://schemas.microsoft.com/office/powerpoint/2010/main" val="1951722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7D26"/>
        </a:solidFill>
        <a:effectLst/>
      </p:bgPr>
    </p:bg>
    <p:spTree>
      <p:nvGrpSpPr>
        <p:cNvPr id="1" name=""/>
        <p:cNvGrpSpPr/>
        <p:nvPr/>
      </p:nvGrpSpPr>
      <p:grpSpPr>
        <a:xfrm>
          <a:off x="0" y="0"/>
          <a:ext cx="0" cy="0"/>
          <a:chOff x="0" y="0"/>
          <a:chExt cx="0" cy="0"/>
        </a:xfrm>
      </p:grpSpPr>
      <p:sp>
        <p:nvSpPr>
          <p:cNvPr id="2" name="TextBox 2"/>
          <p:cNvSpPr txBox="1"/>
          <p:nvPr/>
        </p:nvSpPr>
        <p:spPr>
          <a:xfrm>
            <a:off x="2110498" y="542815"/>
            <a:ext cx="13682586" cy="923330"/>
          </a:xfrm>
          <a:prstGeom prst="rect">
            <a:avLst/>
          </a:prstGeom>
        </p:spPr>
        <p:txBody>
          <a:bodyPr lIns="0" tIns="0" rIns="0" bIns="0" rtlCol="0" anchor="t">
            <a:spAutoFit/>
          </a:bodyPr>
          <a:lstStyle/>
          <a:p>
            <a:pPr algn="ctr">
              <a:lnSpc>
                <a:spcPts val="7150"/>
              </a:lnSpc>
            </a:pPr>
            <a:r>
              <a:rPr lang="en-US" sz="6500" b="1" dirty="0">
                <a:solidFill>
                  <a:srgbClr val="FFFFFF"/>
                </a:solidFill>
                <a:latin typeface="Muli Bold"/>
                <a:ea typeface="Muli Bold"/>
                <a:cs typeface="Muli Bold"/>
                <a:sym typeface="Muli Bold"/>
              </a:rPr>
              <a:t>Statisticians in the Loop</a:t>
            </a:r>
          </a:p>
        </p:txBody>
      </p:sp>
      <p:sp>
        <p:nvSpPr>
          <p:cNvPr id="3" name="TextBox 3"/>
          <p:cNvSpPr txBox="1"/>
          <p:nvPr/>
        </p:nvSpPr>
        <p:spPr>
          <a:xfrm>
            <a:off x="13437174" y="3361407"/>
            <a:ext cx="4711820" cy="6463308"/>
          </a:xfrm>
          <a:prstGeom prst="rect">
            <a:avLst/>
          </a:prstGeom>
        </p:spPr>
        <p:txBody>
          <a:bodyPr lIns="0" tIns="0" rIns="0" bIns="0" rtlCol="0" anchor="t">
            <a:spAutoFit/>
          </a:bodyPr>
          <a:lstStyle/>
          <a:p>
            <a:pPr algn="ctr">
              <a:lnSpc>
                <a:spcPts val="2799"/>
              </a:lnSpc>
              <a:spcBef>
                <a:spcPct val="0"/>
              </a:spcBef>
            </a:pPr>
            <a:r>
              <a:rPr lang="en-US" sz="2400" spc="-20" dirty="0">
                <a:solidFill>
                  <a:srgbClr val="FFFFFF"/>
                </a:solidFill>
                <a:latin typeface="Roboto Mono"/>
                <a:ea typeface="Roboto Mono"/>
                <a:cs typeface="Roboto Mono"/>
                <a:sym typeface="Roboto Mono"/>
              </a:rPr>
              <a:t>Roles to play as Statisticians in the Loop</a:t>
            </a:r>
          </a:p>
          <a:p>
            <a:pPr algn="ctr">
              <a:lnSpc>
                <a:spcPts val="2799"/>
              </a:lnSpc>
              <a:spcBef>
                <a:spcPct val="0"/>
              </a:spcBef>
            </a:pPr>
            <a:endParaRPr lang="en-US" sz="2400" spc="-20" dirty="0">
              <a:solidFill>
                <a:srgbClr val="FFFFFF"/>
              </a:solidFill>
              <a:latin typeface="Roboto Mono"/>
              <a:ea typeface="Roboto Mono"/>
              <a:cs typeface="Roboto Mono"/>
              <a:sym typeface="Roboto Mono"/>
            </a:endParaRPr>
          </a:p>
          <a:p>
            <a:pPr algn="ctr">
              <a:lnSpc>
                <a:spcPts val="2799"/>
              </a:lnSpc>
              <a:spcBef>
                <a:spcPct val="0"/>
              </a:spcBef>
            </a:pPr>
            <a:r>
              <a:rPr lang="en-GB" sz="2400" b="1" dirty="0">
                <a:solidFill>
                  <a:schemeClr val="bg1"/>
                </a:solidFill>
                <a:latin typeface="Roboto Mono" panose="00000009000000000000" pitchFamily="49" charset="0"/>
                <a:ea typeface="Roboto Mono" panose="00000009000000000000" pitchFamily="49" charset="0"/>
              </a:rPr>
              <a:t>The Validator</a:t>
            </a:r>
            <a:r>
              <a:rPr lang="en-GB" sz="2400" dirty="0">
                <a:solidFill>
                  <a:schemeClr val="bg1"/>
                </a:solidFill>
                <a:latin typeface="Roboto Mono" panose="00000009000000000000" pitchFamily="49" charset="0"/>
                <a:ea typeface="Roboto Mono" panose="00000009000000000000" pitchFamily="49" charset="0"/>
              </a:rPr>
              <a:t>: We move beyond simple accuracy.</a:t>
            </a:r>
          </a:p>
          <a:p>
            <a:pPr algn="ctr">
              <a:lnSpc>
                <a:spcPts val="2799"/>
              </a:lnSpc>
              <a:spcBef>
                <a:spcPct val="0"/>
              </a:spcBef>
            </a:pPr>
            <a:endParaRPr lang="en-US" sz="2400" spc="-20" dirty="0">
              <a:solidFill>
                <a:schemeClr val="bg1"/>
              </a:solidFill>
              <a:latin typeface="Roboto Mono" panose="00000009000000000000" pitchFamily="49" charset="0"/>
              <a:ea typeface="Roboto Mono" panose="00000009000000000000" pitchFamily="49" charset="0"/>
              <a:cs typeface="Roboto Mono"/>
              <a:sym typeface="Roboto Mono"/>
            </a:endParaRPr>
          </a:p>
          <a:p>
            <a:pPr algn="ctr">
              <a:lnSpc>
                <a:spcPts val="2799"/>
              </a:lnSpc>
              <a:spcBef>
                <a:spcPct val="0"/>
              </a:spcBef>
            </a:pPr>
            <a:r>
              <a:rPr lang="en-GB" sz="2400" b="1" dirty="0">
                <a:solidFill>
                  <a:schemeClr val="bg1"/>
                </a:solidFill>
                <a:latin typeface="Roboto Mono" panose="00000009000000000000" pitchFamily="49" charset="0"/>
                <a:ea typeface="Roboto Mono" panose="00000009000000000000" pitchFamily="49" charset="0"/>
              </a:rPr>
              <a:t>The Uncertainty Quantifier</a:t>
            </a:r>
            <a:r>
              <a:rPr lang="en-GB" sz="2400" dirty="0">
                <a:solidFill>
                  <a:schemeClr val="bg1"/>
                </a:solidFill>
                <a:latin typeface="Roboto Mono" panose="00000009000000000000" pitchFamily="49" charset="0"/>
                <a:ea typeface="Roboto Mono" panose="00000009000000000000" pitchFamily="49" charset="0"/>
              </a:rPr>
              <a:t>: We turn guesses into responsible risk assessments.</a:t>
            </a:r>
          </a:p>
          <a:p>
            <a:pPr algn="ctr">
              <a:lnSpc>
                <a:spcPts val="2799"/>
              </a:lnSpc>
              <a:spcBef>
                <a:spcPct val="0"/>
              </a:spcBef>
            </a:pPr>
            <a:endParaRPr lang="en-GB" sz="2400" spc="-20" dirty="0">
              <a:solidFill>
                <a:schemeClr val="bg1"/>
              </a:solidFill>
              <a:latin typeface="Roboto Mono" panose="00000009000000000000" pitchFamily="49" charset="0"/>
              <a:ea typeface="Roboto Mono" panose="00000009000000000000" pitchFamily="49" charset="0"/>
              <a:cs typeface="Roboto Mono"/>
              <a:sym typeface="Roboto Mono"/>
            </a:endParaRPr>
          </a:p>
          <a:p>
            <a:pPr algn="ctr">
              <a:lnSpc>
                <a:spcPts val="2799"/>
              </a:lnSpc>
              <a:spcBef>
                <a:spcPct val="0"/>
              </a:spcBef>
            </a:pPr>
            <a:r>
              <a:rPr lang="en-GB" sz="2400" b="1" dirty="0">
                <a:solidFill>
                  <a:schemeClr val="bg1"/>
                </a:solidFill>
                <a:latin typeface="Roboto Mono" panose="00000009000000000000" pitchFamily="49" charset="0"/>
                <a:ea typeface="Roboto Mono" panose="00000009000000000000" pitchFamily="49" charset="0"/>
              </a:rPr>
              <a:t>The Causal </a:t>
            </a:r>
            <a:r>
              <a:rPr lang="en-GB" sz="2400" b="1" dirty="0" err="1">
                <a:solidFill>
                  <a:schemeClr val="bg1"/>
                </a:solidFill>
                <a:latin typeface="Roboto Mono" panose="00000009000000000000" pitchFamily="49" charset="0"/>
                <a:ea typeface="Roboto Mono" panose="00000009000000000000" pitchFamily="49" charset="0"/>
              </a:rPr>
              <a:t>Inferrer</a:t>
            </a:r>
            <a:r>
              <a:rPr lang="en-GB" sz="2400" dirty="0">
                <a:solidFill>
                  <a:schemeClr val="bg1"/>
                </a:solidFill>
                <a:latin typeface="Roboto Mono" panose="00000009000000000000" pitchFamily="49" charset="0"/>
                <a:ea typeface="Roboto Mono" panose="00000009000000000000" pitchFamily="49" charset="0"/>
              </a:rPr>
              <a:t>: We separate real impact from random noise.</a:t>
            </a:r>
          </a:p>
          <a:p>
            <a:pPr algn="ctr">
              <a:lnSpc>
                <a:spcPts val="2799"/>
              </a:lnSpc>
              <a:spcBef>
                <a:spcPct val="0"/>
              </a:spcBef>
            </a:pPr>
            <a:endParaRPr lang="en-GB" sz="2400" b="1" spc="-20" dirty="0">
              <a:solidFill>
                <a:schemeClr val="bg1"/>
              </a:solidFill>
              <a:latin typeface="Roboto Mono" panose="00000009000000000000" pitchFamily="49" charset="0"/>
              <a:ea typeface="Roboto Mono" panose="00000009000000000000" pitchFamily="49" charset="0"/>
              <a:cs typeface="Roboto Mono"/>
              <a:sym typeface="Roboto Mono"/>
            </a:endParaRPr>
          </a:p>
          <a:p>
            <a:pPr algn="ctr">
              <a:lnSpc>
                <a:spcPts val="2799"/>
              </a:lnSpc>
              <a:spcBef>
                <a:spcPct val="0"/>
              </a:spcBef>
            </a:pPr>
            <a:r>
              <a:rPr lang="en-GB" sz="2400" b="1" dirty="0">
                <a:solidFill>
                  <a:schemeClr val="bg1"/>
                </a:solidFill>
                <a:latin typeface="Roboto Mono" panose="00000009000000000000" pitchFamily="49" charset="0"/>
                <a:ea typeface="Roboto Mono" panose="00000009000000000000" pitchFamily="49" charset="0"/>
              </a:rPr>
              <a:t>The </a:t>
            </a:r>
            <a:r>
              <a:rPr lang="en-GB" sz="2400" dirty="0">
                <a:solidFill>
                  <a:schemeClr val="bg1"/>
                </a:solidFill>
                <a:latin typeface="Roboto Mono" panose="00000009000000000000" pitchFamily="49" charset="0"/>
                <a:ea typeface="Roboto Mono" panose="00000009000000000000" pitchFamily="49" charset="0"/>
              </a:rPr>
              <a:t>Ethicist: We are the front line against algorithmic bias.</a:t>
            </a:r>
            <a:endParaRPr lang="en-US" sz="2400" spc="-20" dirty="0">
              <a:solidFill>
                <a:schemeClr val="bg1"/>
              </a:solidFill>
              <a:latin typeface="Roboto Mono" panose="00000009000000000000" pitchFamily="49" charset="0"/>
              <a:ea typeface="Roboto Mono" panose="00000009000000000000" pitchFamily="49" charset="0"/>
              <a:cs typeface="Roboto Mono"/>
              <a:sym typeface="Roboto Mono"/>
            </a:endParaRPr>
          </a:p>
        </p:txBody>
      </p:sp>
      <p:sp>
        <p:nvSpPr>
          <p:cNvPr id="4" name="TextBox 4"/>
          <p:cNvSpPr txBox="1"/>
          <p:nvPr/>
        </p:nvSpPr>
        <p:spPr>
          <a:xfrm>
            <a:off x="0" y="3360182"/>
            <a:ext cx="6096000" cy="2513509"/>
          </a:xfrm>
          <a:prstGeom prst="rect">
            <a:avLst/>
          </a:prstGeom>
        </p:spPr>
        <p:txBody>
          <a:bodyPr wrap="square" lIns="0" tIns="0" rIns="0" bIns="0" rtlCol="0" anchor="t">
            <a:spAutoFit/>
          </a:bodyPr>
          <a:lstStyle/>
          <a:p>
            <a:pPr algn="ctr">
              <a:lnSpc>
                <a:spcPts val="2799"/>
              </a:lnSpc>
              <a:spcBef>
                <a:spcPct val="0"/>
              </a:spcBef>
            </a:pPr>
            <a:r>
              <a:rPr lang="en-US" sz="2400" spc="-19" dirty="0">
                <a:solidFill>
                  <a:srgbClr val="FFFFFF"/>
                </a:solidFill>
                <a:latin typeface="Roboto Mono"/>
                <a:ea typeface="Roboto Mono"/>
                <a:cs typeface="Roboto Mono"/>
                <a:sym typeface="Roboto Mono"/>
              </a:rPr>
              <a:t>The future </a:t>
            </a:r>
            <a:r>
              <a:rPr lang="en-US" sz="2800" spc="-20" dirty="0">
                <a:solidFill>
                  <a:srgbClr val="FFFFFF"/>
                </a:solidFill>
                <a:latin typeface="Roboto Mono"/>
                <a:ea typeface="Roboto Mono"/>
                <a:cs typeface="Roboto Mono"/>
                <a:sym typeface="Roboto Mono"/>
              </a:rPr>
              <a:t>needs more than faster algorithm or ‘vibed statistics’</a:t>
            </a:r>
          </a:p>
          <a:p>
            <a:pPr algn="ctr">
              <a:lnSpc>
                <a:spcPts val="2799"/>
              </a:lnSpc>
              <a:spcBef>
                <a:spcPct val="0"/>
              </a:spcBef>
            </a:pPr>
            <a:r>
              <a:rPr lang="en-US" sz="2800" spc="-20" dirty="0">
                <a:solidFill>
                  <a:srgbClr val="FFFFFF"/>
                </a:solidFill>
                <a:latin typeface="Roboto Mono"/>
                <a:ea typeface="Roboto Mono"/>
                <a:cs typeface="Roboto Mono"/>
                <a:sym typeface="Roboto Mono"/>
              </a:rPr>
              <a:t>Vs</a:t>
            </a:r>
          </a:p>
          <a:p>
            <a:pPr algn="ctr">
              <a:lnSpc>
                <a:spcPts val="2799"/>
              </a:lnSpc>
              <a:spcBef>
                <a:spcPct val="0"/>
              </a:spcBef>
            </a:pPr>
            <a:r>
              <a:rPr lang="en-US" sz="2800" spc="-20" dirty="0">
                <a:solidFill>
                  <a:srgbClr val="FFFFFF"/>
                </a:solidFill>
                <a:latin typeface="Roboto Mono"/>
                <a:ea typeface="Roboto Mono"/>
                <a:cs typeface="Roboto Mono"/>
                <a:sym typeface="Roboto Mono"/>
              </a:rPr>
              <a:t>The future needs scrutiny, wisdom and fairness</a:t>
            </a:r>
          </a:p>
          <a:p>
            <a:pPr algn="ctr">
              <a:lnSpc>
                <a:spcPts val="2799"/>
              </a:lnSpc>
              <a:spcBef>
                <a:spcPct val="0"/>
              </a:spcBef>
            </a:pPr>
            <a:endParaRPr lang="en-US" sz="2400" spc="-20" dirty="0">
              <a:solidFill>
                <a:srgbClr val="FFFFFF"/>
              </a:solidFill>
              <a:latin typeface="Roboto Mono"/>
              <a:ea typeface="Roboto Mono"/>
              <a:cs typeface="Roboto Mono"/>
              <a:sym typeface="Roboto Mono"/>
            </a:endParaRPr>
          </a:p>
        </p:txBody>
      </p:sp>
      <p:grpSp>
        <p:nvGrpSpPr>
          <p:cNvPr id="6" name="Group 6"/>
          <p:cNvGrpSpPr/>
          <p:nvPr/>
        </p:nvGrpSpPr>
        <p:grpSpPr>
          <a:xfrm>
            <a:off x="15282786" y="1858571"/>
            <a:ext cx="1020596" cy="1020596"/>
            <a:chOff x="0" y="0"/>
            <a:chExt cx="1360795" cy="1360795"/>
          </a:xfrm>
          <a:solidFill>
            <a:srgbClr val="3727EB"/>
          </a:solidFill>
        </p:grpSpPr>
        <p:grpSp>
          <p:nvGrpSpPr>
            <p:cNvPr id="7" name="Group 7"/>
            <p:cNvGrpSpPr/>
            <p:nvPr/>
          </p:nvGrpSpPr>
          <p:grpSpPr>
            <a:xfrm>
              <a:off x="0" y="0"/>
              <a:ext cx="1360795" cy="1360795"/>
              <a:chOff x="0" y="0"/>
              <a:chExt cx="6350000" cy="6350000"/>
            </a:xfrm>
            <a:grpFill/>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grpFill/>
            </p:spPr>
            <p:txBody>
              <a:bodyPr/>
              <a:lstStyle/>
              <a:p>
                <a:endParaRPr lang="en-MY"/>
              </a:p>
            </p:txBody>
          </p:sp>
        </p:grpSp>
        <p:sp>
          <p:nvSpPr>
            <p:cNvPr id="9" name="TextBox 9"/>
            <p:cNvSpPr txBox="1"/>
            <p:nvPr/>
          </p:nvSpPr>
          <p:spPr>
            <a:xfrm>
              <a:off x="208083" y="314067"/>
              <a:ext cx="944629" cy="770761"/>
            </a:xfrm>
            <a:prstGeom prst="rect">
              <a:avLst/>
            </a:prstGeom>
            <a:grpFill/>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03</a:t>
              </a:r>
            </a:p>
          </p:txBody>
        </p:sp>
      </p:grpSp>
      <p:grpSp>
        <p:nvGrpSpPr>
          <p:cNvPr id="10" name="Group 10"/>
          <p:cNvGrpSpPr/>
          <p:nvPr/>
        </p:nvGrpSpPr>
        <p:grpSpPr>
          <a:xfrm>
            <a:off x="1600200" y="2036114"/>
            <a:ext cx="1020596" cy="1020596"/>
            <a:chOff x="0" y="0"/>
            <a:chExt cx="1360795" cy="1360795"/>
          </a:xfrm>
        </p:grpSpPr>
        <p:grpSp>
          <p:nvGrpSpPr>
            <p:cNvPr id="11" name="Group 11"/>
            <p:cNvGrpSpPr/>
            <p:nvPr/>
          </p:nvGrpSpPr>
          <p:grpSpPr>
            <a:xfrm>
              <a:off x="0" y="0"/>
              <a:ext cx="1360795" cy="1360795"/>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3" name="TextBox 13"/>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01</a:t>
              </a:r>
            </a:p>
          </p:txBody>
        </p:sp>
      </p:grpSp>
      <p:grpSp>
        <p:nvGrpSpPr>
          <p:cNvPr id="14" name="Group 14"/>
          <p:cNvGrpSpPr/>
          <p:nvPr/>
        </p:nvGrpSpPr>
        <p:grpSpPr>
          <a:xfrm>
            <a:off x="8335796" y="2026693"/>
            <a:ext cx="1020596" cy="1020596"/>
            <a:chOff x="0" y="0"/>
            <a:chExt cx="1360795" cy="1360795"/>
          </a:xfrm>
        </p:grpSpPr>
        <p:grpSp>
          <p:nvGrpSpPr>
            <p:cNvPr id="15" name="Group 15"/>
            <p:cNvGrpSpPr/>
            <p:nvPr/>
          </p:nvGrpSpPr>
          <p:grpSpPr>
            <a:xfrm>
              <a:off x="0" y="0"/>
              <a:ext cx="1360795" cy="1360795"/>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7" name="TextBox 17"/>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02</a:t>
              </a:r>
            </a:p>
          </p:txBody>
        </p:sp>
      </p:grpSp>
      <p:sp>
        <p:nvSpPr>
          <p:cNvPr id="22" name="TextBox 5">
            <a:extLst>
              <a:ext uri="{FF2B5EF4-FFF2-40B4-BE49-F238E27FC236}">
                <a16:creationId xmlns:a16="http://schemas.microsoft.com/office/drawing/2014/main" id="{DA12A313-8099-FE6D-4CD4-D290C15DAB18}"/>
              </a:ext>
            </a:extLst>
          </p:cNvPr>
          <p:cNvSpPr txBox="1"/>
          <p:nvPr/>
        </p:nvSpPr>
        <p:spPr>
          <a:xfrm>
            <a:off x="6595881" y="3374679"/>
            <a:ext cx="4711820" cy="3949799"/>
          </a:xfrm>
          <a:prstGeom prst="rect">
            <a:avLst/>
          </a:prstGeom>
        </p:spPr>
        <p:txBody>
          <a:bodyPr lIns="0" tIns="0" rIns="0" bIns="0" rtlCol="0" anchor="t">
            <a:spAutoFit/>
          </a:bodyPr>
          <a:lstStyle/>
          <a:p>
            <a:pPr algn="ctr">
              <a:lnSpc>
                <a:spcPts val="2799"/>
              </a:lnSpc>
              <a:spcBef>
                <a:spcPct val="0"/>
              </a:spcBef>
            </a:pPr>
            <a:r>
              <a:rPr lang="en-US" sz="2800" spc="-19" dirty="0">
                <a:solidFill>
                  <a:srgbClr val="FFFFFF"/>
                </a:solidFill>
                <a:latin typeface="Roboto Mono"/>
                <a:ea typeface="Roboto Mono"/>
                <a:cs typeface="Roboto Mono"/>
                <a:sym typeface="Roboto Mono"/>
              </a:rPr>
              <a:t>Is a ‘best of both world’ scenario where AI assisted statistical analysis possible?</a:t>
            </a:r>
          </a:p>
          <a:p>
            <a:pPr algn="ctr">
              <a:lnSpc>
                <a:spcPts val="2799"/>
              </a:lnSpc>
              <a:spcBef>
                <a:spcPct val="0"/>
              </a:spcBef>
            </a:pPr>
            <a:endParaRPr lang="en-US" sz="2800" spc="-19" dirty="0">
              <a:solidFill>
                <a:srgbClr val="FFFFFF"/>
              </a:solidFill>
              <a:latin typeface="Roboto Mono"/>
              <a:ea typeface="Roboto Mono"/>
              <a:cs typeface="Roboto Mono"/>
              <a:sym typeface="Roboto Mono"/>
            </a:endParaRPr>
          </a:p>
          <a:p>
            <a:pPr algn="ctr">
              <a:lnSpc>
                <a:spcPts val="2799"/>
              </a:lnSpc>
              <a:spcBef>
                <a:spcPct val="0"/>
              </a:spcBef>
            </a:pPr>
            <a:r>
              <a:rPr lang="en-US" sz="2800" spc="-19" dirty="0">
                <a:solidFill>
                  <a:srgbClr val="FFFFFF"/>
                </a:solidFill>
                <a:latin typeface="Roboto Mono"/>
                <a:ea typeface="Roboto Mono"/>
                <a:cs typeface="Roboto Mono"/>
                <a:sym typeface="Roboto Mono"/>
              </a:rPr>
              <a:t>YES</a:t>
            </a:r>
          </a:p>
          <a:p>
            <a:pPr algn="ctr">
              <a:lnSpc>
                <a:spcPts val="2799"/>
              </a:lnSpc>
              <a:spcBef>
                <a:spcPct val="0"/>
              </a:spcBef>
            </a:pPr>
            <a:r>
              <a:rPr lang="en-US" sz="2800" spc="-19" dirty="0">
                <a:solidFill>
                  <a:srgbClr val="FFFFFF"/>
                </a:solidFill>
                <a:latin typeface="Roboto Mono"/>
                <a:ea typeface="Roboto Mono"/>
                <a:cs typeface="Roboto Mono"/>
                <a:sym typeface="Roboto Mono"/>
              </a:rPr>
              <a:t>But only if Statisticians are actively engaged in the analytic workflow </a:t>
            </a:r>
            <a:endParaRPr lang="en-US" sz="3200" spc="-20" dirty="0">
              <a:solidFill>
                <a:srgbClr val="FFFFFF"/>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727EB"/>
        </a:solidFill>
        <a:effectLst/>
      </p:bgPr>
    </p:bg>
    <p:spTree>
      <p:nvGrpSpPr>
        <p:cNvPr id="1" name="">
          <a:extLst>
            <a:ext uri="{FF2B5EF4-FFF2-40B4-BE49-F238E27FC236}">
              <a16:creationId xmlns:a16="http://schemas.microsoft.com/office/drawing/2014/main" id="{403AE523-B7CB-22F4-FDCA-9941D6201F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773517-AE29-8D95-96D8-67C77A264B6B}"/>
              </a:ext>
            </a:extLst>
          </p:cNvPr>
          <p:cNvGrpSpPr/>
          <p:nvPr/>
        </p:nvGrpSpPr>
        <p:grpSpPr>
          <a:xfrm>
            <a:off x="10972800" y="5753100"/>
            <a:ext cx="7549591" cy="7549591"/>
            <a:chOff x="0" y="0"/>
            <a:chExt cx="6350000" cy="6350000"/>
          </a:xfrm>
        </p:grpSpPr>
        <p:sp>
          <p:nvSpPr>
            <p:cNvPr id="3" name="Freeform 3">
              <a:extLst>
                <a:ext uri="{FF2B5EF4-FFF2-40B4-BE49-F238E27FC236}">
                  <a16:creationId xmlns:a16="http://schemas.microsoft.com/office/drawing/2014/main" id="{61E4FBDD-AC67-464B-18A8-DCAEFF203A0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34902"/>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 name="TextBox 4">
            <a:extLst>
              <a:ext uri="{FF2B5EF4-FFF2-40B4-BE49-F238E27FC236}">
                <a16:creationId xmlns:a16="http://schemas.microsoft.com/office/drawing/2014/main" id="{C29372A0-858E-BD1C-5545-B6FBD73A12E7}"/>
              </a:ext>
            </a:extLst>
          </p:cNvPr>
          <p:cNvSpPr txBox="1"/>
          <p:nvPr/>
        </p:nvSpPr>
        <p:spPr>
          <a:xfrm>
            <a:off x="1043803" y="2274632"/>
            <a:ext cx="16200394" cy="3532698"/>
          </a:xfrm>
          <a:prstGeom prst="rect">
            <a:avLst/>
          </a:prstGeom>
        </p:spPr>
        <p:txBody>
          <a:bodyPr lIns="0" tIns="0" rIns="0" bIns="0" rtlCol="0" anchor="t">
            <a:spAutoFit/>
          </a:bodyPr>
          <a:lstStyle/>
          <a:p>
            <a:pPr marL="0" marR="0" lvl="0" indent="0" algn="ctr" defTabSz="914400" rtl="0" eaLnBrk="1" fontAlgn="auto" latinLnBrk="0" hangingPunct="1">
              <a:lnSpc>
                <a:spcPts val="9600"/>
              </a:lnSpc>
              <a:spcBef>
                <a:spcPts val="0"/>
              </a:spcBef>
              <a:spcAft>
                <a:spcPts val="0"/>
              </a:spcAft>
              <a:buClrTx/>
              <a:buSzTx/>
              <a:buFontTx/>
              <a:buNone/>
              <a:tabLst/>
              <a:defRPr/>
            </a:pPr>
            <a:r>
              <a:rPr lang="en-GB" sz="3600" b="1" dirty="0">
                <a:solidFill>
                  <a:srgbClr val="FFFFFF"/>
                </a:solidFill>
                <a:latin typeface="Muli Ultra-Bold"/>
                <a:ea typeface="Muli Ultra-Bold"/>
                <a:cs typeface="Muli Ultra-Bold"/>
                <a:sym typeface="Muli Ultra-Bold"/>
              </a:rPr>
              <a:t>T</a:t>
            </a:r>
            <a:r>
              <a:rPr kumimoji="0" lang="en-GB" sz="3600" b="1" i="0" u="none" strike="noStrike" kern="1200" cap="none" spc="0" normalizeH="0" baseline="0" noProof="0" dirty="0">
                <a:ln>
                  <a:noFill/>
                </a:ln>
                <a:solidFill>
                  <a:srgbClr val="FFFFFF"/>
                </a:solidFill>
                <a:effectLst/>
                <a:uLnTx/>
                <a:uFillTx/>
                <a:latin typeface="Muli Ultra-Bold"/>
                <a:ea typeface="Muli Ultra-Bold"/>
                <a:cs typeface="Muli Ultra-Bold"/>
                <a:sym typeface="Muli Ultra-Bold"/>
              </a:rPr>
              <a:t>he future of data analysis can involve great progress, the overcoming of real difficulties, and the provision of a great service to all fields of science and technology (Turnkey, 1962)</a:t>
            </a:r>
            <a:endParaRPr kumimoji="0" lang="en-US" sz="3600" b="1" i="0" u="none" strike="noStrike" kern="1200" cap="none" spc="0" normalizeH="0" baseline="0" noProof="0" dirty="0">
              <a:ln>
                <a:noFill/>
              </a:ln>
              <a:solidFill>
                <a:srgbClr val="FFFFFF"/>
              </a:solidFill>
              <a:effectLst/>
              <a:uLnTx/>
              <a:uFillTx/>
              <a:latin typeface="Muli Ultra-Bold"/>
              <a:ea typeface="Muli Ultra-Bold"/>
              <a:cs typeface="Muli Ultra-Bold"/>
              <a:sym typeface="Muli Ultra-Bold"/>
            </a:endParaRPr>
          </a:p>
        </p:txBody>
      </p:sp>
      <p:sp>
        <p:nvSpPr>
          <p:cNvPr id="5" name="Oval 4" descr="African elephant in long grass">
            <a:extLst>
              <a:ext uri="{FF2B5EF4-FFF2-40B4-BE49-F238E27FC236}">
                <a16:creationId xmlns:a16="http://schemas.microsoft.com/office/drawing/2014/main" id="{DB4C70D2-30B6-EBF9-AC48-2CC761D5F804}"/>
              </a:ext>
            </a:extLst>
          </p:cNvPr>
          <p:cNvSpPr/>
          <p:nvPr/>
        </p:nvSpPr>
        <p:spPr>
          <a:xfrm>
            <a:off x="11966295" y="6246019"/>
            <a:ext cx="5562600" cy="6400800"/>
          </a:xfrm>
          <a:prstGeom prst="ellipse">
            <a:avLst/>
          </a:prstGeom>
          <a:blipFill dpi="0" rotWithShape="1">
            <a:blip r:embed="rId3"/>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778573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0C3BF-1F27-13BE-C4D1-99FD7AD8FB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70B07D-E080-B1A4-B27A-AD9D0B463B84}"/>
              </a:ext>
            </a:extLst>
          </p:cNvPr>
          <p:cNvGrpSpPr/>
          <p:nvPr/>
        </p:nvGrpSpPr>
        <p:grpSpPr>
          <a:xfrm>
            <a:off x="-3044657" y="1659574"/>
            <a:ext cx="6967851" cy="6967851"/>
            <a:chOff x="0" y="0"/>
            <a:chExt cx="6350000" cy="6350000"/>
          </a:xfrm>
        </p:grpSpPr>
        <p:sp>
          <p:nvSpPr>
            <p:cNvPr id="3" name="Freeform 3">
              <a:extLst>
                <a:ext uri="{FF2B5EF4-FFF2-40B4-BE49-F238E27FC236}">
                  <a16:creationId xmlns:a16="http://schemas.microsoft.com/office/drawing/2014/main" id="{07C65DC7-4F40-ABF4-8333-7A1C39AEB87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a:extLst>
              <a:ext uri="{FF2B5EF4-FFF2-40B4-BE49-F238E27FC236}">
                <a16:creationId xmlns:a16="http://schemas.microsoft.com/office/drawing/2014/main" id="{CE7E46FD-67F7-09A2-32CB-2977594AB53D}"/>
              </a:ext>
            </a:extLst>
          </p:cNvPr>
          <p:cNvSpPr txBox="1"/>
          <p:nvPr/>
        </p:nvSpPr>
        <p:spPr>
          <a:xfrm>
            <a:off x="0" y="4681834"/>
            <a:ext cx="4439245" cy="923330"/>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Muli Bold"/>
                <a:ea typeface="Muli Bold"/>
                <a:cs typeface="Muli Bold"/>
                <a:sym typeface="Muli Bold"/>
              </a:rPr>
              <a:t>Demo</a:t>
            </a:r>
          </a:p>
        </p:txBody>
      </p:sp>
      <p:pic>
        <p:nvPicPr>
          <p:cNvPr id="7" name="Online Media 6" title="Code demo for Stastistician in the Loop">
            <a:hlinkClick r:id="" action="ppaction://media"/>
            <a:extLst>
              <a:ext uri="{FF2B5EF4-FFF2-40B4-BE49-F238E27FC236}">
                <a16:creationId xmlns:a16="http://schemas.microsoft.com/office/drawing/2014/main" id="{C3CFE71C-72EC-0062-A8E7-DDB81A9B05FD}"/>
              </a:ext>
            </a:extLst>
          </p:cNvPr>
          <p:cNvPicPr>
            <a:picLocks noRot="1" noChangeAspect="1"/>
          </p:cNvPicPr>
          <p:nvPr>
            <a:videoFile r:link="rId1"/>
          </p:nvPr>
        </p:nvPicPr>
        <p:blipFill>
          <a:blip r:embed="rId3"/>
          <a:stretch>
            <a:fillRect/>
          </a:stretch>
        </p:blipFill>
        <p:spPr>
          <a:xfrm>
            <a:off x="4191000" y="495300"/>
            <a:ext cx="13639800" cy="9448800"/>
          </a:xfrm>
          <a:prstGeom prst="rect">
            <a:avLst/>
          </a:prstGeom>
        </p:spPr>
      </p:pic>
    </p:spTree>
    <p:extLst>
      <p:ext uri="{BB962C8B-B14F-4D97-AF65-F5344CB8AC3E}">
        <p14:creationId xmlns:p14="http://schemas.microsoft.com/office/powerpoint/2010/main" val="252126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6FF23-C509-F3E4-7378-9AF2B1E821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9BFB991-7FD4-2AB3-7D30-746667C55E23}"/>
              </a:ext>
            </a:extLst>
          </p:cNvPr>
          <p:cNvGrpSpPr/>
          <p:nvPr/>
        </p:nvGrpSpPr>
        <p:grpSpPr>
          <a:xfrm>
            <a:off x="-3044657" y="1659574"/>
            <a:ext cx="6967851" cy="6967851"/>
            <a:chOff x="0" y="0"/>
            <a:chExt cx="6350000" cy="6350000"/>
          </a:xfrm>
        </p:grpSpPr>
        <p:sp>
          <p:nvSpPr>
            <p:cNvPr id="3" name="Freeform 3">
              <a:extLst>
                <a:ext uri="{FF2B5EF4-FFF2-40B4-BE49-F238E27FC236}">
                  <a16:creationId xmlns:a16="http://schemas.microsoft.com/office/drawing/2014/main" id="{3AA1C69A-F3A0-19B9-B0F3-316A969013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a:extLst>
              <a:ext uri="{FF2B5EF4-FFF2-40B4-BE49-F238E27FC236}">
                <a16:creationId xmlns:a16="http://schemas.microsoft.com/office/drawing/2014/main" id="{02CD2980-16D3-1476-1634-E5B51A6765C9}"/>
              </a:ext>
            </a:extLst>
          </p:cNvPr>
          <p:cNvSpPr txBox="1"/>
          <p:nvPr/>
        </p:nvSpPr>
        <p:spPr>
          <a:xfrm>
            <a:off x="0" y="4681834"/>
            <a:ext cx="4439245" cy="1846659"/>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Muli Bold"/>
                <a:ea typeface="Muli Bold"/>
                <a:cs typeface="Muli Bold"/>
                <a:sym typeface="Muli Bold"/>
              </a:rPr>
              <a:t>Demo</a:t>
            </a:r>
          </a:p>
          <a:p>
            <a:pPr algn="l">
              <a:lnSpc>
                <a:spcPts val="7150"/>
              </a:lnSpc>
            </a:pPr>
            <a:r>
              <a:rPr lang="en-US" sz="6500" b="1" dirty="0">
                <a:solidFill>
                  <a:srgbClr val="000000"/>
                </a:solidFill>
                <a:latin typeface="Muli Bold"/>
                <a:ea typeface="Muli Bold"/>
                <a:cs typeface="Muli Bold"/>
                <a:sym typeface="Muli Bold"/>
              </a:rPr>
              <a:t>Lengthier</a:t>
            </a:r>
          </a:p>
        </p:txBody>
      </p:sp>
      <p:pic>
        <p:nvPicPr>
          <p:cNvPr id="5" name="Online Media 4" title="More agents to help statistician in the loop">
            <a:hlinkClick r:id="" action="ppaction://media"/>
            <a:extLst>
              <a:ext uri="{FF2B5EF4-FFF2-40B4-BE49-F238E27FC236}">
                <a16:creationId xmlns:a16="http://schemas.microsoft.com/office/drawing/2014/main" id="{1B300EF7-AEC9-E385-89DE-DDD98900CC75}"/>
              </a:ext>
            </a:extLst>
          </p:cNvPr>
          <p:cNvPicPr>
            <a:picLocks noRot="1" noChangeAspect="1"/>
          </p:cNvPicPr>
          <p:nvPr>
            <a:videoFile r:link="rId1"/>
          </p:nvPr>
        </p:nvPicPr>
        <p:blipFill>
          <a:blip r:embed="rId3"/>
          <a:stretch>
            <a:fillRect/>
          </a:stretch>
        </p:blipFill>
        <p:spPr>
          <a:xfrm>
            <a:off x="4191000" y="495300"/>
            <a:ext cx="13487400" cy="9372600"/>
          </a:xfrm>
          <a:prstGeom prst="rect">
            <a:avLst/>
          </a:prstGeom>
        </p:spPr>
      </p:pic>
    </p:spTree>
    <p:extLst>
      <p:ext uri="{BB962C8B-B14F-4D97-AF65-F5344CB8AC3E}">
        <p14:creationId xmlns:p14="http://schemas.microsoft.com/office/powerpoint/2010/main" val="365879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28BF-6709-6B40-3665-B067916D79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0B5B94-40DF-C591-BC23-96D8CCAEBDB8}"/>
              </a:ext>
            </a:extLst>
          </p:cNvPr>
          <p:cNvGrpSpPr/>
          <p:nvPr/>
        </p:nvGrpSpPr>
        <p:grpSpPr>
          <a:xfrm>
            <a:off x="-3044657" y="1659574"/>
            <a:ext cx="6967851" cy="6967851"/>
            <a:chOff x="0" y="0"/>
            <a:chExt cx="6350000" cy="6350000"/>
          </a:xfrm>
        </p:grpSpPr>
        <p:sp>
          <p:nvSpPr>
            <p:cNvPr id="3" name="Freeform 3">
              <a:extLst>
                <a:ext uri="{FF2B5EF4-FFF2-40B4-BE49-F238E27FC236}">
                  <a16:creationId xmlns:a16="http://schemas.microsoft.com/office/drawing/2014/main" id="{2CEB98EF-668B-FCA7-7B6E-847F4916EA1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4" name="TextBox 4">
            <a:extLst>
              <a:ext uri="{FF2B5EF4-FFF2-40B4-BE49-F238E27FC236}">
                <a16:creationId xmlns:a16="http://schemas.microsoft.com/office/drawing/2014/main" id="{96E6F2CE-DCB0-4A89-BEC0-A66A31450E0D}"/>
              </a:ext>
            </a:extLst>
          </p:cNvPr>
          <p:cNvSpPr txBox="1"/>
          <p:nvPr/>
        </p:nvSpPr>
        <p:spPr>
          <a:xfrm>
            <a:off x="-516051" y="4681834"/>
            <a:ext cx="4439245" cy="923330"/>
          </a:xfrm>
          <a:prstGeom prst="rect">
            <a:avLst/>
          </a:prstGeom>
        </p:spPr>
        <p:txBody>
          <a:bodyPr wrap="square" lIns="0" tIns="0" rIns="0" bIns="0" rtlCol="0" anchor="t">
            <a:spAutoFit/>
          </a:bodyPr>
          <a:lstStyle/>
          <a:p>
            <a:pPr algn="l">
              <a:lnSpc>
                <a:spcPts val="7150"/>
              </a:lnSpc>
            </a:pPr>
            <a:r>
              <a:rPr lang="en-US" sz="6500" b="1" dirty="0">
                <a:solidFill>
                  <a:srgbClr val="000000"/>
                </a:solidFill>
                <a:latin typeface="Muli Bold"/>
                <a:ea typeface="Muli Bold"/>
                <a:cs typeface="Muli Bold"/>
                <a:sym typeface="Muli Bold"/>
              </a:rPr>
              <a:t>References</a:t>
            </a:r>
          </a:p>
        </p:txBody>
      </p:sp>
      <p:sp>
        <p:nvSpPr>
          <p:cNvPr id="5" name="TextBox 5">
            <a:extLst>
              <a:ext uri="{FF2B5EF4-FFF2-40B4-BE49-F238E27FC236}">
                <a16:creationId xmlns:a16="http://schemas.microsoft.com/office/drawing/2014/main" id="{E491D870-75DE-04E8-3BBC-B8EB7442A8DA}"/>
              </a:ext>
            </a:extLst>
          </p:cNvPr>
          <p:cNvSpPr txBox="1"/>
          <p:nvPr/>
        </p:nvSpPr>
        <p:spPr>
          <a:xfrm>
            <a:off x="4267200" y="416091"/>
            <a:ext cx="13639800" cy="2846036"/>
          </a:xfrm>
          <a:prstGeom prst="rect">
            <a:avLst/>
          </a:prstGeom>
        </p:spPr>
        <p:txBody>
          <a:bodyPr wrap="square" lIns="0" tIns="0" rIns="0" bIns="0" rtlCol="0" anchor="t">
            <a:spAutoFit/>
          </a:bodyPr>
          <a:lstStyle/>
          <a:p>
            <a:pPr marL="457200" indent="-457200">
              <a:lnSpc>
                <a:spcPts val="2800"/>
              </a:lnSpc>
              <a:spcBef>
                <a:spcPct val="0"/>
              </a:spcBef>
              <a:buAutoNum type="arabicPeriod"/>
            </a:pPr>
            <a:r>
              <a:rPr lang="en-GB" sz="2000" spc="-20" dirty="0">
                <a:solidFill>
                  <a:srgbClr val="000000"/>
                </a:solidFill>
                <a:latin typeface="Roboto Mono"/>
                <a:ea typeface="Roboto Mono"/>
                <a:cs typeface="Roboto Mono"/>
                <a:sym typeface="Roboto Mono"/>
                <a:hlinkClick r:id="rId2"/>
              </a:rPr>
              <a:t>AI can predict neuroscience study results better than human experts</a:t>
            </a:r>
            <a:endParaRPr lang="en-US"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000" spc="-20" dirty="0">
                <a:solidFill>
                  <a:srgbClr val="000000"/>
                </a:solidFill>
                <a:latin typeface="Roboto Mono"/>
                <a:ea typeface="Roboto Mono"/>
                <a:cs typeface="Roboto Mono"/>
                <a:sym typeface="Roboto Mono"/>
                <a:hlinkClick r:id="rId3"/>
              </a:rPr>
              <a:t>Olympiad geometry problem solving using AI</a:t>
            </a:r>
            <a:endParaRPr lang="en-GB"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000" spc="-20" dirty="0">
                <a:solidFill>
                  <a:srgbClr val="000000"/>
                </a:solidFill>
                <a:latin typeface="Roboto Mono"/>
                <a:ea typeface="Roboto Mono"/>
                <a:cs typeface="Roboto Mono"/>
                <a:sym typeface="Roboto Mono"/>
                <a:hlinkClick r:id="rId4"/>
              </a:rPr>
              <a:t>Accelerating research with an AI co-scientist</a:t>
            </a:r>
            <a:endParaRPr lang="en-GB"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000" spc="-20" dirty="0">
                <a:solidFill>
                  <a:srgbClr val="000000"/>
                </a:solidFill>
                <a:latin typeface="Roboto Mono"/>
                <a:ea typeface="Roboto Mono"/>
                <a:cs typeface="Roboto Mono"/>
                <a:sym typeface="Roboto Mono"/>
                <a:hlinkClick r:id="rId5"/>
              </a:rPr>
              <a:t>Mathematicians question ai performance at international math Olympiad</a:t>
            </a:r>
            <a:endParaRPr lang="en-GB"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000" spc="-20" dirty="0">
                <a:solidFill>
                  <a:srgbClr val="000000"/>
                </a:solidFill>
                <a:latin typeface="Roboto Mono"/>
                <a:ea typeface="Roboto Mono"/>
                <a:cs typeface="Roboto Mono"/>
                <a:sym typeface="Roboto Mono"/>
                <a:hlinkClick r:id="rId6"/>
              </a:rPr>
              <a:t>Causal Inference Meets Deep Learning: A Comprehensive Survey</a:t>
            </a:r>
            <a:endParaRPr lang="en-GB"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r>
              <a:rPr lang="en-GB" sz="2000" spc="-20" dirty="0">
                <a:solidFill>
                  <a:srgbClr val="000000"/>
                </a:solidFill>
                <a:latin typeface="Roboto Mono"/>
                <a:ea typeface="Roboto Mono"/>
                <a:cs typeface="Roboto Mono"/>
                <a:sym typeface="Roboto Mono"/>
                <a:hlinkClick r:id="rId7"/>
              </a:rPr>
              <a:t>Double Jeopardy? The Interaction of Gender and Race on Earnings in the U.S</a:t>
            </a:r>
            <a:endParaRPr lang="en-US"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endParaRPr lang="en-US" sz="2000" spc="-20" dirty="0">
              <a:solidFill>
                <a:srgbClr val="000000"/>
              </a:solidFill>
              <a:latin typeface="Roboto Mono"/>
              <a:ea typeface="Roboto Mono"/>
              <a:cs typeface="Roboto Mono"/>
              <a:sym typeface="Roboto Mono"/>
            </a:endParaRPr>
          </a:p>
          <a:p>
            <a:pPr marL="457200" indent="-457200">
              <a:lnSpc>
                <a:spcPts val="2800"/>
              </a:lnSpc>
              <a:spcBef>
                <a:spcPct val="0"/>
              </a:spcBef>
              <a:buAutoNum type="arabicPeriod"/>
            </a:pPr>
            <a:endParaRPr lang="en-US" sz="2000" spc="-20" dirty="0">
              <a:solidFill>
                <a:srgbClr val="000000"/>
              </a:solidFill>
              <a:latin typeface="Roboto Mono"/>
              <a:ea typeface="Roboto Mono"/>
              <a:cs typeface="Roboto Mono"/>
              <a:sym typeface="Roboto Mono"/>
            </a:endParaRPr>
          </a:p>
        </p:txBody>
      </p:sp>
      <p:sp>
        <p:nvSpPr>
          <p:cNvPr id="6" name="TextBox 5">
            <a:extLst>
              <a:ext uri="{FF2B5EF4-FFF2-40B4-BE49-F238E27FC236}">
                <a16:creationId xmlns:a16="http://schemas.microsoft.com/office/drawing/2014/main" id="{9155B6CF-1BAC-F51B-2432-0B9E7EBD24E8}"/>
              </a:ext>
            </a:extLst>
          </p:cNvPr>
          <p:cNvSpPr txBox="1"/>
          <p:nvPr/>
        </p:nvSpPr>
        <p:spPr>
          <a:xfrm>
            <a:off x="4267200" y="2723518"/>
            <a:ext cx="13258800" cy="1077218"/>
          </a:xfrm>
          <a:prstGeom prst="rect">
            <a:avLst/>
          </a:prstGeom>
          <a:noFill/>
        </p:spPr>
        <p:txBody>
          <a:bodyPr wrap="square" rtlCol="0">
            <a:spAutoFit/>
          </a:bodyPr>
          <a:lstStyle/>
          <a:p>
            <a:r>
              <a:rPr lang="en-MY" sz="3200" dirty="0">
                <a:latin typeface="Roboto Mono" panose="00000009000000000000" pitchFamily="49" charset="0"/>
                <a:ea typeface="Roboto Mono" panose="00000009000000000000" pitchFamily="49" charset="0"/>
              </a:rPr>
              <a:t>Full reproducible notebooks can be found at </a:t>
            </a:r>
            <a:r>
              <a:rPr lang="en-MY" sz="3200" dirty="0">
                <a:latin typeface="Roboto Mono" panose="00000009000000000000" pitchFamily="49" charset="0"/>
                <a:ea typeface="Roboto Mono" panose="00000009000000000000" pitchFamily="49" charset="0"/>
                <a:hlinkClick r:id="rId8"/>
              </a:rPr>
              <a:t>https://github.com/pengkodam/ISM-VII2025</a:t>
            </a:r>
            <a:endParaRPr lang="en-MY" sz="3200" dirty="0">
              <a:latin typeface="Roboto Mono" panose="00000009000000000000" pitchFamily="49" charset="0"/>
              <a:ea typeface="Roboto Mono" panose="00000009000000000000" pitchFamily="49" charset="0"/>
            </a:endParaRPr>
          </a:p>
        </p:txBody>
      </p:sp>
      <p:pic>
        <p:nvPicPr>
          <p:cNvPr id="8" name="Picture 7" descr="A qr code on a white background&#10;&#10;AI-generated content may be incorrect.">
            <a:extLst>
              <a:ext uri="{FF2B5EF4-FFF2-40B4-BE49-F238E27FC236}">
                <a16:creationId xmlns:a16="http://schemas.microsoft.com/office/drawing/2014/main" id="{94E5FE7F-9B78-90C2-5482-EA9BC7E6684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23194" y="3965409"/>
            <a:ext cx="5905500" cy="5905500"/>
          </a:xfrm>
          <a:prstGeom prst="rect">
            <a:avLst/>
          </a:prstGeom>
        </p:spPr>
      </p:pic>
    </p:spTree>
    <p:extLst>
      <p:ext uri="{BB962C8B-B14F-4D97-AF65-F5344CB8AC3E}">
        <p14:creationId xmlns:p14="http://schemas.microsoft.com/office/powerpoint/2010/main" val="1068996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67D26"/>
        </a:solidFill>
        <a:effectLst/>
      </p:bgPr>
    </p:bg>
    <p:spTree>
      <p:nvGrpSpPr>
        <p:cNvPr id="1" name="">
          <a:extLst>
            <a:ext uri="{FF2B5EF4-FFF2-40B4-BE49-F238E27FC236}">
              <a16:creationId xmlns:a16="http://schemas.microsoft.com/office/drawing/2014/main" id="{7B2612EC-559E-4678-0838-E028D08519E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0C26396-895B-EFF8-7624-5B7BF13CA08D}"/>
              </a:ext>
            </a:extLst>
          </p:cNvPr>
          <p:cNvSpPr txBox="1"/>
          <p:nvPr/>
        </p:nvSpPr>
        <p:spPr>
          <a:xfrm>
            <a:off x="2302707" y="1761567"/>
            <a:ext cx="13682586" cy="1846659"/>
          </a:xfrm>
          <a:prstGeom prst="rect">
            <a:avLst/>
          </a:prstGeom>
        </p:spPr>
        <p:txBody>
          <a:bodyPr lIns="0" tIns="0" rIns="0" bIns="0" rtlCol="0" anchor="t">
            <a:spAutoFit/>
          </a:bodyPr>
          <a:lstStyle/>
          <a:p>
            <a:pPr algn="ctr">
              <a:lnSpc>
                <a:spcPts val="7150"/>
              </a:lnSpc>
            </a:pPr>
            <a:r>
              <a:rPr lang="en-US" sz="6500" b="1" dirty="0">
                <a:solidFill>
                  <a:srgbClr val="FFFFFF"/>
                </a:solidFill>
                <a:latin typeface="Muli Bold"/>
                <a:ea typeface="Muli Bold"/>
                <a:cs typeface="Muli Bold"/>
                <a:sym typeface="Muli Bold"/>
              </a:rPr>
              <a:t>The evidence for </a:t>
            </a:r>
          </a:p>
          <a:p>
            <a:pPr algn="ctr">
              <a:lnSpc>
                <a:spcPts val="7150"/>
              </a:lnSpc>
            </a:pPr>
            <a:r>
              <a:rPr lang="en-US" sz="6500" b="1" dirty="0">
                <a:solidFill>
                  <a:srgbClr val="FFFFFF"/>
                </a:solidFill>
                <a:latin typeface="Muli Bold"/>
                <a:ea typeface="Muli Bold"/>
                <a:cs typeface="Muli Bold"/>
                <a:sym typeface="Muli Bold"/>
              </a:rPr>
              <a:t>AI displacement of statisticians</a:t>
            </a:r>
          </a:p>
        </p:txBody>
      </p:sp>
      <p:sp>
        <p:nvSpPr>
          <p:cNvPr id="3" name="TextBox 3">
            <a:extLst>
              <a:ext uri="{FF2B5EF4-FFF2-40B4-BE49-F238E27FC236}">
                <a16:creationId xmlns:a16="http://schemas.microsoft.com/office/drawing/2014/main" id="{19F48430-8305-952F-B393-B0FA7A721D2A}"/>
              </a:ext>
            </a:extLst>
          </p:cNvPr>
          <p:cNvSpPr txBox="1"/>
          <p:nvPr/>
        </p:nvSpPr>
        <p:spPr>
          <a:xfrm>
            <a:off x="1028700" y="6182981"/>
            <a:ext cx="4711820" cy="2486963"/>
          </a:xfrm>
          <a:prstGeom prst="rect">
            <a:avLst/>
          </a:prstGeom>
        </p:spPr>
        <p:txBody>
          <a:bodyPr lIns="0" tIns="0" rIns="0" bIns="0" rtlCol="0" anchor="t">
            <a:spAutoFit/>
          </a:bodyPr>
          <a:lstStyle/>
          <a:p>
            <a:pPr algn="ctr">
              <a:lnSpc>
                <a:spcPts val="2799"/>
              </a:lnSpc>
              <a:spcBef>
                <a:spcPct val="0"/>
              </a:spcBef>
            </a:pPr>
            <a:r>
              <a:rPr lang="en-GB" sz="1999" spc="-19" dirty="0">
                <a:solidFill>
                  <a:srgbClr val="FFFFFF"/>
                </a:solidFill>
                <a:latin typeface="Roboto Mono"/>
                <a:ea typeface="Roboto Mono"/>
                <a:cs typeface="Roboto Mono"/>
                <a:sym typeface="Roboto Mono"/>
              </a:rPr>
              <a:t>Large language models (LLM) can predict the </a:t>
            </a:r>
            <a:r>
              <a:rPr lang="en-GB" sz="1999" u="sng" spc="-19" dirty="0">
                <a:solidFill>
                  <a:srgbClr val="FFFFFF"/>
                </a:solidFill>
                <a:latin typeface="Roboto Mono"/>
                <a:ea typeface="Roboto Mono"/>
                <a:cs typeface="Roboto Mono"/>
                <a:sym typeface="Roboto Mono"/>
              </a:rPr>
              <a:t>results of proposed neuroscience studies more accurately than human experts</a:t>
            </a:r>
            <a:r>
              <a:rPr lang="en-GB" sz="1999" spc="-19" dirty="0">
                <a:solidFill>
                  <a:srgbClr val="FFFFFF"/>
                </a:solidFill>
                <a:latin typeface="Roboto Mono"/>
                <a:ea typeface="Roboto Mono"/>
                <a:cs typeface="Roboto Mono"/>
                <a:sym typeface="Roboto Mono"/>
              </a:rPr>
              <a:t>, finds a study led by University College London (UCL) researchers </a:t>
            </a:r>
            <a:r>
              <a:rPr lang="en-GB" sz="1999" spc="-19" dirty="0">
                <a:solidFill>
                  <a:srgbClr val="FFFFFF"/>
                </a:solidFill>
                <a:latin typeface="Roboto Mono"/>
                <a:ea typeface="Roboto Mono"/>
                <a:cs typeface="Roboto Mono"/>
                <a:sym typeface="Roboto Mono"/>
                <a:hlinkClick r:id="" action="ppaction://noaction"/>
              </a:rPr>
              <a:t>[1]</a:t>
            </a:r>
            <a:endParaRPr lang="en-US" sz="2000" spc="-20" dirty="0">
              <a:solidFill>
                <a:srgbClr val="FFFFFF"/>
              </a:solidFill>
              <a:latin typeface="Roboto Mono"/>
              <a:ea typeface="Roboto Mono"/>
              <a:cs typeface="Roboto Mono"/>
              <a:sym typeface="Roboto Mono"/>
            </a:endParaRPr>
          </a:p>
        </p:txBody>
      </p:sp>
      <p:sp>
        <p:nvSpPr>
          <p:cNvPr id="4" name="TextBox 4">
            <a:extLst>
              <a:ext uri="{FF2B5EF4-FFF2-40B4-BE49-F238E27FC236}">
                <a16:creationId xmlns:a16="http://schemas.microsoft.com/office/drawing/2014/main" id="{2A719BD3-E6E8-2233-8631-9A1078E35229}"/>
              </a:ext>
            </a:extLst>
          </p:cNvPr>
          <p:cNvSpPr txBox="1"/>
          <p:nvPr/>
        </p:nvSpPr>
        <p:spPr>
          <a:xfrm>
            <a:off x="6788090" y="6182981"/>
            <a:ext cx="4711820" cy="3205108"/>
          </a:xfrm>
          <a:prstGeom prst="rect">
            <a:avLst/>
          </a:prstGeom>
        </p:spPr>
        <p:txBody>
          <a:bodyPr lIns="0" tIns="0" rIns="0" bIns="0" rtlCol="0" anchor="t">
            <a:spAutoFit/>
          </a:bodyPr>
          <a:lstStyle/>
          <a:p>
            <a:pPr algn="ctr">
              <a:lnSpc>
                <a:spcPts val="2799"/>
              </a:lnSpc>
              <a:spcBef>
                <a:spcPct val="0"/>
              </a:spcBef>
            </a:pPr>
            <a:r>
              <a:rPr lang="en-GB" sz="1999" spc="-19" dirty="0" err="1">
                <a:solidFill>
                  <a:srgbClr val="FFFFFF"/>
                </a:solidFill>
                <a:latin typeface="Roboto Mono"/>
                <a:ea typeface="Roboto Mono"/>
                <a:cs typeface="Roboto Mono"/>
                <a:sym typeface="Roboto Mono"/>
              </a:rPr>
              <a:t>AlphaGeometry</a:t>
            </a:r>
            <a:r>
              <a:rPr lang="en-GB" sz="1999" spc="-19" dirty="0">
                <a:solidFill>
                  <a:srgbClr val="FFFFFF"/>
                </a:solidFill>
                <a:latin typeface="Roboto Mono"/>
                <a:ea typeface="Roboto Mono"/>
                <a:cs typeface="Roboto Mono"/>
                <a:sym typeface="Roboto Mono"/>
              </a:rPr>
              <a:t>, an AI system that </a:t>
            </a:r>
            <a:r>
              <a:rPr lang="en-GB" sz="1999" u="sng" spc="-19" dirty="0">
                <a:solidFill>
                  <a:srgbClr val="FFFFFF"/>
                </a:solidFill>
                <a:latin typeface="Roboto Mono"/>
                <a:ea typeface="Roboto Mono"/>
                <a:cs typeface="Roboto Mono"/>
                <a:sym typeface="Roboto Mono"/>
              </a:rPr>
              <a:t>solves complex geometry problems at a level approaching a human Olympiad silver-</a:t>
            </a:r>
            <a:r>
              <a:rPr lang="en-GB" sz="1999" u="sng" spc="-19" dirty="0" err="1">
                <a:solidFill>
                  <a:srgbClr val="FFFFFF"/>
                </a:solidFill>
                <a:latin typeface="Roboto Mono"/>
                <a:ea typeface="Roboto Mono"/>
                <a:cs typeface="Roboto Mono"/>
                <a:sym typeface="Roboto Mono"/>
              </a:rPr>
              <a:t>medalist</a:t>
            </a:r>
            <a:r>
              <a:rPr lang="en-GB" sz="1999" u="sng" spc="-19" dirty="0">
                <a:solidFill>
                  <a:srgbClr val="FFFFFF"/>
                </a:solidFill>
                <a:latin typeface="Roboto Mono"/>
                <a:ea typeface="Roboto Mono"/>
                <a:cs typeface="Roboto Mono"/>
                <a:sym typeface="Roboto Mono"/>
              </a:rPr>
              <a:t> </a:t>
            </a:r>
            <a:r>
              <a:rPr lang="en-GB" sz="1999" spc="-19" dirty="0">
                <a:solidFill>
                  <a:srgbClr val="FFFFFF"/>
                </a:solidFill>
                <a:latin typeface="Roboto Mono"/>
                <a:ea typeface="Roboto Mono"/>
                <a:cs typeface="Roboto Mono"/>
                <a:sym typeface="Roboto Mono"/>
              </a:rPr>
              <a:t>, solving 25 within the standard Olympiad time limit. The average human gold </a:t>
            </a:r>
            <a:r>
              <a:rPr lang="en-GB" sz="1999" spc="-19" dirty="0" err="1">
                <a:solidFill>
                  <a:srgbClr val="FFFFFF"/>
                </a:solidFill>
                <a:latin typeface="Roboto Mono"/>
                <a:ea typeface="Roboto Mono"/>
                <a:cs typeface="Roboto Mono"/>
                <a:sym typeface="Roboto Mono"/>
              </a:rPr>
              <a:t>medalist</a:t>
            </a:r>
            <a:r>
              <a:rPr lang="en-GB" sz="1999" spc="-19" dirty="0">
                <a:solidFill>
                  <a:srgbClr val="FFFFFF"/>
                </a:solidFill>
                <a:latin typeface="Roboto Mono"/>
                <a:ea typeface="Roboto Mono"/>
                <a:cs typeface="Roboto Mono"/>
                <a:sym typeface="Roboto Mono"/>
              </a:rPr>
              <a:t> solved 25.9 problems.</a:t>
            </a:r>
            <a:r>
              <a:rPr lang="en-GB" sz="1999" spc="-19" dirty="0">
                <a:solidFill>
                  <a:srgbClr val="FFFFFF"/>
                </a:solidFill>
                <a:latin typeface="Roboto Mono"/>
                <a:ea typeface="Roboto Mono"/>
                <a:cs typeface="Roboto Mono"/>
                <a:sym typeface="Roboto Mono"/>
                <a:hlinkClick r:id="" action="ppaction://noaction"/>
              </a:rPr>
              <a:t>[2]</a:t>
            </a:r>
            <a:endParaRPr lang="en-US" sz="2000" spc="-20" dirty="0">
              <a:solidFill>
                <a:srgbClr val="FFFFFF"/>
              </a:solidFill>
              <a:latin typeface="Roboto Mono"/>
              <a:ea typeface="Roboto Mono"/>
              <a:cs typeface="Roboto Mono"/>
              <a:sym typeface="Roboto Mono"/>
            </a:endParaRPr>
          </a:p>
        </p:txBody>
      </p:sp>
      <p:sp>
        <p:nvSpPr>
          <p:cNvPr id="5" name="TextBox 5">
            <a:extLst>
              <a:ext uri="{FF2B5EF4-FFF2-40B4-BE49-F238E27FC236}">
                <a16:creationId xmlns:a16="http://schemas.microsoft.com/office/drawing/2014/main" id="{E3D6F4F7-D586-C572-3837-DCE4CA6A9F9C}"/>
              </a:ext>
            </a:extLst>
          </p:cNvPr>
          <p:cNvSpPr txBox="1"/>
          <p:nvPr/>
        </p:nvSpPr>
        <p:spPr>
          <a:xfrm>
            <a:off x="12109330" y="6215885"/>
            <a:ext cx="5588120" cy="2486963"/>
          </a:xfrm>
          <a:prstGeom prst="rect">
            <a:avLst/>
          </a:prstGeom>
        </p:spPr>
        <p:txBody>
          <a:bodyPr wrap="square" lIns="0" tIns="0" rIns="0" bIns="0" rtlCol="0" anchor="t">
            <a:spAutoFit/>
          </a:bodyPr>
          <a:lstStyle/>
          <a:p>
            <a:pPr algn="ctr">
              <a:lnSpc>
                <a:spcPts val="2799"/>
              </a:lnSpc>
              <a:spcBef>
                <a:spcPct val="0"/>
              </a:spcBef>
            </a:pPr>
            <a:r>
              <a:rPr lang="en-GB" sz="2000" spc="-20" dirty="0">
                <a:solidFill>
                  <a:srgbClr val="FFFFFF"/>
                </a:solidFill>
                <a:latin typeface="Roboto Mono"/>
                <a:ea typeface="Roboto Mono"/>
                <a:cs typeface="Roboto Mono"/>
                <a:sym typeface="Roboto Mono"/>
              </a:rPr>
              <a:t>Google’s AI co-scientist system is intended to uncover new, original knowledge and to formulate demonstrably novel research hypotheses and proposals, building upon prior evidence and tailored to specific research objectives.</a:t>
            </a:r>
            <a:r>
              <a:rPr lang="en-GB" sz="1999" spc="-19" dirty="0">
                <a:solidFill>
                  <a:srgbClr val="FFFFFF"/>
                </a:solidFill>
                <a:latin typeface="Roboto Mono"/>
                <a:ea typeface="Roboto Mono"/>
                <a:cs typeface="Roboto Mono"/>
                <a:sym typeface="Roboto Mono"/>
                <a:hlinkClick r:id="" action="ppaction://noaction"/>
              </a:rPr>
              <a:t>[3]</a:t>
            </a:r>
            <a:endParaRPr lang="en-US" sz="2000" spc="-20" dirty="0">
              <a:solidFill>
                <a:srgbClr val="FFFFFF"/>
              </a:solidFill>
              <a:latin typeface="Roboto Mono"/>
              <a:ea typeface="Roboto Mono"/>
              <a:cs typeface="Roboto Mono"/>
              <a:sym typeface="Roboto Mono"/>
            </a:endParaRPr>
          </a:p>
        </p:txBody>
      </p:sp>
      <p:grpSp>
        <p:nvGrpSpPr>
          <p:cNvPr id="6" name="Group 6">
            <a:extLst>
              <a:ext uri="{FF2B5EF4-FFF2-40B4-BE49-F238E27FC236}">
                <a16:creationId xmlns:a16="http://schemas.microsoft.com/office/drawing/2014/main" id="{0FA97669-6712-F7B6-C365-840C5C1032B5}"/>
              </a:ext>
            </a:extLst>
          </p:cNvPr>
          <p:cNvGrpSpPr/>
          <p:nvPr/>
        </p:nvGrpSpPr>
        <p:grpSpPr>
          <a:xfrm>
            <a:off x="2874312" y="4686311"/>
            <a:ext cx="1020596" cy="1020596"/>
            <a:chOff x="0" y="0"/>
            <a:chExt cx="1360795" cy="1360795"/>
          </a:xfrm>
        </p:grpSpPr>
        <p:grpSp>
          <p:nvGrpSpPr>
            <p:cNvPr id="7" name="Group 7">
              <a:extLst>
                <a:ext uri="{FF2B5EF4-FFF2-40B4-BE49-F238E27FC236}">
                  <a16:creationId xmlns:a16="http://schemas.microsoft.com/office/drawing/2014/main" id="{28E6069D-6508-360E-039E-EAFF9BFF11E5}"/>
                </a:ext>
              </a:extLst>
            </p:cNvPr>
            <p:cNvGrpSpPr/>
            <p:nvPr/>
          </p:nvGrpSpPr>
          <p:grpSpPr>
            <a:xfrm>
              <a:off x="0" y="0"/>
              <a:ext cx="1360795" cy="1360795"/>
              <a:chOff x="0" y="0"/>
              <a:chExt cx="6350000" cy="6350000"/>
            </a:xfrm>
          </p:grpSpPr>
          <p:sp>
            <p:nvSpPr>
              <p:cNvPr id="8" name="Freeform 8">
                <a:extLst>
                  <a:ext uri="{FF2B5EF4-FFF2-40B4-BE49-F238E27FC236}">
                    <a16:creationId xmlns:a16="http://schemas.microsoft.com/office/drawing/2014/main" id="{804A3F57-DB0A-EA86-7B69-C60A0EA010D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9" name="TextBox 9">
              <a:extLst>
                <a:ext uri="{FF2B5EF4-FFF2-40B4-BE49-F238E27FC236}">
                  <a16:creationId xmlns:a16="http://schemas.microsoft.com/office/drawing/2014/main" id="{1977612E-9AD1-ECCA-2C24-276EF70BF089}"/>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dirty="0">
                  <a:solidFill>
                    <a:srgbClr val="FFFFFF"/>
                  </a:solidFill>
                  <a:latin typeface="Muli Bold"/>
                  <a:ea typeface="Muli Bold"/>
                  <a:cs typeface="Muli Bold"/>
                  <a:sym typeface="Muli Bold"/>
                </a:rPr>
                <a:t>01</a:t>
              </a:r>
            </a:p>
          </p:txBody>
        </p:sp>
      </p:grpSp>
      <p:grpSp>
        <p:nvGrpSpPr>
          <p:cNvPr id="10" name="Group 10">
            <a:extLst>
              <a:ext uri="{FF2B5EF4-FFF2-40B4-BE49-F238E27FC236}">
                <a16:creationId xmlns:a16="http://schemas.microsoft.com/office/drawing/2014/main" id="{40C07022-63A8-76A5-0213-5D08B5B467B9}"/>
              </a:ext>
            </a:extLst>
          </p:cNvPr>
          <p:cNvGrpSpPr/>
          <p:nvPr/>
        </p:nvGrpSpPr>
        <p:grpSpPr>
          <a:xfrm>
            <a:off x="8633702" y="4686311"/>
            <a:ext cx="1020596" cy="1020596"/>
            <a:chOff x="0" y="0"/>
            <a:chExt cx="1360795" cy="1360795"/>
          </a:xfrm>
        </p:grpSpPr>
        <p:grpSp>
          <p:nvGrpSpPr>
            <p:cNvPr id="11" name="Group 11">
              <a:extLst>
                <a:ext uri="{FF2B5EF4-FFF2-40B4-BE49-F238E27FC236}">
                  <a16:creationId xmlns:a16="http://schemas.microsoft.com/office/drawing/2014/main" id="{716997C7-5AD4-32F5-4693-D0CB382C2B37}"/>
                </a:ext>
              </a:extLst>
            </p:cNvPr>
            <p:cNvGrpSpPr/>
            <p:nvPr/>
          </p:nvGrpSpPr>
          <p:grpSpPr>
            <a:xfrm>
              <a:off x="0" y="0"/>
              <a:ext cx="1360795" cy="1360795"/>
              <a:chOff x="0" y="0"/>
              <a:chExt cx="6350000" cy="6350000"/>
            </a:xfrm>
          </p:grpSpPr>
          <p:sp>
            <p:nvSpPr>
              <p:cNvPr id="12" name="Freeform 12">
                <a:extLst>
                  <a:ext uri="{FF2B5EF4-FFF2-40B4-BE49-F238E27FC236}">
                    <a16:creationId xmlns:a16="http://schemas.microsoft.com/office/drawing/2014/main" id="{46A72CD4-AB1B-8957-55AE-9011048A61A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3" name="TextBox 13">
              <a:extLst>
                <a:ext uri="{FF2B5EF4-FFF2-40B4-BE49-F238E27FC236}">
                  <a16:creationId xmlns:a16="http://schemas.microsoft.com/office/drawing/2014/main" id="{F8AFBC7E-A803-5568-5095-1599FED81067}"/>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02</a:t>
              </a:r>
            </a:p>
          </p:txBody>
        </p:sp>
      </p:grpSp>
      <p:grpSp>
        <p:nvGrpSpPr>
          <p:cNvPr id="14" name="Group 14">
            <a:extLst>
              <a:ext uri="{FF2B5EF4-FFF2-40B4-BE49-F238E27FC236}">
                <a16:creationId xmlns:a16="http://schemas.microsoft.com/office/drawing/2014/main" id="{965046C2-3B73-4442-0788-2DEE50BEF249}"/>
              </a:ext>
            </a:extLst>
          </p:cNvPr>
          <p:cNvGrpSpPr/>
          <p:nvPr/>
        </p:nvGrpSpPr>
        <p:grpSpPr>
          <a:xfrm>
            <a:off x="14393092" y="4830570"/>
            <a:ext cx="1020596" cy="1020596"/>
            <a:chOff x="0" y="0"/>
            <a:chExt cx="1360795" cy="1360795"/>
          </a:xfrm>
        </p:grpSpPr>
        <p:grpSp>
          <p:nvGrpSpPr>
            <p:cNvPr id="15" name="Group 15">
              <a:extLst>
                <a:ext uri="{FF2B5EF4-FFF2-40B4-BE49-F238E27FC236}">
                  <a16:creationId xmlns:a16="http://schemas.microsoft.com/office/drawing/2014/main" id="{71EA655D-A649-E55A-0FF6-FE655C854F48}"/>
                </a:ext>
              </a:extLst>
            </p:cNvPr>
            <p:cNvGrpSpPr/>
            <p:nvPr/>
          </p:nvGrpSpPr>
          <p:grpSpPr>
            <a:xfrm>
              <a:off x="0" y="0"/>
              <a:ext cx="1360795" cy="1360795"/>
              <a:chOff x="0" y="0"/>
              <a:chExt cx="6350000" cy="6350000"/>
            </a:xfrm>
          </p:grpSpPr>
          <p:sp>
            <p:nvSpPr>
              <p:cNvPr id="16" name="Freeform 16">
                <a:extLst>
                  <a:ext uri="{FF2B5EF4-FFF2-40B4-BE49-F238E27FC236}">
                    <a16:creationId xmlns:a16="http://schemas.microsoft.com/office/drawing/2014/main" id="{C8DD4D11-FE3B-545C-AF6B-CD343764BA3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27EB"/>
              </a:solidFill>
            </p:spPr>
            <p:txBody>
              <a:bodyPr/>
              <a:lstStyle/>
              <a:p>
                <a:endParaRPr lang="en-MY"/>
              </a:p>
            </p:txBody>
          </p:sp>
        </p:grpSp>
        <p:sp>
          <p:nvSpPr>
            <p:cNvPr id="17" name="TextBox 17">
              <a:extLst>
                <a:ext uri="{FF2B5EF4-FFF2-40B4-BE49-F238E27FC236}">
                  <a16:creationId xmlns:a16="http://schemas.microsoft.com/office/drawing/2014/main" id="{489A5957-522E-A6A7-7812-B7BFA15A3B65}"/>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03</a:t>
              </a:r>
            </a:p>
          </p:txBody>
        </p:sp>
      </p:grpSp>
      <p:sp>
        <p:nvSpPr>
          <p:cNvPr id="18" name="TextBox 17">
            <a:hlinkClick r:id="rId2" action="ppaction://hlinksldjump"/>
            <a:extLst>
              <a:ext uri="{FF2B5EF4-FFF2-40B4-BE49-F238E27FC236}">
                <a16:creationId xmlns:a16="http://schemas.microsoft.com/office/drawing/2014/main" id="{2C09617F-A664-A765-5F16-8C41E9151C75}"/>
              </a:ext>
            </a:extLst>
          </p:cNvPr>
          <p:cNvSpPr txBox="1"/>
          <p:nvPr/>
        </p:nvSpPr>
        <p:spPr>
          <a:xfrm>
            <a:off x="16230600" y="266700"/>
            <a:ext cx="1828800" cy="369332"/>
          </a:xfrm>
          <a:prstGeom prst="rect">
            <a:avLst/>
          </a:prstGeom>
          <a:solidFill>
            <a:schemeClr val="tx2">
              <a:lumMod val="60000"/>
              <a:lumOff val="40000"/>
            </a:schemeClr>
          </a:solidFill>
        </p:spPr>
        <p:txBody>
          <a:bodyPr wrap="square" rtlCol="0">
            <a:spAutoFit/>
          </a:bodyPr>
          <a:lstStyle/>
          <a:p>
            <a:pPr algn="ctr"/>
            <a:r>
              <a:rPr lang="en-MY" dirty="0">
                <a:latin typeface="Roboto Mono" panose="00000009000000000000" pitchFamily="49" charset="0"/>
                <a:ea typeface="Roboto Mono" panose="00000009000000000000" pitchFamily="49" charset="0"/>
              </a:rPr>
              <a:t>BACK</a:t>
            </a:r>
          </a:p>
        </p:txBody>
      </p:sp>
    </p:spTree>
    <p:extLst>
      <p:ext uri="{BB962C8B-B14F-4D97-AF65-F5344CB8AC3E}">
        <p14:creationId xmlns:p14="http://schemas.microsoft.com/office/powerpoint/2010/main" val="44272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3727EB"/>
        </a:solidFill>
        <a:effectLst/>
      </p:bgPr>
    </p:bg>
    <p:spTree>
      <p:nvGrpSpPr>
        <p:cNvPr id="1" name="">
          <a:extLst>
            <a:ext uri="{FF2B5EF4-FFF2-40B4-BE49-F238E27FC236}">
              <a16:creationId xmlns:a16="http://schemas.microsoft.com/office/drawing/2014/main" id="{472FDA57-7519-8488-5320-9783E7827CB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37151BF-2BB5-2F0E-5215-D8E25F659D1A}"/>
              </a:ext>
            </a:extLst>
          </p:cNvPr>
          <p:cNvSpPr txBox="1"/>
          <p:nvPr/>
        </p:nvSpPr>
        <p:spPr>
          <a:xfrm>
            <a:off x="2302707" y="1761567"/>
            <a:ext cx="13682586" cy="1846659"/>
          </a:xfrm>
          <a:prstGeom prst="rect">
            <a:avLst/>
          </a:prstGeom>
        </p:spPr>
        <p:txBody>
          <a:bodyPr lIns="0" tIns="0" rIns="0" bIns="0" rtlCol="0" anchor="t">
            <a:spAutoFit/>
          </a:bodyPr>
          <a:lstStyle/>
          <a:p>
            <a:pPr algn="ctr">
              <a:lnSpc>
                <a:spcPts val="7150"/>
              </a:lnSpc>
            </a:pPr>
            <a:r>
              <a:rPr lang="en-US" sz="6500" b="1" dirty="0">
                <a:solidFill>
                  <a:srgbClr val="FFFFFF"/>
                </a:solidFill>
                <a:latin typeface="Muli Bold"/>
                <a:ea typeface="Muli Bold"/>
                <a:cs typeface="Muli Bold"/>
                <a:sym typeface="Muli Bold"/>
              </a:rPr>
              <a:t>The counter evidence that AI will displace statisticians</a:t>
            </a:r>
          </a:p>
        </p:txBody>
      </p:sp>
      <p:sp>
        <p:nvSpPr>
          <p:cNvPr id="3" name="TextBox 3">
            <a:extLst>
              <a:ext uri="{FF2B5EF4-FFF2-40B4-BE49-F238E27FC236}">
                <a16:creationId xmlns:a16="http://schemas.microsoft.com/office/drawing/2014/main" id="{DA600F6C-78BE-C7DB-981E-C6C88A5E853B}"/>
              </a:ext>
            </a:extLst>
          </p:cNvPr>
          <p:cNvSpPr txBox="1"/>
          <p:nvPr/>
        </p:nvSpPr>
        <p:spPr>
          <a:xfrm>
            <a:off x="1028700" y="6182981"/>
            <a:ext cx="4711820" cy="3564181"/>
          </a:xfrm>
          <a:prstGeom prst="rect">
            <a:avLst/>
          </a:prstGeom>
        </p:spPr>
        <p:txBody>
          <a:bodyPr lIns="0" tIns="0" rIns="0" bIns="0" rtlCol="0" anchor="t">
            <a:spAutoFit/>
          </a:bodyPr>
          <a:lstStyle/>
          <a:p>
            <a:pPr algn="ctr">
              <a:lnSpc>
                <a:spcPts val="2799"/>
              </a:lnSpc>
              <a:spcBef>
                <a:spcPct val="0"/>
              </a:spcBef>
            </a:pPr>
            <a:r>
              <a:rPr lang="en-GB" sz="1999" spc="-19" dirty="0">
                <a:solidFill>
                  <a:srgbClr val="FFFFFF"/>
                </a:solidFill>
                <a:latin typeface="Roboto Mono"/>
                <a:ea typeface="Roboto Mono"/>
                <a:cs typeface="Roboto Mono"/>
                <a:sym typeface="Roboto Mono"/>
              </a:rPr>
              <a:t>The authors of the UCL paper on neuroscience prediction added a disclaimer alludin</a:t>
            </a:r>
            <a:r>
              <a:rPr lang="en-GB" sz="1999" spc="-19" dirty="0">
                <a:solidFill>
                  <a:srgbClr val="FFFFFF"/>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g</a:t>
            </a:r>
            <a:r>
              <a:rPr lang="en-GB" sz="1999" spc="-19" dirty="0">
                <a:solidFill>
                  <a:srgbClr val="FFFFFF"/>
                </a:solidFill>
                <a:latin typeface="Roboto Mono"/>
                <a:ea typeface="Roboto Mono"/>
                <a:cs typeface="Roboto Mono"/>
                <a:sym typeface="Roboto Mono"/>
              </a:rPr>
              <a:t> that “This success suggests that a great deal of science is not truly novel, but conforms to existing patterns of results in the literature.” This hints that AI still struggle at novel discoveries </a:t>
            </a:r>
            <a:r>
              <a:rPr lang="en-GB" sz="1999" spc="-19" dirty="0">
                <a:solidFill>
                  <a:srgbClr val="FFC000"/>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[1]</a:t>
            </a:r>
            <a:endParaRPr lang="en-US" sz="2000" spc="-20" dirty="0">
              <a:solidFill>
                <a:srgbClr val="FFC000"/>
              </a:solidFill>
              <a:latin typeface="Roboto Mono"/>
              <a:ea typeface="Roboto Mono"/>
              <a:cs typeface="Roboto Mono"/>
              <a:sym typeface="Roboto Mono"/>
            </a:endParaRPr>
          </a:p>
        </p:txBody>
      </p:sp>
      <p:sp>
        <p:nvSpPr>
          <p:cNvPr id="4" name="TextBox 4">
            <a:extLst>
              <a:ext uri="{FF2B5EF4-FFF2-40B4-BE49-F238E27FC236}">
                <a16:creationId xmlns:a16="http://schemas.microsoft.com/office/drawing/2014/main" id="{68282E98-8F3C-707E-5855-408C884CEDF5}"/>
              </a:ext>
            </a:extLst>
          </p:cNvPr>
          <p:cNvSpPr txBox="1"/>
          <p:nvPr/>
        </p:nvSpPr>
        <p:spPr>
          <a:xfrm>
            <a:off x="6788090" y="6182981"/>
            <a:ext cx="4711820" cy="3205108"/>
          </a:xfrm>
          <a:prstGeom prst="rect">
            <a:avLst/>
          </a:prstGeom>
        </p:spPr>
        <p:txBody>
          <a:bodyPr lIns="0" tIns="0" rIns="0" bIns="0" rtlCol="0" anchor="t">
            <a:spAutoFit/>
          </a:bodyPr>
          <a:lstStyle/>
          <a:p>
            <a:pPr algn="ctr">
              <a:lnSpc>
                <a:spcPts val="2799"/>
              </a:lnSpc>
              <a:spcBef>
                <a:spcPct val="0"/>
              </a:spcBef>
            </a:pPr>
            <a:r>
              <a:rPr lang="en-US" sz="1999" spc="-19" dirty="0">
                <a:solidFill>
                  <a:srgbClr val="FFFFFF"/>
                </a:solidFill>
                <a:latin typeface="Roboto Mono"/>
                <a:ea typeface="Roboto Mono"/>
                <a:cs typeface="Roboto Mono"/>
                <a:sym typeface="Roboto Mono"/>
              </a:rPr>
              <a:t>Mathematicians, including Terrence Tao (a former International </a:t>
            </a:r>
            <a:r>
              <a:rPr lang="en-US" sz="1999" spc="-19" dirty="0" err="1">
                <a:solidFill>
                  <a:srgbClr val="FFFFFF"/>
                </a:solidFill>
                <a:latin typeface="Roboto Mono"/>
                <a:ea typeface="Roboto Mono"/>
                <a:cs typeface="Roboto Mono"/>
                <a:sym typeface="Roboto Mono"/>
              </a:rPr>
              <a:t>Maths</a:t>
            </a:r>
            <a:r>
              <a:rPr lang="en-US" sz="1999" spc="-19" dirty="0">
                <a:solidFill>
                  <a:srgbClr val="FFFFFF"/>
                </a:solidFill>
                <a:latin typeface="Roboto Mono"/>
                <a:ea typeface="Roboto Mono"/>
                <a:cs typeface="Roboto Mono"/>
                <a:sym typeface="Roboto Mono"/>
              </a:rPr>
              <a:t> Olympiad gold medalist) alluded that the </a:t>
            </a:r>
            <a:r>
              <a:rPr lang="en-US" sz="1999" spc="-19" dirty="0" err="1">
                <a:solidFill>
                  <a:srgbClr val="FFFFFF"/>
                </a:solidFill>
                <a:latin typeface="Roboto Mono"/>
                <a:ea typeface="Roboto Mono"/>
                <a:cs typeface="Roboto Mono"/>
                <a:sym typeface="Roboto Mono"/>
              </a:rPr>
              <a:t>Maths</a:t>
            </a:r>
            <a:r>
              <a:rPr lang="en-US" sz="1999" spc="-19" dirty="0">
                <a:solidFill>
                  <a:srgbClr val="FFFFFF"/>
                </a:solidFill>
                <a:latin typeface="Roboto Mono"/>
                <a:ea typeface="Roboto Mono"/>
                <a:cs typeface="Roboto Mono"/>
                <a:sym typeface="Roboto Mono"/>
              </a:rPr>
              <a:t> Olympiad</a:t>
            </a:r>
            <a:r>
              <a:rPr lang="en-US" sz="2000" spc="-20" dirty="0">
                <a:solidFill>
                  <a:srgbClr val="FFFFFF"/>
                </a:solidFill>
                <a:latin typeface="Roboto Mono"/>
                <a:ea typeface="Roboto Mono"/>
                <a:cs typeface="Roboto Mono"/>
                <a:sym typeface="Roboto Mono"/>
              </a:rPr>
              <a:t> did not prepare him well for the kind of deep research needed for novel mathematical breakthroughs.  </a:t>
            </a:r>
            <a:r>
              <a:rPr lang="en-GB" sz="1999" spc="-19" dirty="0">
                <a:solidFill>
                  <a:srgbClr val="FFC000"/>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[4]</a:t>
            </a:r>
            <a:r>
              <a:rPr lang="en-GB" sz="1999" spc="-19" dirty="0">
                <a:solidFill>
                  <a:srgbClr val="FFC000"/>
                </a:solidFill>
                <a:latin typeface="Roboto Mono"/>
                <a:ea typeface="Roboto Mono"/>
                <a:cs typeface="Roboto Mono"/>
                <a:sym typeface="Roboto Mono"/>
              </a:rPr>
              <a:t> </a:t>
            </a:r>
            <a:endParaRPr lang="en-US" sz="2000" spc="-20" dirty="0">
              <a:solidFill>
                <a:srgbClr val="FFFFFF"/>
              </a:solidFill>
              <a:latin typeface="Roboto Mono"/>
              <a:ea typeface="Roboto Mono"/>
              <a:cs typeface="Roboto Mono"/>
              <a:sym typeface="Roboto Mono"/>
            </a:endParaRPr>
          </a:p>
        </p:txBody>
      </p:sp>
      <p:sp>
        <p:nvSpPr>
          <p:cNvPr id="5" name="TextBox 5">
            <a:extLst>
              <a:ext uri="{FF2B5EF4-FFF2-40B4-BE49-F238E27FC236}">
                <a16:creationId xmlns:a16="http://schemas.microsoft.com/office/drawing/2014/main" id="{BE0C64C6-375A-13C4-8595-5DEEAFAA86D4}"/>
              </a:ext>
            </a:extLst>
          </p:cNvPr>
          <p:cNvSpPr txBox="1"/>
          <p:nvPr/>
        </p:nvSpPr>
        <p:spPr>
          <a:xfrm>
            <a:off x="12547480" y="6182981"/>
            <a:ext cx="4711820" cy="3923253"/>
          </a:xfrm>
          <a:prstGeom prst="rect">
            <a:avLst/>
          </a:prstGeom>
        </p:spPr>
        <p:txBody>
          <a:bodyPr lIns="0" tIns="0" rIns="0" bIns="0" rtlCol="0" anchor="t">
            <a:spAutoFit/>
          </a:bodyPr>
          <a:lstStyle/>
          <a:p>
            <a:pPr algn="ctr">
              <a:lnSpc>
                <a:spcPts val="2799"/>
              </a:lnSpc>
              <a:spcBef>
                <a:spcPct val="0"/>
              </a:spcBef>
            </a:pPr>
            <a:r>
              <a:rPr lang="en-US" sz="2000" spc="-20" dirty="0">
                <a:solidFill>
                  <a:srgbClr val="FFFFFF"/>
                </a:solidFill>
                <a:latin typeface="Roboto Mono"/>
                <a:ea typeface="Roboto Mono"/>
                <a:cs typeface="Roboto Mono"/>
                <a:sym typeface="Roboto Mono"/>
              </a:rPr>
              <a:t>Existing AI models are able to learn using correlation in the date but are unable to perform causal inference of the same data. Hence, out-of-sample causations are not captured well. To make the problem worse, natural language encodes human biases, masking true causation from spurious causations </a:t>
            </a:r>
            <a:r>
              <a:rPr lang="en-GB" sz="1999" spc="-19" dirty="0">
                <a:solidFill>
                  <a:srgbClr val="FFC000"/>
                </a:solidFill>
                <a:latin typeface="Roboto Mono"/>
                <a:ea typeface="Roboto Mono"/>
                <a:cs typeface="Roboto Mono"/>
                <a:sym typeface="Roboto Mono"/>
                <a:hlinkClick r:id="" action="ppaction://noaction">
                  <a:extLst>
                    <a:ext uri="{A12FA001-AC4F-418D-AE19-62706E023703}">
                      <ahyp:hlinkClr xmlns:ahyp="http://schemas.microsoft.com/office/drawing/2018/hyperlinkcolor" val="tx"/>
                    </a:ext>
                  </a:extLst>
                </a:hlinkClick>
              </a:rPr>
              <a:t>[5]</a:t>
            </a:r>
            <a:endParaRPr lang="en-US" sz="2000" spc="-20" dirty="0">
              <a:solidFill>
                <a:srgbClr val="FFC000"/>
              </a:solidFill>
              <a:latin typeface="Roboto Mono"/>
              <a:ea typeface="Roboto Mono"/>
              <a:cs typeface="Roboto Mono"/>
              <a:sym typeface="Roboto Mono"/>
            </a:endParaRPr>
          </a:p>
        </p:txBody>
      </p:sp>
      <p:grpSp>
        <p:nvGrpSpPr>
          <p:cNvPr id="6" name="Group 6">
            <a:extLst>
              <a:ext uri="{FF2B5EF4-FFF2-40B4-BE49-F238E27FC236}">
                <a16:creationId xmlns:a16="http://schemas.microsoft.com/office/drawing/2014/main" id="{5C347CEA-CDC6-17A3-1BFF-82690CC6FCA8}"/>
              </a:ext>
            </a:extLst>
          </p:cNvPr>
          <p:cNvGrpSpPr/>
          <p:nvPr/>
        </p:nvGrpSpPr>
        <p:grpSpPr>
          <a:xfrm>
            <a:off x="2874312" y="4686311"/>
            <a:ext cx="1020596" cy="1020596"/>
            <a:chOff x="0" y="0"/>
            <a:chExt cx="1360795" cy="1360795"/>
          </a:xfrm>
        </p:grpSpPr>
        <p:grpSp>
          <p:nvGrpSpPr>
            <p:cNvPr id="7" name="Group 7">
              <a:extLst>
                <a:ext uri="{FF2B5EF4-FFF2-40B4-BE49-F238E27FC236}">
                  <a16:creationId xmlns:a16="http://schemas.microsoft.com/office/drawing/2014/main" id="{A71F8774-D324-E13D-B1E6-669ADBEE1272}"/>
                </a:ext>
              </a:extLst>
            </p:cNvPr>
            <p:cNvGrpSpPr/>
            <p:nvPr/>
          </p:nvGrpSpPr>
          <p:grpSpPr>
            <a:xfrm>
              <a:off x="0" y="0"/>
              <a:ext cx="1360795" cy="1360795"/>
              <a:chOff x="0" y="0"/>
              <a:chExt cx="6350000" cy="6350000"/>
            </a:xfrm>
          </p:grpSpPr>
          <p:sp>
            <p:nvSpPr>
              <p:cNvPr id="8" name="Freeform 8">
                <a:extLst>
                  <a:ext uri="{FF2B5EF4-FFF2-40B4-BE49-F238E27FC236}">
                    <a16:creationId xmlns:a16="http://schemas.microsoft.com/office/drawing/2014/main" id="{58E86DF7-1D5A-CEB6-7752-EF81B42FA63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9" name="TextBox 9">
              <a:extLst>
                <a:ext uri="{FF2B5EF4-FFF2-40B4-BE49-F238E27FC236}">
                  <a16:creationId xmlns:a16="http://schemas.microsoft.com/office/drawing/2014/main" id="{E430ECA0-3DDE-430B-A8D0-1D699BAC7395}"/>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01</a:t>
              </a:r>
            </a:p>
          </p:txBody>
        </p:sp>
      </p:grpSp>
      <p:grpSp>
        <p:nvGrpSpPr>
          <p:cNvPr id="10" name="Group 10">
            <a:extLst>
              <a:ext uri="{FF2B5EF4-FFF2-40B4-BE49-F238E27FC236}">
                <a16:creationId xmlns:a16="http://schemas.microsoft.com/office/drawing/2014/main" id="{8AE9BA69-6804-9B2D-5F4C-368CABF27264}"/>
              </a:ext>
            </a:extLst>
          </p:cNvPr>
          <p:cNvGrpSpPr/>
          <p:nvPr/>
        </p:nvGrpSpPr>
        <p:grpSpPr>
          <a:xfrm>
            <a:off x="8633702" y="4686311"/>
            <a:ext cx="1020596" cy="1020596"/>
            <a:chOff x="0" y="0"/>
            <a:chExt cx="1360795" cy="1360795"/>
          </a:xfrm>
        </p:grpSpPr>
        <p:grpSp>
          <p:nvGrpSpPr>
            <p:cNvPr id="11" name="Group 11">
              <a:extLst>
                <a:ext uri="{FF2B5EF4-FFF2-40B4-BE49-F238E27FC236}">
                  <a16:creationId xmlns:a16="http://schemas.microsoft.com/office/drawing/2014/main" id="{BDA0618E-4BEF-AB5F-344A-EBDCA9910895}"/>
                </a:ext>
              </a:extLst>
            </p:cNvPr>
            <p:cNvGrpSpPr/>
            <p:nvPr/>
          </p:nvGrpSpPr>
          <p:grpSpPr>
            <a:xfrm>
              <a:off x="0" y="0"/>
              <a:ext cx="1360795" cy="1360795"/>
              <a:chOff x="0" y="0"/>
              <a:chExt cx="6350000" cy="6350000"/>
            </a:xfrm>
          </p:grpSpPr>
          <p:sp>
            <p:nvSpPr>
              <p:cNvPr id="12" name="Freeform 12">
                <a:extLst>
                  <a:ext uri="{FF2B5EF4-FFF2-40B4-BE49-F238E27FC236}">
                    <a16:creationId xmlns:a16="http://schemas.microsoft.com/office/drawing/2014/main" id="{2A3F4467-4139-00A3-D6C5-7CDDD20E9B2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3" name="TextBox 13">
              <a:extLst>
                <a:ext uri="{FF2B5EF4-FFF2-40B4-BE49-F238E27FC236}">
                  <a16:creationId xmlns:a16="http://schemas.microsoft.com/office/drawing/2014/main" id="{3751B257-2745-9C5D-3009-B70498735028}"/>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02</a:t>
              </a:r>
            </a:p>
          </p:txBody>
        </p:sp>
      </p:grpSp>
      <p:grpSp>
        <p:nvGrpSpPr>
          <p:cNvPr id="14" name="Group 14">
            <a:extLst>
              <a:ext uri="{FF2B5EF4-FFF2-40B4-BE49-F238E27FC236}">
                <a16:creationId xmlns:a16="http://schemas.microsoft.com/office/drawing/2014/main" id="{4E133D14-E7F7-F19A-BDE0-7938FE5E8124}"/>
              </a:ext>
            </a:extLst>
          </p:cNvPr>
          <p:cNvGrpSpPr/>
          <p:nvPr/>
        </p:nvGrpSpPr>
        <p:grpSpPr>
          <a:xfrm>
            <a:off x="14393092" y="4830570"/>
            <a:ext cx="1020596" cy="1020596"/>
            <a:chOff x="0" y="0"/>
            <a:chExt cx="1360795" cy="1360795"/>
          </a:xfrm>
        </p:grpSpPr>
        <p:grpSp>
          <p:nvGrpSpPr>
            <p:cNvPr id="15" name="Group 15">
              <a:extLst>
                <a:ext uri="{FF2B5EF4-FFF2-40B4-BE49-F238E27FC236}">
                  <a16:creationId xmlns:a16="http://schemas.microsoft.com/office/drawing/2014/main" id="{C4AAB2E2-66D1-F017-6F3E-DC786D4C8B0D}"/>
                </a:ext>
              </a:extLst>
            </p:cNvPr>
            <p:cNvGrpSpPr/>
            <p:nvPr/>
          </p:nvGrpSpPr>
          <p:grpSpPr>
            <a:xfrm>
              <a:off x="0" y="0"/>
              <a:ext cx="1360795" cy="1360795"/>
              <a:chOff x="0" y="0"/>
              <a:chExt cx="6350000" cy="6350000"/>
            </a:xfrm>
          </p:grpSpPr>
          <p:sp>
            <p:nvSpPr>
              <p:cNvPr id="16" name="Freeform 16">
                <a:extLst>
                  <a:ext uri="{FF2B5EF4-FFF2-40B4-BE49-F238E27FC236}">
                    <a16:creationId xmlns:a16="http://schemas.microsoft.com/office/drawing/2014/main" id="{7FBD94AD-532F-6F61-4C70-AEA06AB9B35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67D26"/>
              </a:solidFill>
            </p:spPr>
            <p:txBody>
              <a:bodyPr/>
              <a:lstStyle/>
              <a:p>
                <a:endParaRPr lang="en-MY"/>
              </a:p>
            </p:txBody>
          </p:sp>
        </p:grpSp>
        <p:sp>
          <p:nvSpPr>
            <p:cNvPr id="17" name="TextBox 17">
              <a:extLst>
                <a:ext uri="{FF2B5EF4-FFF2-40B4-BE49-F238E27FC236}">
                  <a16:creationId xmlns:a16="http://schemas.microsoft.com/office/drawing/2014/main" id="{9A40A137-507C-C0E8-C404-7CACC4832253}"/>
                </a:ext>
              </a:extLst>
            </p:cNvPr>
            <p:cNvSpPr txBox="1"/>
            <p:nvPr/>
          </p:nvSpPr>
          <p:spPr>
            <a:xfrm>
              <a:off x="208083" y="314067"/>
              <a:ext cx="944629" cy="770761"/>
            </a:xfrm>
            <a:prstGeom prst="rect">
              <a:avLst/>
            </a:prstGeom>
          </p:spPr>
          <p:txBody>
            <a:bodyPr lIns="0" tIns="0" rIns="0" bIns="0" rtlCol="0" anchor="t">
              <a:spAutoFit/>
            </a:bodyPr>
            <a:lstStyle/>
            <a:p>
              <a:pPr algn="ctr">
                <a:lnSpc>
                  <a:spcPts val="4409"/>
                </a:lnSpc>
              </a:pPr>
              <a:r>
                <a:rPr lang="en-US" sz="4008" b="1">
                  <a:solidFill>
                    <a:srgbClr val="FFFFFF"/>
                  </a:solidFill>
                  <a:latin typeface="Muli Bold"/>
                  <a:ea typeface="Muli Bold"/>
                  <a:cs typeface="Muli Bold"/>
                  <a:sym typeface="Muli Bold"/>
                </a:rPr>
                <a:t>03</a:t>
              </a:r>
            </a:p>
          </p:txBody>
        </p:sp>
      </p:grpSp>
      <p:sp>
        <p:nvSpPr>
          <p:cNvPr id="18" name="TextBox 17">
            <a:hlinkClick r:id="rId2" action="ppaction://hlinksldjump"/>
            <a:extLst>
              <a:ext uri="{FF2B5EF4-FFF2-40B4-BE49-F238E27FC236}">
                <a16:creationId xmlns:a16="http://schemas.microsoft.com/office/drawing/2014/main" id="{296C2232-1F7F-FDBA-7AFF-E71FC8803016}"/>
              </a:ext>
            </a:extLst>
          </p:cNvPr>
          <p:cNvSpPr txBox="1"/>
          <p:nvPr/>
        </p:nvSpPr>
        <p:spPr>
          <a:xfrm>
            <a:off x="16230600" y="266700"/>
            <a:ext cx="1828800" cy="369332"/>
          </a:xfrm>
          <a:prstGeom prst="rect">
            <a:avLst/>
          </a:prstGeom>
          <a:solidFill>
            <a:schemeClr val="tx2">
              <a:lumMod val="60000"/>
              <a:lumOff val="40000"/>
            </a:schemeClr>
          </a:solidFill>
        </p:spPr>
        <p:txBody>
          <a:bodyPr wrap="square" rtlCol="0">
            <a:spAutoFit/>
          </a:bodyPr>
          <a:lstStyle/>
          <a:p>
            <a:pPr algn="ctr"/>
            <a:r>
              <a:rPr lang="en-MY" dirty="0">
                <a:latin typeface="Roboto Mono" panose="00000009000000000000" pitchFamily="49" charset="0"/>
                <a:ea typeface="Roboto Mono" panose="00000009000000000000" pitchFamily="49" charset="0"/>
              </a:rPr>
              <a:t>BACK</a:t>
            </a:r>
          </a:p>
        </p:txBody>
      </p:sp>
    </p:spTree>
    <p:extLst>
      <p:ext uri="{BB962C8B-B14F-4D97-AF65-F5344CB8AC3E}">
        <p14:creationId xmlns:p14="http://schemas.microsoft.com/office/powerpoint/2010/main" val="2128325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2800</TotalTime>
  <Words>2014</Words>
  <Application>Microsoft Office PowerPoint</Application>
  <PresentationFormat>Custom</PresentationFormat>
  <Paragraphs>227</Paragraphs>
  <Slides>27</Slides>
  <Notes>2</Notes>
  <HiddenSlides>2</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Roboto Mono</vt:lpstr>
      <vt:lpstr>Calibri</vt:lpstr>
      <vt:lpstr>Muli Ultra-Bold</vt:lpstr>
      <vt:lpstr>Muli Heavy</vt:lpstr>
      <vt:lpstr>Arial</vt:lpstr>
      <vt:lpstr>Aptos</vt:lpstr>
      <vt:lpstr>Muli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Orange Modern Technology Keynote Presentation</dc:title>
  <dc:creator>Peter Ho</dc:creator>
  <cp:lastModifiedBy>Peter Ho</cp:lastModifiedBy>
  <cp:revision>15</cp:revision>
  <dcterms:created xsi:type="dcterms:W3CDTF">2006-08-16T00:00:00Z</dcterms:created>
  <dcterms:modified xsi:type="dcterms:W3CDTF">2025-08-24T10:12:03Z</dcterms:modified>
  <dc:identifier>DAGwNg-Tp0A</dc:identifier>
</cp:coreProperties>
</file>